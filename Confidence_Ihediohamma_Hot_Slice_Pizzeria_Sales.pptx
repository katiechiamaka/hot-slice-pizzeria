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70" r:id="rId3"/>
    <p:sldId id="274" r:id="rId4"/>
    <p:sldId id="269" r:id="rId5"/>
    <p:sldId id="271" r:id="rId6"/>
    <p:sldId id="273" r:id="rId7"/>
    <p:sldId id="267" r:id="rId8"/>
    <p:sldId id="257" r:id="rId9"/>
    <p:sldId id="276" r:id="rId10"/>
    <p:sldId id="277" r:id="rId11"/>
    <p:sldId id="264" r:id="rId12"/>
    <p:sldId id="279" r:id="rId13"/>
    <p:sldId id="280" r:id="rId14"/>
    <p:sldId id="275" r:id="rId15"/>
    <p:sldId id="278" r:id="rId16"/>
    <p:sldId id="262" r:id="rId17"/>
    <p:sldId id="265"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0" userDrawn="1">
          <p15:clr>
            <a:srgbClr val="A4A3A4"/>
          </p15:clr>
        </p15:guide>
        <p15:guide id="2" pos="3840" userDrawn="1">
          <p15:clr>
            <a:srgbClr val="A4A3A4"/>
          </p15:clr>
        </p15:guide>
        <p15:guide id="3" pos="168" userDrawn="1">
          <p15:clr>
            <a:srgbClr val="A4A3A4"/>
          </p15:clr>
        </p15:guide>
        <p15:guide id="4" pos="7512" userDrawn="1">
          <p15:clr>
            <a:srgbClr val="A4A3A4"/>
          </p15:clr>
        </p15:guide>
        <p15:guide id="5" orient="horz" pos="576" userDrawn="1">
          <p15:clr>
            <a:srgbClr val="A4A3A4"/>
          </p15:clr>
        </p15:guide>
        <p15:guide id="6" orient="horz" pos="3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72D"/>
    <a:srgbClr val="EFAB0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8" autoAdjust="0"/>
    <p:restoredTop sz="92211" autoAdjust="0"/>
  </p:normalViewPr>
  <p:slideViewPr>
    <p:cSldViewPr snapToGrid="0" showGuides="1">
      <p:cViewPr>
        <p:scale>
          <a:sx n="70" d="100"/>
          <a:sy n="70" d="100"/>
        </p:scale>
        <p:origin x="344" y="112"/>
      </p:cViewPr>
      <p:guideLst>
        <p:guide orient="horz" pos="2280"/>
        <p:guide pos="3840"/>
        <p:guide pos="168"/>
        <p:guide pos="7512"/>
        <p:guide orient="horz" pos="576"/>
        <p:guide orient="horz" pos="3984"/>
      </p:guideLst>
    </p:cSldViewPr>
  </p:slideViewPr>
  <p:notesTextViewPr>
    <p:cViewPr>
      <p:scale>
        <a:sx n="66" d="100"/>
        <a:sy n="66"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A29E95-9531-40A0-87B5-7D07D9DDF47E}" type="datetimeFigureOut">
              <a:rPr lang="en-US" smtClean="0"/>
              <a:t>3/20/2026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6623A7-D7B5-47AC-8445-31A044F17BAE}" type="slidenum">
              <a:rPr lang="en-US" smtClean="0"/>
              <a:t>‹#›</a:t>
            </a:fld>
            <a:endParaRPr lang="en-US"/>
          </a:p>
        </p:txBody>
      </p:sp>
    </p:spTree>
    <p:extLst>
      <p:ext uri="{BB962C8B-B14F-4D97-AF65-F5344CB8AC3E}">
        <p14:creationId xmlns:p14="http://schemas.microsoft.com/office/powerpoint/2010/main" val="1096289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unsplash.com/@cellisboa?utm_source=unsplash&amp;utm_medium=referral&amp;utm_content=creditCopyText"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unsplash.com/search/photos/pizza?utm_source=unsplash&amp;utm_medium=referral&amp;utm_content=creditCopyText"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unsplash.com/@limlin1212?utm_source=unsplash&amp;utm_medium=referral&amp;utm_content=creditCopyText"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unsplash.com/search/photos/pizza?utm_source=unsplash&amp;utm_medium=referral&amp;utm_content=creditCopyTex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6623A7-D7B5-47AC-8445-31A044F17BAE}" type="slidenum">
              <a:rPr lang="en-US" smtClean="0"/>
              <a:t>1</a:t>
            </a:fld>
            <a:endParaRPr lang="en-US" dirty="0"/>
          </a:p>
        </p:txBody>
      </p:sp>
    </p:spTree>
    <p:extLst>
      <p:ext uri="{BB962C8B-B14F-4D97-AF65-F5344CB8AC3E}">
        <p14:creationId xmlns:p14="http://schemas.microsoft.com/office/powerpoint/2010/main" val="389565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Photo by </a:t>
            </a:r>
            <a:r>
              <a:rPr lang="en-US" sz="1200" b="0" i="0" kern="1200" dirty="0">
                <a:solidFill>
                  <a:schemeClr val="tx1"/>
                </a:solidFill>
                <a:effectLst/>
                <a:latin typeface="+mn-lt"/>
                <a:ea typeface="+mn-ea"/>
                <a:cs typeface="+mn-cs"/>
                <a:hlinkClick r:id="rId3"/>
              </a:rPr>
              <a:t>Cel Lisboa</a:t>
            </a:r>
            <a:r>
              <a:rPr lang="en-US" sz="1200" b="0" i="0" kern="1200" dirty="0">
                <a:solidFill>
                  <a:schemeClr val="tx1"/>
                </a:solidFill>
                <a:effectLst/>
                <a:latin typeface="+mn-lt"/>
                <a:ea typeface="+mn-ea"/>
                <a:cs typeface="+mn-cs"/>
              </a:rPr>
              <a:t> on </a:t>
            </a:r>
            <a:r>
              <a:rPr lang="en-US" sz="1200" b="0" i="0" kern="1200" dirty="0" err="1">
                <a:solidFill>
                  <a:schemeClr val="tx1"/>
                </a:solidFill>
                <a:effectLst/>
                <a:latin typeface="+mn-lt"/>
                <a:ea typeface="+mn-ea"/>
                <a:cs typeface="+mn-cs"/>
                <a:hlinkClick r:id="rId4"/>
              </a:rPr>
              <a:t>Unsplash</a:t>
            </a:r>
            <a:endParaRPr lang="en-US" dirty="0"/>
          </a:p>
        </p:txBody>
      </p:sp>
      <p:sp>
        <p:nvSpPr>
          <p:cNvPr id="4" name="Slide Number Placeholder 3"/>
          <p:cNvSpPr>
            <a:spLocks noGrp="1"/>
          </p:cNvSpPr>
          <p:nvPr>
            <p:ph type="sldNum" sz="quarter" idx="5"/>
          </p:nvPr>
        </p:nvSpPr>
        <p:spPr/>
        <p:txBody>
          <a:bodyPr/>
          <a:lstStyle/>
          <a:p>
            <a:fld id="{656623A7-D7B5-47AC-8445-31A044F17BAE}" type="slidenum">
              <a:rPr lang="en-US" smtClean="0"/>
              <a:t>7</a:t>
            </a:fld>
            <a:endParaRPr lang="en-US"/>
          </a:p>
        </p:txBody>
      </p:sp>
    </p:spTree>
    <p:extLst>
      <p:ext uri="{BB962C8B-B14F-4D97-AF65-F5344CB8AC3E}">
        <p14:creationId xmlns:p14="http://schemas.microsoft.com/office/powerpoint/2010/main" val="3394390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6623A7-D7B5-47AC-8445-31A044F17BAE}" type="slidenum">
              <a:rPr lang="en-US" smtClean="0"/>
              <a:t>8</a:t>
            </a:fld>
            <a:endParaRPr lang="en-US"/>
          </a:p>
        </p:txBody>
      </p:sp>
    </p:spTree>
    <p:extLst>
      <p:ext uri="{BB962C8B-B14F-4D97-AF65-F5344CB8AC3E}">
        <p14:creationId xmlns:p14="http://schemas.microsoft.com/office/powerpoint/2010/main" val="3141801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56623A7-D7B5-47AC-8445-31A044F17BAE}" type="slidenum">
              <a:rPr lang="en-US" smtClean="0"/>
              <a:t>10</a:t>
            </a:fld>
            <a:endParaRPr lang="en-US"/>
          </a:p>
        </p:txBody>
      </p:sp>
    </p:spTree>
    <p:extLst>
      <p:ext uri="{BB962C8B-B14F-4D97-AF65-F5344CB8AC3E}">
        <p14:creationId xmlns:p14="http://schemas.microsoft.com/office/powerpoint/2010/main" val="572751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by pngfly.com</a:t>
            </a:r>
          </a:p>
        </p:txBody>
      </p:sp>
      <p:sp>
        <p:nvSpPr>
          <p:cNvPr id="4" name="Slide Number Placeholder 3"/>
          <p:cNvSpPr>
            <a:spLocks noGrp="1"/>
          </p:cNvSpPr>
          <p:nvPr>
            <p:ph type="sldNum" sz="quarter" idx="5"/>
          </p:nvPr>
        </p:nvSpPr>
        <p:spPr/>
        <p:txBody>
          <a:bodyPr/>
          <a:lstStyle/>
          <a:p>
            <a:fld id="{656623A7-D7B5-47AC-8445-31A044F17BAE}" type="slidenum">
              <a:rPr lang="en-US" smtClean="0"/>
              <a:t>11</a:t>
            </a:fld>
            <a:endParaRPr lang="en-US"/>
          </a:p>
        </p:txBody>
      </p:sp>
    </p:spTree>
    <p:extLst>
      <p:ext uri="{BB962C8B-B14F-4D97-AF65-F5344CB8AC3E}">
        <p14:creationId xmlns:p14="http://schemas.microsoft.com/office/powerpoint/2010/main" val="3896102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by pngfly.com</a:t>
            </a:r>
          </a:p>
        </p:txBody>
      </p:sp>
      <p:sp>
        <p:nvSpPr>
          <p:cNvPr id="4" name="Slide Number Placeholder 3"/>
          <p:cNvSpPr>
            <a:spLocks noGrp="1"/>
          </p:cNvSpPr>
          <p:nvPr>
            <p:ph type="sldNum" sz="quarter" idx="5"/>
          </p:nvPr>
        </p:nvSpPr>
        <p:spPr/>
        <p:txBody>
          <a:bodyPr/>
          <a:lstStyle/>
          <a:p>
            <a:fld id="{656623A7-D7B5-47AC-8445-31A044F17BAE}" type="slidenum">
              <a:rPr lang="en-US" smtClean="0"/>
              <a:t>16</a:t>
            </a:fld>
            <a:endParaRPr lang="en-US"/>
          </a:p>
        </p:txBody>
      </p:sp>
    </p:spTree>
    <p:extLst>
      <p:ext uri="{BB962C8B-B14F-4D97-AF65-F5344CB8AC3E}">
        <p14:creationId xmlns:p14="http://schemas.microsoft.com/office/powerpoint/2010/main" val="1443066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Photo by </a:t>
            </a:r>
            <a:r>
              <a:rPr lang="en-US" sz="1200" b="0" i="0" kern="1200" dirty="0">
                <a:solidFill>
                  <a:schemeClr val="tx1"/>
                </a:solidFill>
                <a:effectLst/>
                <a:latin typeface="+mn-lt"/>
                <a:ea typeface="+mn-ea"/>
                <a:cs typeface="+mn-cs"/>
                <a:hlinkClick r:id="rId3"/>
              </a:rPr>
              <a:t>Lim Lin</a:t>
            </a:r>
            <a:r>
              <a:rPr lang="en-US" sz="1200" b="0" i="0" kern="1200" dirty="0">
                <a:solidFill>
                  <a:schemeClr val="tx1"/>
                </a:solidFill>
                <a:effectLst/>
                <a:latin typeface="+mn-lt"/>
                <a:ea typeface="+mn-ea"/>
                <a:cs typeface="+mn-cs"/>
              </a:rPr>
              <a:t> on </a:t>
            </a:r>
            <a:r>
              <a:rPr lang="en-US" sz="1200" b="0" i="0" kern="1200" dirty="0" err="1">
                <a:solidFill>
                  <a:schemeClr val="tx1"/>
                </a:solidFill>
                <a:effectLst/>
                <a:latin typeface="+mn-lt"/>
                <a:ea typeface="+mn-ea"/>
                <a:cs typeface="+mn-cs"/>
                <a:hlinkClick r:id="rId4"/>
              </a:rPr>
              <a:t>Unsplash</a:t>
            </a:r>
            <a:endParaRPr lang="en-US" dirty="0"/>
          </a:p>
        </p:txBody>
      </p:sp>
      <p:sp>
        <p:nvSpPr>
          <p:cNvPr id="4" name="Slide Number Placeholder 3"/>
          <p:cNvSpPr>
            <a:spLocks noGrp="1"/>
          </p:cNvSpPr>
          <p:nvPr>
            <p:ph type="sldNum" sz="quarter" idx="5"/>
          </p:nvPr>
        </p:nvSpPr>
        <p:spPr/>
        <p:txBody>
          <a:bodyPr/>
          <a:lstStyle/>
          <a:p>
            <a:fld id="{656623A7-D7B5-47AC-8445-31A044F17BAE}" type="slidenum">
              <a:rPr lang="en-US" smtClean="0"/>
              <a:t>17</a:t>
            </a:fld>
            <a:endParaRPr lang="en-US"/>
          </a:p>
        </p:txBody>
      </p:sp>
    </p:spTree>
    <p:extLst>
      <p:ext uri="{BB962C8B-B14F-4D97-AF65-F5344CB8AC3E}">
        <p14:creationId xmlns:p14="http://schemas.microsoft.com/office/powerpoint/2010/main" val="2438310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300A-EADE-4DB8-9E6A-F9F73C7896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5ED74B-BB04-4FF0-A2D4-FDFFD42EAA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540676-7940-4998-A2B9-21AE23101A56}"/>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5" name="Footer Placeholder 4">
            <a:extLst>
              <a:ext uri="{FF2B5EF4-FFF2-40B4-BE49-F238E27FC236}">
                <a16:creationId xmlns:a16="http://schemas.microsoft.com/office/drawing/2014/main" id="{F1C92499-383E-4315-BC4F-50103157C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8C5CC2-7E18-49B4-B652-5FBD44CA8030}"/>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647356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2D612-D2E7-4D6C-B28E-2BD9D42302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BAB0F9-D7DA-4F45-B63F-DECA4BBFFF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8D6444-BA2D-4030-B9E7-F635F0A61CD0}"/>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5" name="Footer Placeholder 4">
            <a:extLst>
              <a:ext uri="{FF2B5EF4-FFF2-40B4-BE49-F238E27FC236}">
                <a16:creationId xmlns:a16="http://schemas.microsoft.com/office/drawing/2014/main" id="{C545A88B-ED73-47D6-A20C-8C1BF79661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30A9E3-0CB3-49E5-A1A8-D707F24BDCE4}"/>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253797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D867C-A87F-4F55-8D9C-D9950179D8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5453D8-00AD-4115-A184-2FEA538FAA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80D755-B95B-4C42-A22D-721E6577D176}"/>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5" name="Footer Placeholder 4">
            <a:extLst>
              <a:ext uri="{FF2B5EF4-FFF2-40B4-BE49-F238E27FC236}">
                <a16:creationId xmlns:a16="http://schemas.microsoft.com/office/drawing/2014/main" id="{145641AB-E186-4C6A-B4C6-AD03D1708F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4B555-AB29-4731-8088-8D352BDA719E}"/>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258823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37985-ECCB-4877-AD71-5E7210582D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1CFBF8-9170-4015-BDFC-214A0D0B7D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693B0A-D7FF-48AB-9854-A382333B25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E2651E-B8E9-466D-8FF5-EA066038583B}"/>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6" name="Footer Placeholder 5">
            <a:extLst>
              <a:ext uri="{FF2B5EF4-FFF2-40B4-BE49-F238E27FC236}">
                <a16:creationId xmlns:a16="http://schemas.microsoft.com/office/drawing/2014/main" id="{4072915F-87B3-4F3C-9153-F0F3956279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33B012-8957-4128-A8AF-56A2D8A5A893}"/>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2089947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C733C-28E2-4262-923B-1C23CA4D2D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90D1AC-1CD4-48F2-B9F8-9A93D7C364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7060B2-F3C7-4E75-82AE-D7F48153BC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123E00-5B67-4616-9A5F-8907DA8495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13DB90-A319-4B6C-A294-4A04267BBB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758F32-6CF3-49E3-8F8D-91B4CA3FC0F0}"/>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8" name="Footer Placeholder 7">
            <a:extLst>
              <a:ext uri="{FF2B5EF4-FFF2-40B4-BE49-F238E27FC236}">
                <a16:creationId xmlns:a16="http://schemas.microsoft.com/office/drawing/2014/main" id="{D3C8723E-CBE1-4173-B1F1-AA42553575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7B501B-0B74-49D0-A1ED-25D685B9ADA4}"/>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2451102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4504E-BE3D-4A31-8CFE-E5045384C8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F6800C-9A5A-4EFB-8521-875650FA0E80}"/>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4" name="Footer Placeholder 3">
            <a:extLst>
              <a:ext uri="{FF2B5EF4-FFF2-40B4-BE49-F238E27FC236}">
                <a16:creationId xmlns:a16="http://schemas.microsoft.com/office/drawing/2014/main" id="{F8895C45-5033-43E9-A0F6-64D2C85AFC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E99D56-0E1C-451A-A9CA-3DB2D70CCDC3}"/>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4116837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476882-9B9E-4A7A-A559-3C3501718A0E}"/>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3" name="Footer Placeholder 2">
            <a:extLst>
              <a:ext uri="{FF2B5EF4-FFF2-40B4-BE49-F238E27FC236}">
                <a16:creationId xmlns:a16="http://schemas.microsoft.com/office/drawing/2014/main" id="{87F94D06-1D12-47C0-8CDD-A29326CE8E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7E89B1-B095-469E-9250-2A6DD4565ADD}"/>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868672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8BF42-B776-4AA3-8D6A-C632797DA5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0E7779-95DE-4F21-B693-0225BC4FD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4DEB7E-E6F8-4941-ABCB-1AE0D5B703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791E49-7483-4B89-8709-7F678B67FEAF}"/>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6" name="Footer Placeholder 5">
            <a:extLst>
              <a:ext uri="{FF2B5EF4-FFF2-40B4-BE49-F238E27FC236}">
                <a16:creationId xmlns:a16="http://schemas.microsoft.com/office/drawing/2014/main" id="{F5060D24-F866-4EFC-85BB-EFE8626CC6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68C807-374F-4A33-BAC2-39FB2945A123}"/>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565210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2AAEF-0D0E-443E-A7F2-E98385BF37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9E972A-C2DD-4849-A860-6F1FFD7EB8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89CEB-14FB-4F64-8D24-6B7D7AD035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2E1635-1CDB-4078-94BC-39EF3B19986F}"/>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6" name="Footer Placeholder 5">
            <a:extLst>
              <a:ext uri="{FF2B5EF4-FFF2-40B4-BE49-F238E27FC236}">
                <a16:creationId xmlns:a16="http://schemas.microsoft.com/office/drawing/2014/main" id="{7F1030C4-413B-4076-BB86-AA7FFDA0B9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F9CD6A-4B1D-4020-9494-F309A261EA28}"/>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2591258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AE715-D356-4C67-8E91-2E7831B542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672A05-9B47-4802-8C97-82E0040F27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4EDEA-A483-45BB-9533-E3001479694F}"/>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5" name="Footer Placeholder 4">
            <a:extLst>
              <a:ext uri="{FF2B5EF4-FFF2-40B4-BE49-F238E27FC236}">
                <a16:creationId xmlns:a16="http://schemas.microsoft.com/office/drawing/2014/main" id="{54DF4533-2A15-48BF-9496-92771DB014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FBDE75-77B5-420C-B9BE-728DE4E33868}"/>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1502566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6B2D53-B381-4FD5-A97F-082E3F5575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E3C523-96F1-4E26-9E03-AE1350D5B2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7EECE5-B7D9-4C7D-BCF1-E308B7F6F71E}"/>
              </a:ext>
            </a:extLst>
          </p:cNvPr>
          <p:cNvSpPr>
            <a:spLocks noGrp="1"/>
          </p:cNvSpPr>
          <p:nvPr>
            <p:ph type="dt" sz="half" idx="10"/>
          </p:nvPr>
        </p:nvSpPr>
        <p:spPr/>
        <p:txBody>
          <a:bodyPr/>
          <a:lstStyle/>
          <a:p>
            <a:fld id="{C94ABA16-66A6-4245-91CD-F200C66B7299}" type="datetimeFigureOut">
              <a:rPr lang="en-US" smtClean="0"/>
              <a:t>3/20/2026</a:t>
            </a:fld>
            <a:endParaRPr lang="en-US"/>
          </a:p>
        </p:txBody>
      </p:sp>
      <p:sp>
        <p:nvSpPr>
          <p:cNvPr id="5" name="Footer Placeholder 4">
            <a:extLst>
              <a:ext uri="{FF2B5EF4-FFF2-40B4-BE49-F238E27FC236}">
                <a16:creationId xmlns:a16="http://schemas.microsoft.com/office/drawing/2014/main" id="{9B02EE99-6954-46A1-9D23-13F835A7F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3740A6-6E3A-4A39-A41C-6C3FD8EA559F}"/>
              </a:ext>
            </a:extLst>
          </p:cNvPr>
          <p:cNvSpPr>
            <a:spLocks noGrp="1"/>
          </p:cNvSpPr>
          <p:nvPr>
            <p:ph type="sldNum" sz="quarter" idx="12"/>
          </p:nvPr>
        </p:nvSpPr>
        <p:spPr/>
        <p:txBody>
          <a:bodyPr/>
          <a:lstStyle/>
          <a:p>
            <a:fld id="{AAC77FEA-5A40-4233-83E1-A9E4FBBBF428}" type="slidenum">
              <a:rPr lang="en-US" smtClean="0"/>
              <a:t>‹#›</a:t>
            </a:fld>
            <a:endParaRPr lang="en-US"/>
          </a:p>
        </p:txBody>
      </p:sp>
    </p:spTree>
    <p:extLst>
      <p:ext uri="{BB962C8B-B14F-4D97-AF65-F5344CB8AC3E}">
        <p14:creationId xmlns:p14="http://schemas.microsoft.com/office/powerpoint/2010/main" val="187421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5AB6D3-BE07-4E4A-8CDF-2817C61EF8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95BBC5-FFAA-40B9-B26E-0928F4226E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EA90C-D56A-4EFF-A7D4-47F10AA89C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4ABA16-66A6-4245-91CD-F200C66B7299}" type="datetimeFigureOut">
              <a:rPr lang="en-US" smtClean="0"/>
              <a:t>3/20/2026</a:t>
            </a:fld>
            <a:endParaRPr lang="en-US"/>
          </a:p>
        </p:txBody>
      </p:sp>
      <p:sp>
        <p:nvSpPr>
          <p:cNvPr id="5" name="Footer Placeholder 4">
            <a:extLst>
              <a:ext uri="{FF2B5EF4-FFF2-40B4-BE49-F238E27FC236}">
                <a16:creationId xmlns:a16="http://schemas.microsoft.com/office/drawing/2014/main" id="{E7656915-A28C-4B03-BD6D-5A96AA1F4B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50CC1B0-1CB1-4523-BF69-B25C845CDE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C77FEA-5A40-4233-83E1-A9E4FBBBF428}" type="slidenum">
              <a:rPr lang="en-US" smtClean="0"/>
              <a:t>‹#›</a:t>
            </a:fld>
            <a:endParaRPr lang="en-US"/>
          </a:p>
        </p:txBody>
      </p:sp>
    </p:spTree>
    <p:extLst>
      <p:ext uri="{BB962C8B-B14F-4D97-AF65-F5344CB8AC3E}">
        <p14:creationId xmlns:p14="http://schemas.microsoft.com/office/powerpoint/2010/main" val="2815129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65CA0F2-A7E6-4946-BEA4-26BC72ECB334}"/>
              </a:ext>
            </a:extLst>
          </p:cNvPr>
          <p:cNvSpPr/>
          <p:nvPr/>
        </p:nvSpPr>
        <p:spPr>
          <a:xfrm>
            <a:off x="-32088" y="-1"/>
            <a:ext cx="6096000" cy="6858001"/>
          </a:xfrm>
          <a:prstGeom prst="rect">
            <a:avLst/>
          </a:prstGeom>
          <a:solidFill>
            <a:srgbClr val="FFC000">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Image result for pizza png">
            <a:extLst>
              <a:ext uri="{FF2B5EF4-FFF2-40B4-BE49-F238E27FC236}">
                <a16:creationId xmlns:a16="http://schemas.microsoft.com/office/drawing/2014/main" id="{40A0D398-51D3-4E51-A08E-D5D4C243F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678" y="-228007"/>
            <a:ext cx="4190322" cy="731401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399E747-9DBC-4813-BADD-0890ED683786}"/>
              </a:ext>
            </a:extLst>
          </p:cNvPr>
          <p:cNvSpPr txBox="1"/>
          <p:nvPr/>
        </p:nvSpPr>
        <p:spPr>
          <a:xfrm>
            <a:off x="191443" y="5411024"/>
            <a:ext cx="5363483" cy="569387"/>
          </a:xfrm>
          <a:prstGeom prst="rect">
            <a:avLst/>
          </a:prstGeom>
          <a:noFill/>
        </p:spPr>
        <p:txBody>
          <a:bodyPr wrap="square" lIns="0" tIns="0" rIns="0" bIns="0" rtlCol="0">
            <a:spAutoFit/>
          </a:bodyPr>
          <a:lstStyle/>
          <a:p>
            <a:pPr algn="ctr">
              <a:spcAft>
                <a:spcPts val="600"/>
              </a:spcAft>
            </a:pPr>
            <a:r>
              <a:rPr lang="en-US" sz="1600" b="1" dirty="0">
                <a:solidFill>
                  <a:srgbClr val="C00000"/>
                </a:solidFill>
              </a:rPr>
              <a:t>Presented by </a:t>
            </a:r>
          </a:p>
          <a:p>
            <a:pPr algn="ctr">
              <a:spcAft>
                <a:spcPts val="600"/>
              </a:spcAft>
            </a:pPr>
            <a:r>
              <a:rPr lang="en-US" sz="1600" b="1" dirty="0">
                <a:solidFill>
                  <a:srgbClr val="20272D"/>
                </a:solidFill>
                <a:latin typeface="Calibri" panose="020F0502020204030204" pitchFamily="34" charset="0"/>
                <a:ea typeface="Calibri" panose="020F0502020204030204" pitchFamily="34" charset="0"/>
                <a:cs typeface="Calibri" panose="020F0502020204030204" pitchFamily="34" charset="0"/>
              </a:rPr>
              <a:t>Confidence Ihediohamma</a:t>
            </a:r>
          </a:p>
        </p:txBody>
      </p:sp>
      <p:sp>
        <p:nvSpPr>
          <p:cNvPr id="13" name="TextBox 12">
            <a:extLst>
              <a:ext uri="{FF2B5EF4-FFF2-40B4-BE49-F238E27FC236}">
                <a16:creationId xmlns:a16="http://schemas.microsoft.com/office/drawing/2014/main" id="{55E628AA-6F95-4B2B-93FA-5DB7CFF0B0DB}"/>
              </a:ext>
            </a:extLst>
          </p:cNvPr>
          <p:cNvSpPr txBox="1"/>
          <p:nvPr/>
        </p:nvSpPr>
        <p:spPr>
          <a:xfrm>
            <a:off x="366255" y="2022251"/>
            <a:ext cx="5363483" cy="2215991"/>
          </a:xfrm>
          <a:prstGeom prst="rect">
            <a:avLst/>
          </a:prstGeom>
          <a:noFill/>
        </p:spPr>
        <p:txBody>
          <a:bodyPr wrap="square" lIns="0" tIns="0" rIns="0" bIns="0" rtlCol="0">
            <a:spAutoFit/>
          </a:bodyPr>
          <a:lstStyle/>
          <a:p>
            <a:pPr algn="ctr">
              <a:spcAft>
                <a:spcPts val="600"/>
              </a:spcAft>
            </a:pPr>
            <a:r>
              <a:rPr lang="en-US" sz="7200" b="1" dirty="0">
                <a:solidFill>
                  <a:srgbClr val="C00000"/>
                </a:solidFill>
                <a:latin typeface="+mj-lt"/>
              </a:rPr>
              <a:t>HOT SLICE PIZZERIA</a:t>
            </a:r>
          </a:p>
        </p:txBody>
      </p:sp>
      <p:sp>
        <p:nvSpPr>
          <p:cNvPr id="7" name="TextBox 6">
            <a:extLst>
              <a:ext uri="{FF2B5EF4-FFF2-40B4-BE49-F238E27FC236}">
                <a16:creationId xmlns:a16="http://schemas.microsoft.com/office/drawing/2014/main" id="{CBF27385-2C5B-47A3-A7B7-F9B5D2488D09}"/>
              </a:ext>
            </a:extLst>
          </p:cNvPr>
          <p:cNvSpPr txBox="1"/>
          <p:nvPr/>
        </p:nvSpPr>
        <p:spPr>
          <a:xfrm>
            <a:off x="366256" y="4164104"/>
            <a:ext cx="5363483" cy="307777"/>
          </a:xfrm>
          <a:prstGeom prst="rect">
            <a:avLst/>
          </a:prstGeom>
          <a:noFill/>
        </p:spPr>
        <p:txBody>
          <a:bodyPr wrap="square" lIns="0" tIns="0" rIns="0" bIns="0" rtlCol="0">
            <a:spAutoFit/>
          </a:bodyPr>
          <a:lstStyle/>
          <a:p>
            <a:pPr algn="ctr">
              <a:spcAft>
                <a:spcPts val="600"/>
              </a:spcAft>
            </a:pPr>
            <a:r>
              <a:rPr lang="en-US" sz="2000" b="1" dirty="0">
                <a:latin typeface="+mj-lt"/>
              </a:rPr>
              <a:t>A Taste Of Happiness</a:t>
            </a:r>
          </a:p>
        </p:txBody>
      </p:sp>
    </p:spTree>
    <p:extLst>
      <p:ext uri="{BB962C8B-B14F-4D97-AF65-F5344CB8AC3E}">
        <p14:creationId xmlns:p14="http://schemas.microsoft.com/office/powerpoint/2010/main" val="4057277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9F4C58-4AB6-43FA-8176-F32D0AEA48FD}"/>
              </a:ext>
            </a:extLst>
          </p:cNvPr>
          <p:cNvSpPr/>
          <p:nvPr/>
        </p:nvSpPr>
        <p:spPr>
          <a:xfrm>
            <a:off x="333935" y="215153"/>
            <a:ext cx="11524129" cy="6427694"/>
          </a:xfrm>
          <a:prstGeom prst="rect">
            <a:avLst/>
          </a:prstGeom>
          <a:solidFill>
            <a:schemeClr val="bg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p:cNvSpPr txBox="1"/>
          <p:nvPr/>
        </p:nvSpPr>
        <p:spPr>
          <a:xfrm>
            <a:off x="1246187" y="2327307"/>
            <a:ext cx="3742311" cy="1938992"/>
          </a:xfrm>
          <a:prstGeom prst="rect">
            <a:avLst/>
          </a:prstGeom>
          <a:noFill/>
        </p:spPr>
        <p:txBody>
          <a:bodyPr wrap="square" rtlCol="0">
            <a:spAutoFit/>
          </a:bodyPr>
          <a:lstStyle/>
          <a:p>
            <a:pPr algn="ctr"/>
            <a:r>
              <a:rPr lang="en-US" altLang="ko-KR" sz="4000" b="1" dirty="0">
                <a:solidFill>
                  <a:srgbClr val="FF0000"/>
                </a:solidFill>
                <a:latin typeface="+mj-lt"/>
                <a:ea typeface="맑은 고딕" pitchFamily="50" charset="-127"/>
              </a:rPr>
              <a:t>TABLE </a:t>
            </a:r>
          </a:p>
          <a:p>
            <a:pPr algn="ctr"/>
            <a:r>
              <a:rPr lang="en-US" altLang="ko-KR" sz="4000" b="1" dirty="0">
                <a:solidFill>
                  <a:srgbClr val="FF0000"/>
                </a:solidFill>
                <a:latin typeface="+mj-lt"/>
                <a:ea typeface="맑은 고딕" pitchFamily="50" charset="-127"/>
              </a:rPr>
              <a:t>OF</a:t>
            </a:r>
          </a:p>
          <a:p>
            <a:pPr algn="ctr"/>
            <a:r>
              <a:rPr lang="en-US" altLang="ko-KR" sz="4000" b="1" dirty="0">
                <a:solidFill>
                  <a:srgbClr val="FF0000"/>
                </a:solidFill>
                <a:latin typeface="+mj-lt"/>
                <a:ea typeface="맑은 고딕" pitchFamily="50" charset="-127"/>
              </a:rPr>
              <a:t>CONTENTS</a:t>
            </a:r>
            <a:endParaRPr lang="ko-KR" altLang="en-US" sz="4000" b="1" dirty="0">
              <a:solidFill>
                <a:srgbClr val="FF0000"/>
              </a:solidFill>
              <a:latin typeface="+mj-lt"/>
              <a:ea typeface="맑은 고딕" pitchFamily="50" charset="-127"/>
            </a:endParaRPr>
          </a:p>
        </p:txBody>
      </p:sp>
      <p:grpSp>
        <p:nvGrpSpPr>
          <p:cNvPr id="66" name="그룹 65"/>
          <p:cNvGrpSpPr/>
          <p:nvPr/>
        </p:nvGrpSpPr>
        <p:grpSpPr>
          <a:xfrm>
            <a:off x="6247819" y="1482761"/>
            <a:ext cx="4096165" cy="506180"/>
            <a:chOff x="1077516" y="999966"/>
            <a:chExt cx="3956354" cy="506180"/>
          </a:xfrm>
        </p:grpSpPr>
        <p:sp>
          <p:nvSpPr>
            <p:cNvPr id="34" name="Oval 3"/>
            <p:cNvSpPr>
              <a:spLocks noChangeArrowheads="1"/>
            </p:cNvSpPr>
            <p:nvPr/>
          </p:nvSpPr>
          <p:spPr bwMode="auto">
            <a:xfrm>
              <a:off x="1697355" y="1001321"/>
              <a:ext cx="45719"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8" name="Text Box 5"/>
            <p:cNvSpPr txBox="1">
              <a:spLocks noChangeArrowheads="1"/>
            </p:cNvSpPr>
            <p:nvPr/>
          </p:nvSpPr>
          <p:spPr bwMode="auto">
            <a:xfrm>
              <a:off x="1761157" y="1084505"/>
              <a:ext cx="3272713" cy="307777"/>
            </a:xfrm>
            <a:prstGeom prst="rect">
              <a:avLst/>
            </a:prstGeom>
            <a:noFill/>
            <a:ln w="9525">
              <a:noFill/>
              <a:miter lim="800000"/>
              <a:headEnd/>
              <a:tailEnd/>
            </a:ln>
          </p:spPr>
          <p:txBody>
            <a:bodyPr wrap="square">
              <a:spAutoFit/>
            </a:bodyPr>
            <a:lstStyle/>
            <a:p>
              <a:pPr>
                <a:defRPr/>
              </a:pPr>
              <a:r>
                <a:rPr lang="en-US" altLang="ko-KR" sz="1400" b="1" dirty="0">
                  <a:solidFill>
                    <a:srgbClr val="2D2F2D"/>
                  </a:solidFill>
                  <a:latin typeface="+mj-lt"/>
                  <a:ea typeface="맑은 고딕" pitchFamily="50" charset="-127"/>
                </a:rPr>
                <a:t>Introduction and Summary</a:t>
              </a:r>
            </a:p>
          </p:txBody>
        </p:sp>
        <p:sp>
          <p:nvSpPr>
            <p:cNvPr id="20" name="TextBox 13"/>
            <p:cNvSpPr txBox="1">
              <a:spLocks noChangeArrowheads="1"/>
            </p:cNvSpPr>
            <p:nvPr/>
          </p:nvSpPr>
          <p:spPr bwMode="auto">
            <a:xfrm>
              <a:off x="1077516" y="999966"/>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01</a:t>
              </a:r>
              <a:endParaRPr lang="ko-KR" altLang="en-US" sz="2500" b="1" dirty="0">
                <a:solidFill>
                  <a:srgbClr val="2D2F2D"/>
                </a:solidFill>
                <a:latin typeface="+mj-lt"/>
                <a:ea typeface="맑은 고딕" pitchFamily="50" charset="-127"/>
              </a:endParaRPr>
            </a:p>
          </p:txBody>
        </p:sp>
      </p:grpSp>
      <p:grpSp>
        <p:nvGrpSpPr>
          <p:cNvPr id="49" name="그룹 48"/>
          <p:cNvGrpSpPr/>
          <p:nvPr/>
        </p:nvGrpSpPr>
        <p:grpSpPr>
          <a:xfrm>
            <a:off x="6247819" y="2156837"/>
            <a:ext cx="3636392" cy="506180"/>
            <a:chOff x="1077516" y="999966"/>
            <a:chExt cx="3636392" cy="506180"/>
          </a:xfrm>
        </p:grpSpPr>
        <p:sp>
          <p:nvSpPr>
            <p:cNvPr id="71" name="Oval 3"/>
            <p:cNvSpPr>
              <a:spLocks noChangeArrowheads="1"/>
            </p:cNvSpPr>
            <p:nvPr/>
          </p:nvSpPr>
          <p:spPr bwMode="auto">
            <a:xfrm>
              <a:off x="1697355" y="1001321"/>
              <a:ext cx="45719"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pPr>
              <a:endParaRPr lang="ko-KR" altLang="en-US" dirty="0">
                <a:solidFill>
                  <a:schemeClr val="accent6">
                    <a:lumMod val="75000"/>
                  </a:schemeClr>
                </a:solidFill>
                <a:latin typeface="+mj-lt"/>
                <a:ea typeface="맑은 고딕" pitchFamily="50" charset="-127"/>
              </a:endParaRPr>
            </a:p>
          </p:txBody>
        </p:sp>
        <p:sp>
          <p:nvSpPr>
            <p:cNvPr id="72" name="Text Box 5"/>
            <p:cNvSpPr txBox="1">
              <a:spLocks noChangeArrowheads="1"/>
            </p:cNvSpPr>
            <p:nvPr/>
          </p:nvSpPr>
          <p:spPr bwMode="auto">
            <a:xfrm>
              <a:off x="1761158" y="1099745"/>
              <a:ext cx="2952750" cy="307975"/>
            </a:xfrm>
            <a:prstGeom prst="rect">
              <a:avLst/>
            </a:prstGeom>
            <a:noFill/>
            <a:ln w="9525">
              <a:noFill/>
              <a:miter lim="800000"/>
              <a:headEnd/>
              <a:tailEnd/>
            </a:ln>
          </p:spPr>
          <p:txBody>
            <a:bodyPr>
              <a:spAutoFit/>
            </a:bodyPr>
            <a:lstStyle/>
            <a:p>
              <a:pPr>
                <a:defRPr/>
              </a:pPr>
              <a:r>
                <a:rPr lang="en-US" altLang="ko-KR" sz="1400" b="1" dirty="0">
                  <a:solidFill>
                    <a:srgbClr val="2D2F2D"/>
                  </a:solidFill>
                  <a:latin typeface="+mj-lt"/>
                  <a:ea typeface="맑은 고딕" pitchFamily="50" charset="-127"/>
                </a:rPr>
                <a:t>Problem Statement</a:t>
              </a:r>
            </a:p>
          </p:txBody>
        </p:sp>
        <p:sp>
          <p:nvSpPr>
            <p:cNvPr id="74" name="TextBox 13"/>
            <p:cNvSpPr txBox="1">
              <a:spLocks noChangeArrowheads="1"/>
            </p:cNvSpPr>
            <p:nvPr/>
          </p:nvSpPr>
          <p:spPr bwMode="auto">
            <a:xfrm>
              <a:off x="1077516" y="999966"/>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02</a:t>
              </a:r>
              <a:endParaRPr lang="ko-KR" altLang="en-US" sz="2500" b="1" dirty="0">
                <a:solidFill>
                  <a:srgbClr val="2D2F2D"/>
                </a:solidFill>
                <a:latin typeface="+mj-lt"/>
                <a:ea typeface="맑은 고딕" pitchFamily="50" charset="-127"/>
              </a:endParaRPr>
            </a:p>
          </p:txBody>
        </p:sp>
      </p:grpSp>
      <p:grpSp>
        <p:nvGrpSpPr>
          <p:cNvPr id="75" name="그룹 74"/>
          <p:cNvGrpSpPr/>
          <p:nvPr/>
        </p:nvGrpSpPr>
        <p:grpSpPr>
          <a:xfrm>
            <a:off x="6247819" y="2873117"/>
            <a:ext cx="4050443" cy="638931"/>
            <a:chOff x="1077516" y="999966"/>
            <a:chExt cx="4050443" cy="638931"/>
          </a:xfrm>
        </p:grpSpPr>
        <p:sp>
          <p:nvSpPr>
            <p:cNvPr id="76" name="Oval 3"/>
            <p:cNvSpPr>
              <a:spLocks noChangeArrowheads="1"/>
            </p:cNvSpPr>
            <p:nvPr/>
          </p:nvSpPr>
          <p:spPr bwMode="auto">
            <a:xfrm>
              <a:off x="1697355" y="1001321"/>
              <a:ext cx="45719"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pPr>
              <a:endParaRPr lang="ko-KR" altLang="en-US" dirty="0">
                <a:solidFill>
                  <a:schemeClr val="accent6">
                    <a:lumMod val="75000"/>
                  </a:schemeClr>
                </a:solidFill>
                <a:latin typeface="+mj-lt"/>
                <a:ea typeface="맑은 고딕" pitchFamily="50" charset="-127"/>
              </a:endParaRPr>
            </a:p>
          </p:txBody>
        </p:sp>
        <p:sp>
          <p:nvSpPr>
            <p:cNvPr id="77" name="Text Box 5"/>
            <p:cNvSpPr txBox="1">
              <a:spLocks noChangeArrowheads="1"/>
            </p:cNvSpPr>
            <p:nvPr/>
          </p:nvSpPr>
          <p:spPr bwMode="auto">
            <a:xfrm>
              <a:off x="1785314" y="1115677"/>
              <a:ext cx="3342645" cy="523220"/>
            </a:xfrm>
            <a:prstGeom prst="rect">
              <a:avLst/>
            </a:prstGeom>
            <a:noFill/>
            <a:ln w="9525">
              <a:noFill/>
              <a:miter lim="800000"/>
              <a:headEnd/>
              <a:tailEnd/>
            </a:ln>
          </p:spPr>
          <p:txBody>
            <a:bodyPr wrap="square">
              <a:spAutoFit/>
            </a:bodyPr>
            <a:lstStyle/>
            <a:p>
              <a:pPr>
                <a:defRPr/>
              </a:pPr>
              <a:r>
                <a:rPr lang="en-US" altLang="ko-KR" sz="1400" b="1" dirty="0">
                  <a:solidFill>
                    <a:srgbClr val="2D2F2D"/>
                  </a:solidFill>
                  <a:latin typeface="+mj-lt"/>
                  <a:ea typeface="맑은 고딕" pitchFamily="50" charset="-127"/>
                </a:rPr>
                <a:t>Aim and Objectives of the Analysis</a:t>
              </a:r>
            </a:p>
            <a:p>
              <a:pPr>
                <a:defRPr/>
              </a:pPr>
              <a:endParaRPr lang="en-US" altLang="ko-KR" sz="1400" b="1" dirty="0">
                <a:solidFill>
                  <a:srgbClr val="2D2F2D"/>
                </a:solidFill>
                <a:latin typeface="+mj-lt"/>
                <a:ea typeface="맑은 고딕" pitchFamily="50" charset="-127"/>
              </a:endParaRPr>
            </a:p>
          </p:txBody>
        </p:sp>
        <p:sp>
          <p:nvSpPr>
            <p:cNvPr id="79" name="TextBox 13"/>
            <p:cNvSpPr txBox="1">
              <a:spLocks noChangeArrowheads="1"/>
            </p:cNvSpPr>
            <p:nvPr/>
          </p:nvSpPr>
          <p:spPr bwMode="auto">
            <a:xfrm>
              <a:off x="1077516" y="999966"/>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03</a:t>
              </a:r>
              <a:endParaRPr lang="ko-KR" altLang="en-US" sz="2500" b="1" dirty="0">
                <a:solidFill>
                  <a:srgbClr val="2D2F2D"/>
                </a:solidFill>
                <a:latin typeface="+mj-lt"/>
                <a:ea typeface="맑은 고딕" pitchFamily="50" charset="-127"/>
              </a:endParaRPr>
            </a:p>
          </p:txBody>
        </p:sp>
      </p:grpSp>
      <p:grpSp>
        <p:nvGrpSpPr>
          <p:cNvPr id="80" name="그룹 79"/>
          <p:cNvGrpSpPr/>
          <p:nvPr/>
        </p:nvGrpSpPr>
        <p:grpSpPr>
          <a:xfrm>
            <a:off x="6247819" y="3589397"/>
            <a:ext cx="3693011" cy="506180"/>
            <a:chOff x="1077516" y="999966"/>
            <a:chExt cx="3693011" cy="506180"/>
          </a:xfrm>
        </p:grpSpPr>
        <p:sp>
          <p:nvSpPr>
            <p:cNvPr id="81" name="Oval 3"/>
            <p:cNvSpPr>
              <a:spLocks noChangeArrowheads="1"/>
            </p:cNvSpPr>
            <p:nvPr/>
          </p:nvSpPr>
          <p:spPr bwMode="auto">
            <a:xfrm>
              <a:off x="1697355" y="1001321"/>
              <a:ext cx="45719"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pPr>
              <a:endParaRPr lang="ko-KR" altLang="en-US" dirty="0">
                <a:solidFill>
                  <a:schemeClr val="accent6">
                    <a:lumMod val="75000"/>
                  </a:schemeClr>
                </a:solidFill>
                <a:latin typeface="+mj-lt"/>
                <a:ea typeface="맑은 고딕" pitchFamily="50" charset="-127"/>
              </a:endParaRPr>
            </a:p>
          </p:txBody>
        </p:sp>
        <p:sp>
          <p:nvSpPr>
            <p:cNvPr id="82" name="Text Box 5"/>
            <p:cNvSpPr txBox="1">
              <a:spLocks noChangeArrowheads="1"/>
            </p:cNvSpPr>
            <p:nvPr/>
          </p:nvSpPr>
          <p:spPr bwMode="auto">
            <a:xfrm>
              <a:off x="1817777" y="1084505"/>
              <a:ext cx="2952750" cy="307975"/>
            </a:xfrm>
            <a:prstGeom prst="rect">
              <a:avLst/>
            </a:prstGeom>
            <a:noFill/>
            <a:ln w="9525">
              <a:noFill/>
              <a:miter lim="800000"/>
              <a:headEnd/>
              <a:tailEnd/>
            </a:ln>
          </p:spPr>
          <p:txBody>
            <a:bodyPr>
              <a:spAutoFit/>
            </a:bodyPr>
            <a:lstStyle/>
            <a:p>
              <a:pPr>
                <a:defRPr/>
              </a:pPr>
              <a:r>
                <a:rPr lang="en-US" altLang="ko-KR" sz="1400" b="1" dirty="0">
                  <a:solidFill>
                    <a:srgbClr val="2D2F2D"/>
                  </a:solidFill>
                  <a:latin typeface="+mj-lt"/>
                  <a:ea typeface="맑은 고딕" pitchFamily="50" charset="-127"/>
                </a:rPr>
                <a:t>Key Finding and Insights</a:t>
              </a:r>
            </a:p>
          </p:txBody>
        </p:sp>
        <p:sp>
          <p:nvSpPr>
            <p:cNvPr id="84" name="TextBox 13"/>
            <p:cNvSpPr txBox="1">
              <a:spLocks noChangeArrowheads="1"/>
            </p:cNvSpPr>
            <p:nvPr/>
          </p:nvSpPr>
          <p:spPr bwMode="auto">
            <a:xfrm>
              <a:off x="1077516" y="999966"/>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04</a:t>
              </a:r>
              <a:endParaRPr lang="ko-KR" altLang="en-US" sz="2500" b="1" dirty="0">
                <a:solidFill>
                  <a:srgbClr val="2D2F2D"/>
                </a:solidFill>
                <a:latin typeface="+mj-lt"/>
                <a:ea typeface="맑은 고딕" pitchFamily="50" charset="-127"/>
              </a:endParaRPr>
            </a:p>
          </p:txBody>
        </p:sp>
      </p:grpSp>
      <p:grpSp>
        <p:nvGrpSpPr>
          <p:cNvPr id="85" name="그룹 84"/>
          <p:cNvGrpSpPr/>
          <p:nvPr/>
        </p:nvGrpSpPr>
        <p:grpSpPr>
          <a:xfrm>
            <a:off x="6247819" y="4305677"/>
            <a:ext cx="4096163" cy="506180"/>
            <a:chOff x="1077516" y="999966"/>
            <a:chExt cx="4096163" cy="506180"/>
          </a:xfrm>
        </p:grpSpPr>
        <p:sp>
          <p:nvSpPr>
            <p:cNvPr id="86" name="Oval 3"/>
            <p:cNvSpPr>
              <a:spLocks noChangeArrowheads="1"/>
            </p:cNvSpPr>
            <p:nvPr/>
          </p:nvSpPr>
          <p:spPr bwMode="auto">
            <a:xfrm>
              <a:off x="1697355" y="1001321"/>
              <a:ext cx="45719"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pPr>
              <a:endParaRPr lang="ko-KR" altLang="en-US" dirty="0">
                <a:solidFill>
                  <a:schemeClr val="accent6">
                    <a:lumMod val="75000"/>
                  </a:schemeClr>
                </a:solidFill>
                <a:latin typeface="+mj-lt"/>
                <a:ea typeface="맑은 고딕" pitchFamily="50" charset="-127"/>
              </a:endParaRPr>
            </a:p>
          </p:txBody>
        </p:sp>
        <p:sp>
          <p:nvSpPr>
            <p:cNvPr id="87" name="Text Box 5"/>
            <p:cNvSpPr txBox="1">
              <a:spLocks noChangeArrowheads="1"/>
            </p:cNvSpPr>
            <p:nvPr/>
          </p:nvSpPr>
          <p:spPr bwMode="auto">
            <a:xfrm>
              <a:off x="1785314" y="1084505"/>
              <a:ext cx="3388365" cy="307777"/>
            </a:xfrm>
            <a:prstGeom prst="rect">
              <a:avLst/>
            </a:prstGeom>
            <a:noFill/>
            <a:ln w="9525">
              <a:noFill/>
              <a:miter lim="800000"/>
              <a:headEnd/>
              <a:tailEnd/>
            </a:ln>
          </p:spPr>
          <p:txBody>
            <a:bodyPr wrap="square">
              <a:spAutoFit/>
            </a:bodyPr>
            <a:lstStyle/>
            <a:p>
              <a:pPr>
                <a:defRPr/>
              </a:pPr>
              <a:r>
                <a:rPr lang="en-US" altLang="ko-KR" sz="1400" b="1" dirty="0">
                  <a:solidFill>
                    <a:srgbClr val="2D2F2D"/>
                  </a:solidFill>
                  <a:latin typeface="+mj-lt"/>
                  <a:ea typeface="맑은 고딕" pitchFamily="50" charset="-127"/>
                </a:rPr>
                <a:t>Conclusion and Recommendation</a:t>
              </a:r>
            </a:p>
          </p:txBody>
        </p:sp>
        <p:sp>
          <p:nvSpPr>
            <p:cNvPr id="89" name="TextBox 13"/>
            <p:cNvSpPr txBox="1">
              <a:spLocks noChangeArrowheads="1"/>
            </p:cNvSpPr>
            <p:nvPr/>
          </p:nvSpPr>
          <p:spPr bwMode="auto">
            <a:xfrm>
              <a:off x="1077516" y="999966"/>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05</a:t>
              </a:r>
              <a:endParaRPr lang="ko-KR" altLang="en-US" sz="2500" b="1" dirty="0">
                <a:solidFill>
                  <a:srgbClr val="2D2F2D"/>
                </a:solidFill>
                <a:latin typeface="+mj-lt"/>
                <a:ea typeface="맑은 고딕" pitchFamily="50" charset="-127"/>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D0978D-6F2F-4490-92AB-FC2867E9CC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6" name="Rectangle 5">
            <a:extLst>
              <a:ext uri="{FF2B5EF4-FFF2-40B4-BE49-F238E27FC236}">
                <a16:creationId xmlns:a16="http://schemas.microsoft.com/office/drawing/2014/main" id="{BB352D98-09C6-44C9-B57F-6F2483B6E060}"/>
              </a:ext>
            </a:extLst>
          </p:cNvPr>
          <p:cNvSpPr/>
          <p:nvPr/>
        </p:nvSpPr>
        <p:spPr>
          <a:xfrm>
            <a:off x="351577" y="354060"/>
            <a:ext cx="11488843" cy="6070367"/>
          </a:xfrm>
          <a:prstGeom prst="rect">
            <a:avLst/>
          </a:prstGeom>
          <a:solidFill>
            <a:schemeClr val="bg1">
              <a:alpha val="9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2" name="TextBox 1">
            <a:extLst>
              <a:ext uri="{FF2B5EF4-FFF2-40B4-BE49-F238E27FC236}">
                <a16:creationId xmlns:a16="http://schemas.microsoft.com/office/drawing/2014/main" id="{19356C7D-6ABE-4E96-9922-794522AF7E04}"/>
              </a:ext>
            </a:extLst>
          </p:cNvPr>
          <p:cNvSpPr txBox="1"/>
          <p:nvPr/>
        </p:nvSpPr>
        <p:spPr>
          <a:xfrm>
            <a:off x="1683025" y="2737443"/>
            <a:ext cx="8733183" cy="2585323"/>
          </a:xfrm>
          <a:prstGeom prst="rect">
            <a:avLst/>
          </a:prstGeom>
          <a:noFill/>
        </p:spPr>
        <p:txBody>
          <a:bodyPr wrap="square" lIns="0" tIns="0" rIns="0" bIns="0" rtlCol="0" anchor="t">
            <a:spAutoFit/>
          </a:bodyPr>
          <a:lstStyle/>
          <a:p>
            <a:pPr algn="just">
              <a:spcAft>
                <a:spcPts val="600"/>
              </a:spcAft>
            </a:pPr>
            <a:r>
              <a:rPr lang="en-US" dirty="0"/>
              <a:t> </a:t>
            </a:r>
            <a:r>
              <a:rPr lang="en-US" sz="2400" dirty="0"/>
              <a:t>Hot Slice Pizzeria is a fictional family-owned pizzeria located in the heart of a bustling city, specializing in gourmet, hand-tossed pizzas. Established in 2013, the pizzeria has gained a loyal customer base due to its commitment to fresh ingredients and a personalized customer experience. In 2015, Hot Slice’s Pizzeria decided to start analyzing its sales data to better understand customer preferences, and drive revenue growth for the single location.</a:t>
            </a:r>
          </a:p>
        </p:txBody>
      </p:sp>
      <p:sp>
        <p:nvSpPr>
          <p:cNvPr id="3" name="TextBox 2">
            <a:extLst>
              <a:ext uri="{FF2B5EF4-FFF2-40B4-BE49-F238E27FC236}">
                <a16:creationId xmlns:a16="http://schemas.microsoft.com/office/drawing/2014/main" id="{85F2EDEF-95C2-4091-AC39-DA87DF419424}"/>
              </a:ext>
            </a:extLst>
          </p:cNvPr>
          <p:cNvSpPr txBox="1"/>
          <p:nvPr/>
        </p:nvSpPr>
        <p:spPr>
          <a:xfrm>
            <a:off x="3488180" y="1196680"/>
            <a:ext cx="5215635" cy="677108"/>
          </a:xfrm>
          <a:prstGeom prst="rect">
            <a:avLst/>
          </a:prstGeom>
          <a:noFill/>
        </p:spPr>
        <p:txBody>
          <a:bodyPr wrap="square" lIns="0" tIns="0" rIns="0" bIns="0" rtlCol="0">
            <a:spAutoFit/>
          </a:bodyPr>
          <a:lstStyle/>
          <a:p>
            <a:pPr algn="ctr">
              <a:spcAft>
                <a:spcPts val="600"/>
              </a:spcAft>
            </a:pPr>
            <a:r>
              <a:rPr lang="en-US" sz="4400" b="1" dirty="0">
                <a:solidFill>
                  <a:srgbClr val="FF0000"/>
                </a:solidFill>
                <a:latin typeface="+mj-lt"/>
              </a:rPr>
              <a:t>Introduction</a:t>
            </a:r>
            <a:endParaRPr lang="en-US" sz="4400" dirty="0">
              <a:solidFill>
                <a:srgbClr val="FF0000"/>
              </a:solidFill>
              <a:latin typeface="+mj-lt"/>
            </a:endParaRPr>
          </a:p>
        </p:txBody>
      </p:sp>
    </p:spTree>
    <p:extLst>
      <p:ext uri="{BB962C8B-B14F-4D97-AF65-F5344CB8AC3E}">
        <p14:creationId xmlns:p14="http://schemas.microsoft.com/office/powerpoint/2010/main" val="1328345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DDDFFF-A87F-F312-CF0C-D39F7B284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7000"/>
            <a:ext cx="12192000" cy="6477000"/>
          </a:xfrm>
          <a:prstGeom prst="rect">
            <a:avLst/>
          </a:prstGeom>
        </p:spPr>
      </p:pic>
    </p:spTree>
    <p:extLst>
      <p:ext uri="{BB962C8B-B14F-4D97-AF65-F5344CB8AC3E}">
        <p14:creationId xmlns:p14="http://schemas.microsoft.com/office/powerpoint/2010/main" val="2279296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F9F593-0043-C270-D23B-A7847D42C2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0500"/>
            <a:ext cx="12192000" cy="6489700"/>
          </a:xfrm>
          <a:prstGeom prst="rect">
            <a:avLst/>
          </a:prstGeom>
        </p:spPr>
      </p:pic>
    </p:spTree>
    <p:extLst>
      <p:ext uri="{BB962C8B-B14F-4D97-AF65-F5344CB8AC3E}">
        <p14:creationId xmlns:p14="http://schemas.microsoft.com/office/powerpoint/2010/main" val="3923769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674FBF-3049-411D-9375-0BC462E79D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Freeform: Shape 2">
            <a:extLst>
              <a:ext uri="{FF2B5EF4-FFF2-40B4-BE49-F238E27FC236}">
                <a16:creationId xmlns:a16="http://schemas.microsoft.com/office/drawing/2014/main" id="{56963AAA-A1FB-417F-9C30-052CFEA1E4D1}"/>
              </a:ext>
            </a:extLst>
          </p:cNvPr>
          <p:cNvSpPr>
            <a:spLocks/>
          </p:cNvSpPr>
          <p:nvPr/>
        </p:nvSpPr>
        <p:spPr bwMode="auto">
          <a:xfrm>
            <a:off x="202622" y="148204"/>
            <a:ext cx="11786755" cy="6482080"/>
          </a:xfrm>
          <a:custGeom>
            <a:avLst/>
            <a:gdLst>
              <a:gd name="connsiteX0" fmla="*/ 0 w 11786755"/>
              <a:gd name="connsiteY0" fmla="*/ 0 h 6482080"/>
              <a:gd name="connsiteX1" fmla="*/ 11786755 w 11786755"/>
              <a:gd name="connsiteY1" fmla="*/ 0 h 6482080"/>
              <a:gd name="connsiteX2" fmla="*/ 11786755 w 11786755"/>
              <a:gd name="connsiteY2" fmla="*/ 6482080 h 6482080"/>
              <a:gd name="connsiteX3" fmla="*/ 10522346 w 11786755"/>
              <a:gd name="connsiteY3" fmla="*/ 6482080 h 6482080"/>
              <a:gd name="connsiteX4" fmla="*/ 10522346 w 11786755"/>
              <a:gd name="connsiteY4" fmla="*/ 4211864 h 6482080"/>
              <a:gd name="connsiteX5" fmla="*/ 10604189 w 11786755"/>
              <a:gd name="connsiteY5" fmla="*/ 4197151 h 6482080"/>
              <a:gd name="connsiteX6" fmla="*/ 10686033 w 11786755"/>
              <a:gd name="connsiteY6" fmla="*/ 4160369 h 6482080"/>
              <a:gd name="connsiteX7" fmla="*/ 10760436 w 11786755"/>
              <a:gd name="connsiteY7" fmla="*/ 4123587 h 6482080"/>
              <a:gd name="connsiteX8" fmla="*/ 10827399 w 11786755"/>
              <a:gd name="connsiteY8" fmla="*/ 4086805 h 6482080"/>
              <a:gd name="connsiteX9" fmla="*/ 10901802 w 11786755"/>
              <a:gd name="connsiteY9" fmla="*/ 4042667 h 6482080"/>
              <a:gd name="connsiteX10" fmla="*/ 10968764 w 11786755"/>
              <a:gd name="connsiteY10" fmla="*/ 3991172 h 6482080"/>
              <a:gd name="connsiteX11" fmla="*/ 11028287 w 11786755"/>
              <a:gd name="connsiteY11" fmla="*/ 3924964 h 6482080"/>
              <a:gd name="connsiteX12" fmla="*/ 11080369 w 11786755"/>
              <a:gd name="connsiteY12" fmla="*/ 3866113 h 6482080"/>
              <a:gd name="connsiteX13" fmla="*/ 11132451 w 11786755"/>
              <a:gd name="connsiteY13" fmla="*/ 3799906 h 6482080"/>
              <a:gd name="connsiteX14" fmla="*/ 11177093 w 11786755"/>
              <a:gd name="connsiteY14" fmla="*/ 3733698 h 6482080"/>
              <a:gd name="connsiteX15" fmla="*/ 11206854 w 11786755"/>
              <a:gd name="connsiteY15" fmla="*/ 3660134 h 6482080"/>
              <a:gd name="connsiteX16" fmla="*/ 11244056 w 11786755"/>
              <a:gd name="connsiteY16" fmla="*/ 3579214 h 6482080"/>
              <a:gd name="connsiteX17" fmla="*/ 11273817 w 11786755"/>
              <a:gd name="connsiteY17" fmla="*/ 3498293 h 6482080"/>
              <a:gd name="connsiteX18" fmla="*/ 11288697 w 11786755"/>
              <a:gd name="connsiteY18" fmla="*/ 3417373 h 6482080"/>
              <a:gd name="connsiteX19" fmla="*/ 11303578 w 11786755"/>
              <a:gd name="connsiteY19" fmla="*/ 3329096 h 6482080"/>
              <a:gd name="connsiteX20" fmla="*/ 11303578 w 11786755"/>
              <a:gd name="connsiteY20" fmla="*/ 3240819 h 6482080"/>
              <a:gd name="connsiteX21" fmla="*/ 11303578 w 11786755"/>
              <a:gd name="connsiteY21" fmla="*/ 2578743 h 6482080"/>
              <a:gd name="connsiteX22" fmla="*/ 11303578 w 11786755"/>
              <a:gd name="connsiteY22" fmla="*/ 2468397 h 6482080"/>
              <a:gd name="connsiteX23" fmla="*/ 11281257 w 11786755"/>
              <a:gd name="connsiteY23" fmla="*/ 2372764 h 6482080"/>
              <a:gd name="connsiteX24" fmla="*/ 11258936 w 11786755"/>
              <a:gd name="connsiteY24" fmla="*/ 2284487 h 6482080"/>
              <a:gd name="connsiteX25" fmla="*/ 11229175 w 11786755"/>
              <a:gd name="connsiteY25" fmla="*/ 2196211 h 6482080"/>
              <a:gd name="connsiteX26" fmla="*/ 11184533 w 11786755"/>
              <a:gd name="connsiteY26" fmla="*/ 2107934 h 6482080"/>
              <a:gd name="connsiteX27" fmla="*/ 11132451 w 11786755"/>
              <a:gd name="connsiteY27" fmla="*/ 2027013 h 6482080"/>
              <a:gd name="connsiteX28" fmla="*/ 11072929 w 11786755"/>
              <a:gd name="connsiteY28" fmla="*/ 1946093 h 6482080"/>
              <a:gd name="connsiteX29" fmla="*/ 11013406 w 11786755"/>
              <a:gd name="connsiteY29" fmla="*/ 1872529 h 6482080"/>
              <a:gd name="connsiteX30" fmla="*/ 10939003 w 11786755"/>
              <a:gd name="connsiteY30" fmla="*/ 1813678 h 6482080"/>
              <a:gd name="connsiteX31" fmla="*/ 10857160 w 11786755"/>
              <a:gd name="connsiteY31" fmla="*/ 1747470 h 6482080"/>
              <a:gd name="connsiteX32" fmla="*/ 10775317 w 11786755"/>
              <a:gd name="connsiteY32" fmla="*/ 1703332 h 6482080"/>
              <a:gd name="connsiteX33" fmla="*/ 10686033 w 11786755"/>
              <a:gd name="connsiteY33" fmla="*/ 1659193 h 6482080"/>
              <a:gd name="connsiteX34" fmla="*/ 10596749 w 11786755"/>
              <a:gd name="connsiteY34" fmla="*/ 1622411 h 6482080"/>
              <a:gd name="connsiteX35" fmla="*/ 10500025 w 11786755"/>
              <a:gd name="connsiteY35" fmla="*/ 1607699 h 6482080"/>
              <a:gd name="connsiteX36" fmla="*/ 10395861 w 11786755"/>
              <a:gd name="connsiteY36" fmla="*/ 1585629 h 6482080"/>
              <a:gd name="connsiteX37" fmla="*/ 10299137 w 11786755"/>
              <a:gd name="connsiteY37" fmla="*/ 1578273 h 6482080"/>
              <a:gd name="connsiteX38" fmla="*/ 10194973 w 11786755"/>
              <a:gd name="connsiteY38" fmla="*/ 1585629 h 6482080"/>
              <a:gd name="connsiteX39" fmla="*/ 10090809 w 11786755"/>
              <a:gd name="connsiteY39" fmla="*/ 1607699 h 6482080"/>
              <a:gd name="connsiteX40" fmla="*/ 10001525 w 11786755"/>
              <a:gd name="connsiteY40" fmla="*/ 1622411 h 6482080"/>
              <a:gd name="connsiteX41" fmla="*/ 9912241 w 11786755"/>
              <a:gd name="connsiteY41" fmla="*/ 1659193 h 6482080"/>
              <a:gd name="connsiteX42" fmla="*/ 9815517 w 11786755"/>
              <a:gd name="connsiteY42" fmla="*/ 1703332 h 6482080"/>
              <a:gd name="connsiteX43" fmla="*/ 9741114 w 11786755"/>
              <a:gd name="connsiteY43" fmla="*/ 1747470 h 6482080"/>
              <a:gd name="connsiteX44" fmla="*/ 9659271 w 11786755"/>
              <a:gd name="connsiteY44" fmla="*/ 1813678 h 6482080"/>
              <a:gd name="connsiteX45" fmla="*/ 9584868 w 11786755"/>
              <a:gd name="connsiteY45" fmla="*/ 1872529 h 6482080"/>
              <a:gd name="connsiteX46" fmla="*/ 9517905 w 11786755"/>
              <a:gd name="connsiteY46" fmla="*/ 1946093 h 6482080"/>
              <a:gd name="connsiteX47" fmla="*/ 9465823 w 11786755"/>
              <a:gd name="connsiteY47" fmla="*/ 2027013 h 6482080"/>
              <a:gd name="connsiteX48" fmla="*/ 9413741 w 11786755"/>
              <a:gd name="connsiteY48" fmla="*/ 2107934 h 6482080"/>
              <a:gd name="connsiteX49" fmla="*/ 9369099 w 11786755"/>
              <a:gd name="connsiteY49" fmla="*/ 2196211 h 6482080"/>
              <a:gd name="connsiteX50" fmla="*/ 9331898 w 11786755"/>
              <a:gd name="connsiteY50" fmla="*/ 2284487 h 6482080"/>
              <a:gd name="connsiteX51" fmla="*/ 9309577 w 11786755"/>
              <a:gd name="connsiteY51" fmla="*/ 2372764 h 6482080"/>
              <a:gd name="connsiteX52" fmla="*/ 9294696 w 11786755"/>
              <a:gd name="connsiteY52" fmla="*/ 2468397 h 6482080"/>
              <a:gd name="connsiteX53" fmla="*/ 9287256 w 11786755"/>
              <a:gd name="connsiteY53" fmla="*/ 2578743 h 6482080"/>
              <a:gd name="connsiteX54" fmla="*/ 9287256 w 11786755"/>
              <a:gd name="connsiteY54" fmla="*/ 3240819 h 6482080"/>
              <a:gd name="connsiteX55" fmla="*/ 9294696 w 11786755"/>
              <a:gd name="connsiteY55" fmla="*/ 3329096 h 6482080"/>
              <a:gd name="connsiteX56" fmla="*/ 9302137 w 11786755"/>
              <a:gd name="connsiteY56" fmla="*/ 3417373 h 6482080"/>
              <a:gd name="connsiteX57" fmla="*/ 9324458 w 11786755"/>
              <a:gd name="connsiteY57" fmla="*/ 3498293 h 6482080"/>
              <a:gd name="connsiteX58" fmla="*/ 9346778 w 11786755"/>
              <a:gd name="connsiteY58" fmla="*/ 3579214 h 6482080"/>
              <a:gd name="connsiteX59" fmla="*/ 9383980 w 11786755"/>
              <a:gd name="connsiteY59" fmla="*/ 3660134 h 6482080"/>
              <a:gd name="connsiteX60" fmla="*/ 9421181 w 11786755"/>
              <a:gd name="connsiteY60" fmla="*/ 3733698 h 6482080"/>
              <a:gd name="connsiteX61" fmla="*/ 9465823 w 11786755"/>
              <a:gd name="connsiteY61" fmla="*/ 3799906 h 6482080"/>
              <a:gd name="connsiteX62" fmla="*/ 9510465 w 11786755"/>
              <a:gd name="connsiteY62" fmla="*/ 3866113 h 6482080"/>
              <a:gd name="connsiteX63" fmla="*/ 9562547 w 11786755"/>
              <a:gd name="connsiteY63" fmla="*/ 3924964 h 6482080"/>
              <a:gd name="connsiteX64" fmla="*/ 9629510 w 11786755"/>
              <a:gd name="connsiteY64" fmla="*/ 3991172 h 6482080"/>
              <a:gd name="connsiteX65" fmla="*/ 9689032 w 11786755"/>
              <a:gd name="connsiteY65" fmla="*/ 4042667 h 6482080"/>
              <a:gd name="connsiteX66" fmla="*/ 9763435 w 11786755"/>
              <a:gd name="connsiteY66" fmla="*/ 4086805 h 6482080"/>
              <a:gd name="connsiteX67" fmla="*/ 9837838 w 11786755"/>
              <a:gd name="connsiteY67" fmla="*/ 4123587 h 6482080"/>
              <a:gd name="connsiteX68" fmla="*/ 9912241 w 11786755"/>
              <a:gd name="connsiteY68" fmla="*/ 4160369 h 6482080"/>
              <a:gd name="connsiteX69" fmla="*/ 9994085 w 11786755"/>
              <a:gd name="connsiteY69" fmla="*/ 4197151 h 6482080"/>
              <a:gd name="connsiteX70" fmla="*/ 10068488 w 11786755"/>
              <a:gd name="connsiteY70" fmla="*/ 4211864 h 6482080"/>
              <a:gd name="connsiteX71" fmla="*/ 10068488 w 11786755"/>
              <a:gd name="connsiteY71" fmla="*/ 6482080 h 6482080"/>
              <a:gd name="connsiteX72" fmla="*/ 7867637 w 11786755"/>
              <a:gd name="connsiteY72" fmla="*/ 6482080 h 6482080"/>
              <a:gd name="connsiteX73" fmla="*/ 7867637 w 11786755"/>
              <a:gd name="connsiteY73" fmla="*/ 4322210 h 6482080"/>
              <a:gd name="connsiteX74" fmla="*/ 7971650 w 11786755"/>
              <a:gd name="connsiteY74" fmla="*/ 4300141 h 6482080"/>
              <a:gd name="connsiteX75" fmla="*/ 8060804 w 11786755"/>
              <a:gd name="connsiteY75" fmla="*/ 4270715 h 6482080"/>
              <a:gd name="connsiteX76" fmla="*/ 8149958 w 11786755"/>
              <a:gd name="connsiteY76" fmla="*/ 4233933 h 6482080"/>
              <a:gd name="connsiteX77" fmla="*/ 8231683 w 11786755"/>
              <a:gd name="connsiteY77" fmla="*/ 4189795 h 6482080"/>
              <a:gd name="connsiteX78" fmla="*/ 8305978 w 11786755"/>
              <a:gd name="connsiteY78" fmla="*/ 4145656 h 6482080"/>
              <a:gd name="connsiteX79" fmla="*/ 8387702 w 11786755"/>
              <a:gd name="connsiteY79" fmla="*/ 4079449 h 6482080"/>
              <a:gd name="connsiteX80" fmla="*/ 8447139 w 11786755"/>
              <a:gd name="connsiteY80" fmla="*/ 4020598 h 6482080"/>
              <a:gd name="connsiteX81" fmla="*/ 8514004 w 11786755"/>
              <a:gd name="connsiteY81" fmla="*/ 3947034 h 6482080"/>
              <a:gd name="connsiteX82" fmla="*/ 8566011 w 11786755"/>
              <a:gd name="connsiteY82" fmla="*/ 3873470 h 6482080"/>
              <a:gd name="connsiteX83" fmla="*/ 8618017 w 11786755"/>
              <a:gd name="connsiteY83" fmla="*/ 3792549 h 6482080"/>
              <a:gd name="connsiteX84" fmla="*/ 8662594 w 11786755"/>
              <a:gd name="connsiteY84" fmla="*/ 3711629 h 6482080"/>
              <a:gd name="connsiteX85" fmla="*/ 8699742 w 11786755"/>
              <a:gd name="connsiteY85" fmla="*/ 3623352 h 6482080"/>
              <a:gd name="connsiteX86" fmla="*/ 8729460 w 11786755"/>
              <a:gd name="connsiteY86" fmla="*/ 3535075 h 6482080"/>
              <a:gd name="connsiteX87" fmla="*/ 8751749 w 11786755"/>
              <a:gd name="connsiteY87" fmla="*/ 3439442 h 6482080"/>
              <a:gd name="connsiteX88" fmla="*/ 8766607 w 11786755"/>
              <a:gd name="connsiteY88" fmla="*/ 3336453 h 6482080"/>
              <a:gd name="connsiteX89" fmla="*/ 8774037 w 11786755"/>
              <a:gd name="connsiteY89" fmla="*/ 3240819 h 6482080"/>
              <a:gd name="connsiteX90" fmla="*/ 8774037 w 11786755"/>
              <a:gd name="connsiteY90" fmla="*/ 1798965 h 6482080"/>
              <a:gd name="connsiteX91" fmla="*/ 8766607 w 11786755"/>
              <a:gd name="connsiteY91" fmla="*/ 1754827 h 6482080"/>
              <a:gd name="connsiteX92" fmla="*/ 8751749 w 11786755"/>
              <a:gd name="connsiteY92" fmla="*/ 1710688 h 6482080"/>
              <a:gd name="connsiteX93" fmla="*/ 8729460 w 11786755"/>
              <a:gd name="connsiteY93" fmla="*/ 1673906 h 6482080"/>
              <a:gd name="connsiteX94" fmla="*/ 8699742 w 11786755"/>
              <a:gd name="connsiteY94" fmla="*/ 1644481 h 6482080"/>
              <a:gd name="connsiteX95" fmla="*/ 8670024 w 11786755"/>
              <a:gd name="connsiteY95" fmla="*/ 1615055 h 6482080"/>
              <a:gd name="connsiteX96" fmla="*/ 8625447 w 11786755"/>
              <a:gd name="connsiteY96" fmla="*/ 1600342 h 6482080"/>
              <a:gd name="connsiteX97" fmla="*/ 8588299 w 11786755"/>
              <a:gd name="connsiteY97" fmla="*/ 1585629 h 6482080"/>
              <a:gd name="connsiteX98" fmla="*/ 8543722 w 11786755"/>
              <a:gd name="connsiteY98" fmla="*/ 1578273 h 6482080"/>
              <a:gd name="connsiteX99" fmla="*/ 8499145 w 11786755"/>
              <a:gd name="connsiteY99" fmla="*/ 1585629 h 6482080"/>
              <a:gd name="connsiteX100" fmla="*/ 8454568 w 11786755"/>
              <a:gd name="connsiteY100" fmla="*/ 1600342 h 6482080"/>
              <a:gd name="connsiteX101" fmla="*/ 8417421 w 11786755"/>
              <a:gd name="connsiteY101" fmla="*/ 1615055 h 6482080"/>
              <a:gd name="connsiteX102" fmla="*/ 8387702 w 11786755"/>
              <a:gd name="connsiteY102" fmla="*/ 1644481 h 6482080"/>
              <a:gd name="connsiteX103" fmla="*/ 8357984 w 11786755"/>
              <a:gd name="connsiteY103" fmla="*/ 1673906 h 6482080"/>
              <a:gd name="connsiteX104" fmla="*/ 8343125 w 11786755"/>
              <a:gd name="connsiteY104" fmla="*/ 1710688 h 6482080"/>
              <a:gd name="connsiteX105" fmla="*/ 8320837 w 11786755"/>
              <a:gd name="connsiteY105" fmla="*/ 1754827 h 6482080"/>
              <a:gd name="connsiteX106" fmla="*/ 8320837 w 11786755"/>
              <a:gd name="connsiteY106" fmla="*/ 1798965 h 6482080"/>
              <a:gd name="connsiteX107" fmla="*/ 8320837 w 11786755"/>
              <a:gd name="connsiteY107" fmla="*/ 3240819 h 6482080"/>
              <a:gd name="connsiteX108" fmla="*/ 8313407 w 11786755"/>
              <a:gd name="connsiteY108" fmla="*/ 3343809 h 6482080"/>
              <a:gd name="connsiteX109" fmla="*/ 8283689 w 11786755"/>
              <a:gd name="connsiteY109" fmla="*/ 3446799 h 6482080"/>
              <a:gd name="connsiteX110" fmla="*/ 8246542 w 11786755"/>
              <a:gd name="connsiteY110" fmla="*/ 3542432 h 6482080"/>
              <a:gd name="connsiteX111" fmla="*/ 8194535 w 11786755"/>
              <a:gd name="connsiteY111" fmla="*/ 3630709 h 6482080"/>
              <a:gd name="connsiteX112" fmla="*/ 8135099 w 11786755"/>
              <a:gd name="connsiteY112" fmla="*/ 3704272 h 6482080"/>
              <a:gd name="connsiteX113" fmla="*/ 8053375 w 11786755"/>
              <a:gd name="connsiteY113" fmla="*/ 3777836 h 6482080"/>
              <a:gd name="connsiteX114" fmla="*/ 7971650 w 11786755"/>
              <a:gd name="connsiteY114" fmla="*/ 3829331 h 6482080"/>
              <a:gd name="connsiteX115" fmla="*/ 7867637 w 11786755"/>
              <a:gd name="connsiteY115" fmla="*/ 3873470 h 6482080"/>
              <a:gd name="connsiteX116" fmla="*/ 7867637 w 11786755"/>
              <a:gd name="connsiteY116" fmla="*/ 1798965 h 6482080"/>
              <a:gd name="connsiteX117" fmla="*/ 7867637 w 11786755"/>
              <a:gd name="connsiteY117" fmla="*/ 1754827 h 6482080"/>
              <a:gd name="connsiteX118" fmla="*/ 7852778 w 11786755"/>
              <a:gd name="connsiteY118" fmla="*/ 1710688 h 6482080"/>
              <a:gd name="connsiteX119" fmla="*/ 7837919 w 11786755"/>
              <a:gd name="connsiteY119" fmla="*/ 1673906 h 6482080"/>
              <a:gd name="connsiteX120" fmla="*/ 7808201 w 11786755"/>
              <a:gd name="connsiteY120" fmla="*/ 1644481 h 6482080"/>
              <a:gd name="connsiteX121" fmla="*/ 7771053 w 11786755"/>
              <a:gd name="connsiteY121" fmla="*/ 1615055 h 6482080"/>
              <a:gd name="connsiteX122" fmla="*/ 7733906 w 11786755"/>
              <a:gd name="connsiteY122" fmla="*/ 1600342 h 6482080"/>
              <a:gd name="connsiteX123" fmla="*/ 7696758 w 11786755"/>
              <a:gd name="connsiteY123" fmla="*/ 1585629 h 6482080"/>
              <a:gd name="connsiteX124" fmla="*/ 7652181 w 11786755"/>
              <a:gd name="connsiteY124" fmla="*/ 1578273 h 6482080"/>
              <a:gd name="connsiteX125" fmla="*/ 7607604 w 11786755"/>
              <a:gd name="connsiteY125" fmla="*/ 1585629 h 6482080"/>
              <a:gd name="connsiteX126" fmla="*/ 7563027 w 11786755"/>
              <a:gd name="connsiteY126" fmla="*/ 1600342 h 6482080"/>
              <a:gd name="connsiteX127" fmla="*/ 7525879 w 11786755"/>
              <a:gd name="connsiteY127" fmla="*/ 1615055 h 6482080"/>
              <a:gd name="connsiteX128" fmla="*/ 7488732 w 11786755"/>
              <a:gd name="connsiteY128" fmla="*/ 1644481 h 6482080"/>
              <a:gd name="connsiteX129" fmla="*/ 7466443 w 11786755"/>
              <a:gd name="connsiteY129" fmla="*/ 1673906 h 6482080"/>
              <a:gd name="connsiteX130" fmla="*/ 7444155 w 11786755"/>
              <a:gd name="connsiteY130" fmla="*/ 1710688 h 6482080"/>
              <a:gd name="connsiteX131" fmla="*/ 7429296 w 11786755"/>
              <a:gd name="connsiteY131" fmla="*/ 1754827 h 6482080"/>
              <a:gd name="connsiteX132" fmla="*/ 7429296 w 11786755"/>
              <a:gd name="connsiteY132" fmla="*/ 1798965 h 6482080"/>
              <a:gd name="connsiteX133" fmla="*/ 7429296 w 11786755"/>
              <a:gd name="connsiteY133" fmla="*/ 3873470 h 6482080"/>
              <a:gd name="connsiteX134" fmla="*/ 7332712 w 11786755"/>
              <a:gd name="connsiteY134" fmla="*/ 3829331 h 6482080"/>
              <a:gd name="connsiteX135" fmla="*/ 7250987 w 11786755"/>
              <a:gd name="connsiteY135" fmla="*/ 3777836 h 6482080"/>
              <a:gd name="connsiteX136" fmla="*/ 7176692 w 11786755"/>
              <a:gd name="connsiteY136" fmla="*/ 3704272 h 6482080"/>
              <a:gd name="connsiteX137" fmla="*/ 7102397 w 11786755"/>
              <a:gd name="connsiteY137" fmla="*/ 3630709 h 6482080"/>
              <a:gd name="connsiteX138" fmla="*/ 7050391 w 11786755"/>
              <a:gd name="connsiteY138" fmla="*/ 3542432 h 6482080"/>
              <a:gd name="connsiteX139" fmla="*/ 7013243 w 11786755"/>
              <a:gd name="connsiteY139" fmla="*/ 3446799 h 6482080"/>
              <a:gd name="connsiteX140" fmla="*/ 6983525 w 11786755"/>
              <a:gd name="connsiteY140" fmla="*/ 3343809 h 6482080"/>
              <a:gd name="connsiteX141" fmla="*/ 6976095 w 11786755"/>
              <a:gd name="connsiteY141" fmla="*/ 3240819 h 6482080"/>
              <a:gd name="connsiteX142" fmla="*/ 6976095 w 11786755"/>
              <a:gd name="connsiteY142" fmla="*/ 1798965 h 6482080"/>
              <a:gd name="connsiteX143" fmla="*/ 6976095 w 11786755"/>
              <a:gd name="connsiteY143" fmla="*/ 1754827 h 6482080"/>
              <a:gd name="connsiteX144" fmla="*/ 6961236 w 11786755"/>
              <a:gd name="connsiteY144" fmla="*/ 1710688 h 6482080"/>
              <a:gd name="connsiteX145" fmla="*/ 6938948 w 11786755"/>
              <a:gd name="connsiteY145" fmla="*/ 1673906 h 6482080"/>
              <a:gd name="connsiteX146" fmla="*/ 6916659 w 11786755"/>
              <a:gd name="connsiteY146" fmla="*/ 1644481 h 6482080"/>
              <a:gd name="connsiteX147" fmla="*/ 6879512 w 11786755"/>
              <a:gd name="connsiteY147" fmla="*/ 1615055 h 6482080"/>
              <a:gd name="connsiteX148" fmla="*/ 6842364 w 11786755"/>
              <a:gd name="connsiteY148" fmla="*/ 1600342 h 6482080"/>
              <a:gd name="connsiteX149" fmla="*/ 6805217 w 11786755"/>
              <a:gd name="connsiteY149" fmla="*/ 1585629 h 6482080"/>
              <a:gd name="connsiteX150" fmla="*/ 6760640 w 11786755"/>
              <a:gd name="connsiteY150" fmla="*/ 1578273 h 6482080"/>
              <a:gd name="connsiteX151" fmla="*/ 6716063 w 11786755"/>
              <a:gd name="connsiteY151" fmla="*/ 1585629 h 6482080"/>
              <a:gd name="connsiteX152" fmla="*/ 6671485 w 11786755"/>
              <a:gd name="connsiteY152" fmla="*/ 1600342 h 6482080"/>
              <a:gd name="connsiteX153" fmla="*/ 6634338 w 11786755"/>
              <a:gd name="connsiteY153" fmla="*/ 1615055 h 6482080"/>
              <a:gd name="connsiteX154" fmla="*/ 6597190 w 11786755"/>
              <a:gd name="connsiteY154" fmla="*/ 1644481 h 6482080"/>
              <a:gd name="connsiteX155" fmla="*/ 6574902 w 11786755"/>
              <a:gd name="connsiteY155" fmla="*/ 1673906 h 6482080"/>
              <a:gd name="connsiteX156" fmla="*/ 6552613 w 11786755"/>
              <a:gd name="connsiteY156" fmla="*/ 1710688 h 6482080"/>
              <a:gd name="connsiteX157" fmla="*/ 6537754 w 11786755"/>
              <a:gd name="connsiteY157" fmla="*/ 1754827 h 6482080"/>
              <a:gd name="connsiteX158" fmla="*/ 6537754 w 11786755"/>
              <a:gd name="connsiteY158" fmla="*/ 1798965 h 6482080"/>
              <a:gd name="connsiteX159" fmla="*/ 6537754 w 11786755"/>
              <a:gd name="connsiteY159" fmla="*/ 3240819 h 6482080"/>
              <a:gd name="connsiteX160" fmla="*/ 6537754 w 11786755"/>
              <a:gd name="connsiteY160" fmla="*/ 3336453 h 6482080"/>
              <a:gd name="connsiteX161" fmla="*/ 6552613 w 11786755"/>
              <a:gd name="connsiteY161" fmla="*/ 3439442 h 6482080"/>
              <a:gd name="connsiteX162" fmla="*/ 6574902 w 11786755"/>
              <a:gd name="connsiteY162" fmla="*/ 3535075 h 6482080"/>
              <a:gd name="connsiteX163" fmla="*/ 6597190 w 11786755"/>
              <a:gd name="connsiteY163" fmla="*/ 3623352 h 6482080"/>
              <a:gd name="connsiteX164" fmla="*/ 6634338 w 11786755"/>
              <a:gd name="connsiteY164" fmla="*/ 3711629 h 6482080"/>
              <a:gd name="connsiteX165" fmla="*/ 6678915 w 11786755"/>
              <a:gd name="connsiteY165" fmla="*/ 3792549 h 6482080"/>
              <a:gd name="connsiteX166" fmla="*/ 6730922 w 11786755"/>
              <a:gd name="connsiteY166" fmla="*/ 3873470 h 6482080"/>
              <a:gd name="connsiteX167" fmla="*/ 6790358 w 11786755"/>
              <a:gd name="connsiteY167" fmla="*/ 3947034 h 6482080"/>
              <a:gd name="connsiteX168" fmla="*/ 6849794 w 11786755"/>
              <a:gd name="connsiteY168" fmla="*/ 4020598 h 6482080"/>
              <a:gd name="connsiteX169" fmla="*/ 6924089 w 11786755"/>
              <a:gd name="connsiteY169" fmla="*/ 4079449 h 6482080"/>
              <a:gd name="connsiteX170" fmla="*/ 6998384 w 11786755"/>
              <a:gd name="connsiteY170" fmla="*/ 4145656 h 6482080"/>
              <a:gd name="connsiteX171" fmla="*/ 7080109 w 11786755"/>
              <a:gd name="connsiteY171" fmla="*/ 4189795 h 6482080"/>
              <a:gd name="connsiteX172" fmla="*/ 7154404 w 11786755"/>
              <a:gd name="connsiteY172" fmla="*/ 4233933 h 6482080"/>
              <a:gd name="connsiteX173" fmla="*/ 7236128 w 11786755"/>
              <a:gd name="connsiteY173" fmla="*/ 4270715 h 6482080"/>
              <a:gd name="connsiteX174" fmla="*/ 7332712 w 11786755"/>
              <a:gd name="connsiteY174" fmla="*/ 4300141 h 6482080"/>
              <a:gd name="connsiteX175" fmla="*/ 7429296 w 11786755"/>
              <a:gd name="connsiteY175" fmla="*/ 4322210 h 6482080"/>
              <a:gd name="connsiteX176" fmla="*/ 7429296 w 11786755"/>
              <a:gd name="connsiteY176" fmla="*/ 6482080 h 6482080"/>
              <a:gd name="connsiteX177" fmla="*/ 0 w 11786755"/>
              <a:gd name="connsiteY177" fmla="*/ 6482080 h 6482080"/>
              <a:gd name="connsiteX178" fmla="*/ 0 w 11786755"/>
              <a:gd name="connsiteY178" fmla="*/ 0 h 648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11786755" h="6482080">
                <a:moveTo>
                  <a:pt x="0" y="0"/>
                </a:moveTo>
                <a:lnTo>
                  <a:pt x="11786755" y="0"/>
                </a:lnTo>
                <a:lnTo>
                  <a:pt x="11786755" y="6482080"/>
                </a:lnTo>
                <a:lnTo>
                  <a:pt x="10522346" y="6482080"/>
                </a:lnTo>
                <a:lnTo>
                  <a:pt x="10522346" y="4211864"/>
                </a:lnTo>
                <a:lnTo>
                  <a:pt x="10604189" y="4197151"/>
                </a:lnTo>
                <a:lnTo>
                  <a:pt x="10686033" y="4160369"/>
                </a:lnTo>
                <a:lnTo>
                  <a:pt x="10760436" y="4123587"/>
                </a:lnTo>
                <a:lnTo>
                  <a:pt x="10827399" y="4086805"/>
                </a:lnTo>
                <a:lnTo>
                  <a:pt x="10901802" y="4042667"/>
                </a:lnTo>
                <a:lnTo>
                  <a:pt x="10968764" y="3991172"/>
                </a:lnTo>
                <a:lnTo>
                  <a:pt x="11028287" y="3924964"/>
                </a:lnTo>
                <a:lnTo>
                  <a:pt x="11080369" y="3866113"/>
                </a:lnTo>
                <a:lnTo>
                  <a:pt x="11132451" y="3799906"/>
                </a:lnTo>
                <a:lnTo>
                  <a:pt x="11177093" y="3733698"/>
                </a:lnTo>
                <a:lnTo>
                  <a:pt x="11206854" y="3660134"/>
                </a:lnTo>
                <a:lnTo>
                  <a:pt x="11244056" y="3579214"/>
                </a:lnTo>
                <a:lnTo>
                  <a:pt x="11273817" y="3498293"/>
                </a:lnTo>
                <a:lnTo>
                  <a:pt x="11288697" y="3417373"/>
                </a:lnTo>
                <a:lnTo>
                  <a:pt x="11303578" y="3329096"/>
                </a:lnTo>
                <a:lnTo>
                  <a:pt x="11303578" y="3240819"/>
                </a:lnTo>
                <a:lnTo>
                  <a:pt x="11303578" y="2578743"/>
                </a:lnTo>
                <a:lnTo>
                  <a:pt x="11303578" y="2468397"/>
                </a:lnTo>
                <a:lnTo>
                  <a:pt x="11281257" y="2372764"/>
                </a:lnTo>
                <a:lnTo>
                  <a:pt x="11258936" y="2284487"/>
                </a:lnTo>
                <a:lnTo>
                  <a:pt x="11229175" y="2196211"/>
                </a:lnTo>
                <a:lnTo>
                  <a:pt x="11184533" y="2107934"/>
                </a:lnTo>
                <a:lnTo>
                  <a:pt x="11132451" y="2027013"/>
                </a:lnTo>
                <a:lnTo>
                  <a:pt x="11072929" y="1946093"/>
                </a:lnTo>
                <a:lnTo>
                  <a:pt x="11013406" y="1872529"/>
                </a:lnTo>
                <a:lnTo>
                  <a:pt x="10939003" y="1813678"/>
                </a:lnTo>
                <a:lnTo>
                  <a:pt x="10857160" y="1747470"/>
                </a:lnTo>
                <a:lnTo>
                  <a:pt x="10775317" y="1703332"/>
                </a:lnTo>
                <a:lnTo>
                  <a:pt x="10686033" y="1659193"/>
                </a:lnTo>
                <a:lnTo>
                  <a:pt x="10596749" y="1622411"/>
                </a:lnTo>
                <a:lnTo>
                  <a:pt x="10500025" y="1607699"/>
                </a:lnTo>
                <a:lnTo>
                  <a:pt x="10395861" y="1585629"/>
                </a:lnTo>
                <a:lnTo>
                  <a:pt x="10299137" y="1578273"/>
                </a:lnTo>
                <a:lnTo>
                  <a:pt x="10194973" y="1585629"/>
                </a:lnTo>
                <a:lnTo>
                  <a:pt x="10090809" y="1607699"/>
                </a:lnTo>
                <a:lnTo>
                  <a:pt x="10001525" y="1622411"/>
                </a:lnTo>
                <a:lnTo>
                  <a:pt x="9912241" y="1659193"/>
                </a:lnTo>
                <a:lnTo>
                  <a:pt x="9815517" y="1703332"/>
                </a:lnTo>
                <a:lnTo>
                  <a:pt x="9741114" y="1747470"/>
                </a:lnTo>
                <a:lnTo>
                  <a:pt x="9659271" y="1813678"/>
                </a:lnTo>
                <a:lnTo>
                  <a:pt x="9584868" y="1872529"/>
                </a:lnTo>
                <a:lnTo>
                  <a:pt x="9517905" y="1946093"/>
                </a:lnTo>
                <a:lnTo>
                  <a:pt x="9465823" y="2027013"/>
                </a:lnTo>
                <a:lnTo>
                  <a:pt x="9413741" y="2107934"/>
                </a:lnTo>
                <a:lnTo>
                  <a:pt x="9369099" y="2196211"/>
                </a:lnTo>
                <a:lnTo>
                  <a:pt x="9331898" y="2284487"/>
                </a:lnTo>
                <a:lnTo>
                  <a:pt x="9309577" y="2372764"/>
                </a:lnTo>
                <a:lnTo>
                  <a:pt x="9294696" y="2468397"/>
                </a:lnTo>
                <a:lnTo>
                  <a:pt x="9287256" y="2578743"/>
                </a:lnTo>
                <a:lnTo>
                  <a:pt x="9287256" y="3240819"/>
                </a:lnTo>
                <a:lnTo>
                  <a:pt x="9294696" y="3329096"/>
                </a:lnTo>
                <a:lnTo>
                  <a:pt x="9302137" y="3417373"/>
                </a:lnTo>
                <a:lnTo>
                  <a:pt x="9324458" y="3498293"/>
                </a:lnTo>
                <a:lnTo>
                  <a:pt x="9346778" y="3579214"/>
                </a:lnTo>
                <a:lnTo>
                  <a:pt x="9383980" y="3660134"/>
                </a:lnTo>
                <a:lnTo>
                  <a:pt x="9421181" y="3733698"/>
                </a:lnTo>
                <a:lnTo>
                  <a:pt x="9465823" y="3799906"/>
                </a:lnTo>
                <a:lnTo>
                  <a:pt x="9510465" y="3866113"/>
                </a:lnTo>
                <a:lnTo>
                  <a:pt x="9562547" y="3924964"/>
                </a:lnTo>
                <a:lnTo>
                  <a:pt x="9629510" y="3991172"/>
                </a:lnTo>
                <a:lnTo>
                  <a:pt x="9689032" y="4042667"/>
                </a:lnTo>
                <a:lnTo>
                  <a:pt x="9763435" y="4086805"/>
                </a:lnTo>
                <a:lnTo>
                  <a:pt x="9837838" y="4123587"/>
                </a:lnTo>
                <a:lnTo>
                  <a:pt x="9912241" y="4160369"/>
                </a:lnTo>
                <a:lnTo>
                  <a:pt x="9994085" y="4197151"/>
                </a:lnTo>
                <a:lnTo>
                  <a:pt x="10068488" y="4211864"/>
                </a:lnTo>
                <a:lnTo>
                  <a:pt x="10068488" y="6482080"/>
                </a:lnTo>
                <a:lnTo>
                  <a:pt x="7867637" y="6482080"/>
                </a:lnTo>
                <a:lnTo>
                  <a:pt x="7867637" y="4322210"/>
                </a:lnTo>
                <a:lnTo>
                  <a:pt x="7971650" y="4300141"/>
                </a:lnTo>
                <a:lnTo>
                  <a:pt x="8060804" y="4270715"/>
                </a:lnTo>
                <a:lnTo>
                  <a:pt x="8149958" y="4233933"/>
                </a:lnTo>
                <a:lnTo>
                  <a:pt x="8231683" y="4189795"/>
                </a:lnTo>
                <a:lnTo>
                  <a:pt x="8305978" y="4145656"/>
                </a:lnTo>
                <a:lnTo>
                  <a:pt x="8387702" y="4079449"/>
                </a:lnTo>
                <a:lnTo>
                  <a:pt x="8447139" y="4020598"/>
                </a:lnTo>
                <a:lnTo>
                  <a:pt x="8514004" y="3947034"/>
                </a:lnTo>
                <a:lnTo>
                  <a:pt x="8566011" y="3873470"/>
                </a:lnTo>
                <a:lnTo>
                  <a:pt x="8618017" y="3792549"/>
                </a:lnTo>
                <a:lnTo>
                  <a:pt x="8662594" y="3711629"/>
                </a:lnTo>
                <a:lnTo>
                  <a:pt x="8699742" y="3623352"/>
                </a:lnTo>
                <a:lnTo>
                  <a:pt x="8729460" y="3535075"/>
                </a:lnTo>
                <a:lnTo>
                  <a:pt x="8751749" y="3439442"/>
                </a:lnTo>
                <a:lnTo>
                  <a:pt x="8766607" y="3336453"/>
                </a:lnTo>
                <a:lnTo>
                  <a:pt x="8774037" y="3240819"/>
                </a:lnTo>
                <a:lnTo>
                  <a:pt x="8774037" y="1798965"/>
                </a:lnTo>
                <a:lnTo>
                  <a:pt x="8766607" y="1754827"/>
                </a:lnTo>
                <a:lnTo>
                  <a:pt x="8751749" y="1710688"/>
                </a:lnTo>
                <a:lnTo>
                  <a:pt x="8729460" y="1673906"/>
                </a:lnTo>
                <a:lnTo>
                  <a:pt x="8699742" y="1644481"/>
                </a:lnTo>
                <a:lnTo>
                  <a:pt x="8670024" y="1615055"/>
                </a:lnTo>
                <a:lnTo>
                  <a:pt x="8625447" y="1600342"/>
                </a:lnTo>
                <a:lnTo>
                  <a:pt x="8588299" y="1585629"/>
                </a:lnTo>
                <a:lnTo>
                  <a:pt x="8543722" y="1578273"/>
                </a:lnTo>
                <a:lnTo>
                  <a:pt x="8499145" y="1585629"/>
                </a:lnTo>
                <a:lnTo>
                  <a:pt x="8454568" y="1600342"/>
                </a:lnTo>
                <a:lnTo>
                  <a:pt x="8417421" y="1615055"/>
                </a:lnTo>
                <a:lnTo>
                  <a:pt x="8387702" y="1644481"/>
                </a:lnTo>
                <a:lnTo>
                  <a:pt x="8357984" y="1673906"/>
                </a:lnTo>
                <a:lnTo>
                  <a:pt x="8343125" y="1710688"/>
                </a:lnTo>
                <a:lnTo>
                  <a:pt x="8320837" y="1754827"/>
                </a:lnTo>
                <a:lnTo>
                  <a:pt x="8320837" y="1798965"/>
                </a:lnTo>
                <a:lnTo>
                  <a:pt x="8320837" y="3240819"/>
                </a:lnTo>
                <a:lnTo>
                  <a:pt x="8313407" y="3343809"/>
                </a:lnTo>
                <a:lnTo>
                  <a:pt x="8283689" y="3446799"/>
                </a:lnTo>
                <a:lnTo>
                  <a:pt x="8246542" y="3542432"/>
                </a:lnTo>
                <a:lnTo>
                  <a:pt x="8194535" y="3630709"/>
                </a:lnTo>
                <a:lnTo>
                  <a:pt x="8135099" y="3704272"/>
                </a:lnTo>
                <a:lnTo>
                  <a:pt x="8053375" y="3777836"/>
                </a:lnTo>
                <a:lnTo>
                  <a:pt x="7971650" y="3829331"/>
                </a:lnTo>
                <a:lnTo>
                  <a:pt x="7867637" y="3873470"/>
                </a:lnTo>
                <a:lnTo>
                  <a:pt x="7867637" y="1798965"/>
                </a:lnTo>
                <a:lnTo>
                  <a:pt x="7867637" y="1754827"/>
                </a:lnTo>
                <a:lnTo>
                  <a:pt x="7852778" y="1710688"/>
                </a:lnTo>
                <a:lnTo>
                  <a:pt x="7837919" y="1673906"/>
                </a:lnTo>
                <a:lnTo>
                  <a:pt x="7808201" y="1644481"/>
                </a:lnTo>
                <a:lnTo>
                  <a:pt x="7771053" y="1615055"/>
                </a:lnTo>
                <a:lnTo>
                  <a:pt x="7733906" y="1600342"/>
                </a:lnTo>
                <a:lnTo>
                  <a:pt x="7696758" y="1585629"/>
                </a:lnTo>
                <a:lnTo>
                  <a:pt x="7652181" y="1578273"/>
                </a:lnTo>
                <a:lnTo>
                  <a:pt x="7607604" y="1585629"/>
                </a:lnTo>
                <a:lnTo>
                  <a:pt x="7563027" y="1600342"/>
                </a:lnTo>
                <a:lnTo>
                  <a:pt x="7525879" y="1615055"/>
                </a:lnTo>
                <a:lnTo>
                  <a:pt x="7488732" y="1644481"/>
                </a:lnTo>
                <a:lnTo>
                  <a:pt x="7466443" y="1673906"/>
                </a:lnTo>
                <a:lnTo>
                  <a:pt x="7444155" y="1710688"/>
                </a:lnTo>
                <a:lnTo>
                  <a:pt x="7429296" y="1754827"/>
                </a:lnTo>
                <a:lnTo>
                  <a:pt x="7429296" y="1798965"/>
                </a:lnTo>
                <a:lnTo>
                  <a:pt x="7429296" y="3873470"/>
                </a:lnTo>
                <a:lnTo>
                  <a:pt x="7332712" y="3829331"/>
                </a:lnTo>
                <a:lnTo>
                  <a:pt x="7250987" y="3777836"/>
                </a:lnTo>
                <a:lnTo>
                  <a:pt x="7176692" y="3704272"/>
                </a:lnTo>
                <a:lnTo>
                  <a:pt x="7102397" y="3630709"/>
                </a:lnTo>
                <a:lnTo>
                  <a:pt x="7050391" y="3542432"/>
                </a:lnTo>
                <a:lnTo>
                  <a:pt x="7013243" y="3446799"/>
                </a:lnTo>
                <a:lnTo>
                  <a:pt x="6983525" y="3343809"/>
                </a:lnTo>
                <a:lnTo>
                  <a:pt x="6976095" y="3240819"/>
                </a:lnTo>
                <a:lnTo>
                  <a:pt x="6976095" y="1798965"/>
                </a:lnTo>
                <a:lnTo>
                  <a:pt x="6976095" y="1754827"/>
                </a:lnTo>
                <a:lnTo>
                  <a:pt x="6961236" y="1710688"/>
                </a:lnTo>
                <a:lnTo>
                  <a:pt x="6938948" y="1673906"/>
                </a:lnTo>
                <a:lnTo>
                  <a:pt x="6916659" y="1644481"/>
                </a:lnTo>
                <a:lnTo>
                  <a:pt x="6879512" y="1615055"/>
                </a:lnTo>
                <a:lnTo>
                  <a:pt x="6842364" y="1600342"/>
                </a:lnTo>
                <a:lnTo>
                  <a:pt x="6805217" y="1585629"/>
                </a:lnTo>
                <a:lnTo>
                  <a:pt x="6760640" y="1578273"/>
                </a:lnTo>
                <a:lnTo>
                  <a:pt x="6716063" y="1585629"/>
                </a:lnTo>
                <a:lnTo>
                  <a:pt x="6671485" y="1600342"/>
                </a:lnTo>
                <a:lnTo>
                  <a:pt x="6634338" y="1615055"/>
                </a:lnTo>
                <a:lnTo>
                  <a:pt x="6597190" y="1644481"/>
                </a:lnTo>
                <a:lnTo>
                  <a:pt x="6574902" y="1673906"/>
                </a:lnTo>
                <a:lnTo>
                  <a:pt x="6552613" y="1710688"/>
                </a:lnTo>
                <a:lnTo>
                  <a:pt x="6537754" y="1754827"/>
                </a:lnTo>
                <a:lnTo>
                  <a:pt x="6537754" y="1798965"/>
                </a:lnTo>
                <a:lnTo>
                  <a:pt x="6537754" y="3240819"/>
                </a:lnTo>
                <a:lnTo>
                  <a:pt x="6537754" y="3336453"/>
                </a:lnTo>
                <a:lnTo>
                  <a:pt x="6552613" y="3439442"/>
                </a:lnTo>
                <a:lnTo>
                  <a:pt x="6574902" y="3535075"/>
                </a:lnTo>
                <a:lnTo>
                  <a:pt x="6597190" y="3623352"/>
                </a:lnTo>
                <a:lnTo>
                  <a:pt x="6634338" y="3711629"/>
                </a:lnTo>
                <a:lnTo>
                  <a:pt x="6678915" y="3792549"/>
                </a:lnTo>
                <a:lnTo>
                  <a:pt x="6730922" y="3873470"/>
                </a:lnTo>
                <a:lnTo>
                  <a:pt x="6790358" y="3947034"/>
                </a:lnTo>
                <a:lnTo>
                  <a:pt x="6849794" y="4020598"/>
                </a:lnTo>
                <a:lnTo>
                  <a:pt x="6924089" y="4079449"/>
                </a:lnTo>
                <a:lnTo>
                  <a:pt x="6998384" y="4145656"/>
                </a:lnTo>
                <a:lnTo>
                  <a:pt x="7080109" y="4189795"/>
                </a:lnTo>
                <a:lnTo>
                  <a:pt x="7154404" y="4233933"/>
                </a:lnTo>
                <a:lnTo>
                  <a:pt x="7236128" y="4270715"/>
                </a:lnTo>
                <a:lnTo>
                  <a:pt x="7332712" y="4300141"/>
                </a:lnTo>
                <a:lnTo>
                  <a:pt x="7429296" y="4322210"/>
                </a:lnTo>
                <a:lnTo>
                  <a:pt x="7429296" y="6482080"/>
                </a:lnTo>
                <a:lnTo>
                  <a:pt x="0" y="6482080"/>
                </a:lnTo>
                <a:lnTo>
                  <a:pt x="0" y="0"/>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noAutofit/>
          </a:bodyPr>
          <a:lstStyle/>
          <a:p>
            <a:endParaRPr lang="en-US" dirty="0"/>
          </a:p>
        </p:txBody>
      </p:sp>
      <p:sp>
        <p:nvSpPr>
          <p:cNvPr id="4" name="TextBox 3">
            <a:extLst>
              <a:ext uri="{FF2B5EF4-FFF2-40B4-BE49-F238E27FC236}">
                <a16:creationId xmlns:a16="http://schemas.microsoft.com/office/drawing/2014/main" id="{50378363-6B2D-4E12-BAB8-C93AA5F31875}"/>
              </a:ext>
            </a:extLst>
          </p:cNvPr>
          <p:cNvSpPr txBox="1"/>
          <p:nvPr/>
        </p:nvSpPr>
        <p:spPr>
          <a:xfrm>
            <a:off x="980662" y="2816875"/>
            <a:ext cx="5215634" cy="2769989"/>
          </a:xfrm>
          <a:prstGeom prst="rect">
            <a:avLst/>
          </a:prstGeom>
          <a:noFill/>
        </p:spPr>
        <p:txBody>
          <a:bodyPr wrap="square" lIns="0" tIns="0" rIns="0" bIns="0" rtlCol="0" anchor="t">
            <a:spAutoFit/>
          </a:bodyPr>
          <a:lstStyle/>
          <a:p>
            <a:pPr algn="just">
              <a:spcAft>
                <a:spcPts val="600"/>
              </a:spcAft>
            </a:pPr>
            <a:r>
              <a:rPr lang="en-US" dirty="0"/>
              <a:t>Hot Slice's Pizzeria, a local pizza shop, aims to improve its sales performance and operational efficiency by analyzing its order data. The company struggles with understanding customer preferences, managing inventory needs, and identifying peak sales periods. By analyzing the sales data, Hot Slice's Pizzeria seeks to uncover trends in popular pizza types, order volume, and customer behavior. The goal is to optimize the menu, reduce waste, and enhance customer satisfaction while maximizing revenue through data-driven insights.</a:t>
            </a:r>
          </a:p>
        </p:txBody>
      </p:sp>
      <p:sp>
        <p:nvSpPr>
          <p:cNvPr id="6" name="TextBox 5">
            <a:extLst>
              <a:ext uri="{FF2B5EF4-FFF2-40B4-BE49-F238E27FC236}">
                <a16:creationId xmlns:a16="http://schemas.microsoft.com/office/drawing/2014/main" id="{6A825F70-6AC9-4722-B14E-E03098FDC30F}"/>
              </a:ext>
            </a:extLst>
          </p:cNvPr>
          <p:cNvSpPr txBox="1"/>
          <p:nvPr/>
        </p:nvSpPr>
        <p:spPr>
          <a:xfrm>
            <a:off x="980662" y="1096346"/>
            <a:ext cx="5215635" cy="1354217"/>
          </a:xfrm>
          <a:prstGeom prst="rect">
            <a:avLst/>
          </a:prstGeom>
          <a:noFill/>
        </p:spPr>
        <p:txBody>
          <a:bodyPr wrap="square" lIns="0" tIns="0" rIns="0" bIns="0" rtlCol="0">
            <a:spAutoFit/>
          </a:bodyPr>
          <a:lstStyle/>
          <a:p>
            <a:pPr>
              <a:spcAft>
                <a:spcPts val="600"/>
              </a:spcAft>
            </a:pPr>
            <a:r>
              <a:rPr lang="en-US" sz="4400" b="1" dirty="0">
                <a:solidFill>
                  <a:srgbClr val="FF0000"/>
                </a:solidFill>
                <a:latin typeface="+mj-lt"/>
              </a:rPr>
              <a:t>PROBLEM STATEMENT</a:t>
            </a:r>
            <a:endParaRPr lang="en-US" sz="4400" dirty="0">
              <a:solidFill>
                <a:srgbClr val="FF0000"/>
              </a:solidFill>
              <a:latin typeface="+mj-lt"/>
            </a:endParaRPr>
          </a:p>
        </p:txBody>
      </p:sp>
    </p:spTree>
    <p:extLst>
      <p:ext uri="{BB962C8B-B14F-4D97-AF65-F5344CB8AC3E}">
        <p14:creationId xmlns:p14="http://schemas.microsoft.com/office/powerpoint/2010/main" val="1886303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000" b="-3000"/>
          </a:stretch>
        </a:blipFill>
        <a:effectLst/>
      </p:bgPr>
    </p:bg>
    <p:spTree>
      <p:nvGrpSpPr>
        <p:cNvPr id="1" name=""/>
        <p:cNvGrpSpPr/>
        <p:nvPr/>
      </p:nvGrpSpPr>
      <p:grpSpPr>
        <a:xfrm>
          <a:off x="0" y="0"/>
          <a:ext cx="0" cy="0"/>
          <a:chOff x="0" y="0"/>
          <a:chExt cx="0" cy="0"/>
        </a:xfrm>
      </p:grpSpPr>
      <p:sp>
        <p:nvSpPr>
          <p:cNvPr id="53" name="Freeform: Shape 52">
            <a:extLst>
              <a:ext uri="{FF2B5EF4-FFF2-40B4-BE49-F238E27FC236}">
                <a16:creationId xmlns:a16="http://schemas.microsoft.com/office/drawing/2014/main" id="{4A0BBE41-DCE4-454B-B60A-7D6A76B15B8D}"/>
              </a:ext>
            </a:extLst>
          </p:cNvPr>
          <p:cNvSpPr>
            <a:spLocks/>
          </p:cNvSpPr>
          <p:nvPr/>
        </p:nvSpPr>
        <p:spPr bwMode="auto">
          <a:xfrm>
            <a:off x="202622" y="187960"/>
            <a:ext cx="11786755" cy="6482080"/>
          </a:xfrm>
          <a:custGeom>
            <a:avLst/>
            <a:gdLst>
              <a:gd name="connsiteX0" fmla="*/ 0 w 11786755"/>
              <a:gd name="connsiteY0" fmla="*/ 0 h 6482080"/>
              <a:gd name="connsiteX1" fmla="*/ 11786755 w 11786755"/>
              <a:gd name="connsiteY1" fmla="*/ 0 h 6482080"/>
              <a:gd name="connsiteX2" fmla="*/ 11786755 w 11786755"/>
              <a:gd name="connsiteY2" fmla="*/ 6482080 h 6482080"/>
              <a:gd name="connsiteX3" fmla="*/ 10522346 w 11786755"/>
              <a:gd name="connsiteY3" fmla="*/ 6482080 h 6482080"/>
              <a:gd name="connsiteX4" fmla="*/ 10522346 w 11786755"/>
              <a:gd name="connsiteY4" fmla="*/ 4211864 h 6482080"/>
              <a:gd name="connsiteX5" fmla="*/ 10604189 w 11786755"/>
              <a:gd name="connsiteY5" fmla="*/ 4197151 h 6482080"/>
              <a:gd name="connsiteX6" fmla="*/ 10686033 w 11786755"/>
              <a:gd name="connsiteY6" fmla="*/ 4160369 h 6482080"/>
              <a:gd name="connsiteX7" fmla="*/ 10760436 w 11786755"/>
              <a:gd name="connsiteY7" fmla="*/ 4123587 h 6482080"/>
              <a:gd name="connsiteX8" fmla="*/ 10827399 w 11786755"/>
              <a:gd name="connsiteY8" fmla="*/ 4086805 h 6482080"/>
              <a:gd name="connsiteX9" fmla="*/ 10901802 w 11786755"/>
              <a:gd name="connsiteY9" fmla="*/ 4042667 h 6482080"/>
              <a:gd name="connsiteX10" fmla="*/ 10968764 w 11786755"/>
              <a:gd name="connsiteY10" fmla="*/ 3991172 h 6482080"/>
              <a:gd name="connsiteX11" fmla="*/ 11028287 w 11786755"/>
              <a:gd name="connsiteY11" fmla="*/ 3924964 h 6482080"/>
              <a:gd name="connsiteX12" fmla="*/ 11080369 w 11786755"/>
              <a:gd name="connsiteY12" fmla="*/ 3866113 h 6482080"/>
              <a:gd name="connsiteX13" fmla="*/ 11132451 w 11786755"/>
              <a:gd name="connsiteY13" fmla="*/ 3799906 h 6482080"/>
              <a:gd name="connsiteX14" fmla="*/ 11177093 w 11786755"/>
              <a:gd name="connsiteY14" fmla="*/ 3733698 h 6482080"/>
              <a:gd name="connsiteX15" fmla="*/ 11206854 w 11786755"/>
              <a:gd name="connsiteY15" fmla="*/ 3660134 h 6482080"/>
              <a:gd name="connsiteX16" fmla="*/ 11244056 w 11786755"/>
              <a:gd name="connsiteY16" fmla="*/ 3579214 h 6482080"/>
              <a:gd name="connsiteX17" fmla="*/ 11273817 w 11786755"/>
              <a:gd name="connsiteY17" fmla="*/ 3498293 h 6482080"/>
              <a:gd name="connsiteX18" fmla="*/ 11288697 w 11786755"/>
              <a:gd name="connsiteY18" fmla="*/ 3417373 h 6482080"/>
              <a:gd name="connsiteX19" fmla="*/ 11303578 w 11786755"/>
              <a:gd name="connsiteY19" fmla="*/ 3329096 h 6482080"/>
              <a:gd name="connsiteX20" fmla="*/ 11303578 w 11786755"/>
              <a:gd name="connsiteY20" fmla="*/ 3240819 h 6482080"/>
              <a:gd name="connsiteX21" fmla="*/ 11303578 w 11786755"/>
              <a:gd name="connsiteY21" fmla="*/ 2578743 h 6482080"/>
              <a:gd name="connsiteX22" fmla="*/ 11303578 w 11786755"/>
              <a:gd name="connsiteY22" fmla="*/ 2468397 h 6482080"/>
              <a:gd name="connsiteX23" fmla="*/ 11281257 w 11786755"/>
              <a:gd name="connsiteY23" fmla="*/ 2372764 h 6482080"/>
              <a:gd name="connsiteX24" fmla="*/ 11258936 w 11786755"/>
              <a:gd name="connsiteY24" fmla="*/ 2284487 h 6482080"/>
              <a:gd name="connsiteX25" fmla="*/ 11229175 w 11786755"/>
              <a:gd name="connsiteY25" fmla="*/ 2196211 h 6482080"/>
              <a:gd name="connsiteX26" fmla="*/ 11184533 w 11786755"/>
              <a:gd name="connsiteY26" fmla="*/ 2107934 h 6482080"/>
              <a:gd name="connsiteX27" fmla="*/ 11132451 w 11786755"/>
              <a:gd name="connsiteY27" fmla="*/ 2027013 h 6482080"/>
              <a:gd name="connsiteX28" fmla="*/ 11072929 w 11786755"/>
              <a:gd name="connsiteY28" fmla="*/ 1946093 h 6482080"/>
              <a:gd name="connsiteX29" fmla="*/ 11013406 w 11786755"/>
              <a:gd name="connsiteY29" fmla="*/ 1872529 h 6482080"/>
              <a:gd name="connsiteX30" fmla="*/ 10939003 w 11786755"/>
              <a:gd name="connsiteY30" fmla="*/ 1813678 h 6482080"/>
              <a:gd name="connsiteX31" fmla="*/ 10857160 w 11786755"/>
              <a:gd name="connsiteY31" fmla="*/ 1747470 h 6482080"/>
              <a:gd name="connsiteX32" fmla="*/ 10775317 w 11786755"/>
              <a:gd name="connsiteY32" fmla="*/ 1703332 h 6482080"/>
              <a:gd name="connsiteX33" fmla="*/ 10686033 w 11786755"/>
              <a:gd name="connsiteY33" fmla="*/ 1659193 h 6482080"/>
              <a:gd name="connsiteX34" fmla="*/ 10596749 w 11786755"/>
              <a:gd name="connsiteY34" fmla="*/ 1622411 h 6482080"/>
              <a:gd name="connsiteX35" fmla="*/ 10500025 w 11786755"/>
              <a:gd name="connsiteY35" fmla="*/ 1607699 h 6482080"/>
              <a:gd name="connsiteX36" fmla="*/ 10395861 w 11786755"/>
              <a:gd name="connsiteY36" fmla="*/ 1585629 h 6482080"/>
              <a:gd name="connsiteX37" fmla="*/ 10299137 w 11786755"/>
              <a:gd name="connsiteY37" fmla="*/ 1578273 h 6482080"/>
              <a:gd name="connsiteX38" fmla="*/ 10194973 w 11786755"/>
              <a:gd name="connsiteY38" fmla="*/ 1585629 h 6482080"/>
              <a:gd name="connsiteX39" fmla="*/ 10090809 w 11786755"/>
              <a:gd name="connsiteY39" fmla="*/ 1607699 h 6482080"/>
              <a:gd name="connsiteX40" fmla="*/ 10001525 w 11786755"/>
              <a:gd name="connsiteY40" fmla="*/ 1622411 h 6482080"/>
              <a:gd name="connsiteX41" fmla="*/ 9912241 w 11786755"/>
              <a:gd name="connsiteY41" fmla="*/ 1659193 h 6482080"/>
              <a:gd name="connsiteX42" fmla="*/ 9815517 w 11786755"/>
              <a:gd name="connsiteY42" fmla="*/ 1703332 h 6482080"/>
              <a:gd name="connsiteX43" fmla="*/ 9741114 w 11786755"/>
              <a:gd name="connsiteY43" fmla="*/ 1747470 h 6482080"/>
              <a:gd name="connsiteX44" fmla="*/ 9659271 w 11786755"/>
              <a:gd name="connsiteY44" fmla="*/ 1813678 h 6482080"/>
              <a:gd name="connsiteX45" fmla="*/ 9584868 w 11786755"/>
              <a:gd name="connsiteY45" fmla="*/ 1872529 h 6482080"/>
              <a:gd name="connsiteX46" fmla="*/ 9517905 w 11786755"/>
              <a:gd name="connsiteY46" fmla="*/ 1946093 h 6482080"/>
              <a:gd name="connsiteX47" fmla="*/ 9465823 w 11786755"/>
              <a:gd name="connsiteY47" fmla="*/ 2027013 h 6482080"/>
              <a:gd name="connsiteX48" fmla="*/ 9413741 w 11786755"/>
              <a:gd name="connsiteY48" fmla="*/ 2107934 h 6482080"/>
              <a:gd name="connsiteX49" fmla="*/ 9369099 w 11786755"/>
              <a:gd name="connsiteY49" fmla="*/ 2196211 h 6482080"/>
              <a:gd name="connsiteX50" fmla="*/ 9331898 w 11786755"/>
              <a:gd name="connsiteY50" fmla="*/ 2284487 h 6482080"/>
              <a:gd name="connsiteX51" fmla="*/ 9309577 w 11786755"/>
              <a:gd name="connsiteY51" fmla="*/ 2372764 h 6482080"/>
              <a:gd name="connsiteX52" fmla="*/ 9294696 w 11786755"/>
              <a:gd name="connsiteY52" fmla="*/ 2468397 h 6482080"/>
              <a:gd name="connsiteX53" fmla="*/ 9287256 w 11786755"/>
              <a:gd name="connsiteY53" fmla="*/ 2578743 h 6482080"/>
              <a:gd name="connsiteX54" fmla="*/ 9287256 w 11786755"/>
              <a:gd name="connsiteY54" fmla="*/ 3240819 h 6482080"/>
              <a:gd name="connsiteX55" fmla="*/ 9294696 w 11786755"/>
              <a:gd name="connsiteY55" fmla="*/ 3329096 h 6482080"/>
              <a:gd name="connsiteX56" fmla="*/ 9302137 w 11786755"/>
              <a:gd name="connsiteY56" fmla="*/ 3417373 h 6482080"/>
              <a:gd name="connsiteX57" fmla="*/ 9324458 w 11786755"/>
              <a:gd name="connsiteY57" fmla="*/ 3498293 h 6482080"/>
              <a:gd name="connsiteX58" fmla="*/ 9346778 w 11786755"/>
              <a:gd name="connsiteY58" fmla="*/ 3579214 h 6482080"/>
              <a:gd name="connsiteX59" fmla="*/ 9383980 w 11786755"/>
              <a:gd name="connsiteY59" fmla="*/ 3660134 h 6482080"/>
              <a:gd name="connsiteX60" fmla="*/ 9421181 w 11786755"/>
              <a:gd name="connsiteY60" fmla="*/ 3733698 h 6482080"/>
              <a:gd name="connsiteX61" fmla="*/ 9465823 w 11786755"/>
              <a:gd name="connsiteY61" fmla="*/ 3799906 h 6482080"/>
              <a:gd name="connsiteX62" fmla="*/ 9510465 w 11786755"/>
              <a:gd name="connsiteY62" fmla="*/ 3866113 h 6482080"/>
              <a:gd name="connsiteX63" fmla="*/ 9562547 w 11786755"/>
              <a:gd name="connsiteY63" fmla="*/ 3924964 h 6482080"/>
              <a:gd name="connsiteX64" fmla="*/ 9629510 w 11786755"/>
              <a:gd name="connsiteY64" fmla="*/ 3991172 h 6482080"/>
              <a:gd name="connsiteX65" fmla="*/ 9689032 w 11786755"/>
              <a:gd name="connsiteY65" fmla="*/ 4042667 h 6482080"/>
              <a:gd name="connsiteX66" fmla="*/ 9763435 w 11786755"/>
              <a:gd name="connsiteY66" fmla="*/ 4086805 h 6482080"/>
              <a:gd name="connsiteX67" fmla="*/ 9837838 w 11786755"/>
              <a:gd name="connsiteY67" fmla="*/ 4123587 h 6482080"/>
              <a:gd name="connsiteX68" fmla="*/ 9912241 w 11786755"/>
              <a:gd name="connsiteY68" fmla="*/ 4160369 h 6482080"/>
              <a:gd name="connsiteX69" fmla="*/ 9994085 w 11786755"/>
              <a:gd name="connsiteY69" fmla="*/ 4197151 h 6482080"/>
              <a:gd name="connsiteX70" fmla="*/ 10068488 w 11786755"/>
              <a:gd name="connsiteY70" fmla="*/ 4211864 h 6482080"/>
              <a:gd name="connsiteX71" fmla="*/ 10068488 w 11786755"/>
              <a:gd name="connsiteY71" fmla="*/ 6482080 h 6482080"/>
              <a:gd name="connsiteX72" fmla="*/ 7867637 w 11786755"/>
              <a:gd name="connsiteY72" fmla="*/ 6482080 h 6482080"/>
              <a:gd name="connsiteX73" fmla="*/ 7867637 w 11786755"/>
              <a:gd name="connsiteY73" fmla="*/ 4322210 h 6482080"/>
              <a:gd name="connsiteX74" fmla="*/ 7971650 w 11786755"/>
              <a:gd name="connsiteY74" fmla="*/ 4300141 h 6482080"/>
              <a:gd name="connsiteX75" fmla="*/ 8060804 w 11786755"/>
              <a:gd name="connsiteY75" fmla="*/ 4270715 h 6482080"/>
              <a:gd name="connsiteX76" fmla="*/ 8149958 w 11786755"/>
              <a:gd name="connsiteY76" fmla="*/ 4233933 h 6482080"/>
              <a:gd name="connsiteX77" fmla="*/ 8231683 w 11786755"/>
              <a:gd name="connsiteY77" fmla="*/ 4189795 h 6482080"/>
              <a:gd name="connsiteX78" fmla="*/ 8305978 w 11786755"/>
              <a:gd name="connsiteY78" fmla="*/ 4145656 h 6482080"/>
              <a:gd name="connsiteX79" fmla="*/ 8387702 w 11786755"/>
              <a:gd name="connsiteY79" fmla="*/ 4079449 h 6482080"/>
              <a:gd name="connsiteX80" fmla="*/ 8447139 w 11786755"/>
              <a:gd name="connsiteY80" fmla="*/ 4020598 h 6482080"/>
              <a:gd name="connsiteX81" fmla="*/ 8514004 w 11786755"/>
              <a:gd name="connsiteY81" fmla="*/ 3947034 h 6482080"/>
              <a:gd name="connsiteX82" fmla="*/ 8566011 w 11786755"/>
              <a:gd name="connsiteY82" fmla="*/ 3873470 h 6482080"/>
              <a:gd name="connsiteX83" fmla="*/ 8618017 w 11786755"/>
              <a:gd name="connsiteY83" fmla="*/ 3792549 h 6482080"/>
              <a:gd name="connsiteX84" fmla="*/ 8662594 w 11786755"/>
              <a:gd name="connsiteY84" fmla="*/ 3711629 h 6482080"/>
              <a:gd name="connsiteX85" fmla="*/ 8699742 w 11786755"/>
              <a:gd name="connsiteY85" fmla="*/ 3623352 h 6482080"/>
              <a:gd name="connsiteX86" fmla="*/ 8729460 w 11786755"/>
              <a:gd name="connsiteY86" fmla="*/ 3535075 h 6482080"/>
              <a:gd name="connsiteX87" fmla="*/ 8751749 w 11786755"/>
              <a:gd name="connsiteY87" fmla="*/ 3439442 h 6482080"/>
              <a:gd name="connsiteX88" fmla="*/ 8766607 w 11786755"/>
              <a:gd name="connsiteY88" fmla="*/ 3336453 h 6482080"/>
              <a:gd name="connsiteX89" fmla="*/ 8774037 w 11786755"/>
              <a:gd name="connsiteY89" fmla="*/ 3240819 h 6482080"/>
              <a:gd name="connsiteX90" fmla="*/ 8774037 w 11786755"/>
              <a:gd name="connsiteY90" fmla="*/ 1798965 h 6482080"/>
              <a:gd name="connsiteX91" fmla="*/ 8766607 w 11786755"/>
              <a:gd name="connsiteY91" fmla="*/ 1754827 h 6482080"/>
              <a:gd name="connsiteX92" fmla="*/ 8751749 w 11786755"/>
              <a:gd name="connsiteY92" fmla="*/ 1710688 h 6482080"/>
              <a:gd name="connsiteX93" fmla="*/ 8729460 w 11786755"/>
              <a:gd name="connsiteY93" fmla="*/ 1673906 h 6482080"/>
              <a:gd name="connsiteX94" fmla="*/ 8699742 w 11786755"/>
              <a:gd name="connsiteY94" fmla="*/ 1644481 h 6482080"/>
              <a:gd name="connsiteX95" fmla="*/ 8670024 w 11786755"/>
              <a:gd name="connsiteY95" fmla="*/ 1615055 h 6482080"/>
              <a:gd name="connsiteX96" fmla="*/ 8625447 w 11786755"/>
              <a:gd name="connsiteY96" fmla="*/ 1600342 h 6482080"/>
              <a:gd name="connsiteX97" fmla="*/ 8588299 w 11786755"/>
              <a:gd name="connsiteY97" fmla="*/ 1585629 h 6482080"/>
              <a:gd name="connsiteX98" fmla="*/ 8543722 w 11786755"/>
              <a:gd name="connsiteY98" fmla="*/ 1578273 h 6482080"/>
              <a:gd name="connsiteX99" fmla="*/ 8499145 w 11786755"/>
              <a:gd name="connsiteY99" fmla="*/ 1585629 h 6482080"/>
              <a:gd name="connsiteX100" fmla="*/ 8454568 w 11786755"/>
              <a:gd name="connsiteY100" fmla="*/ 1600342 h 6482080"/>
              <a:gd name="connsiteX101" fmla="*/ 8417421 w 11786755"/>
              <a:gd name="connsiteY101" fmla="*/ 1615055 h 6482080"/>
              <a:gd name="connsiteX102" fmla="*/ 8387702 w 11786755"/>
              <a:gd name="connsiteY102" fmla="*/ 1644481 h 6482080"/>
              <a:gd name="connsiteX103" fmla="*/ 8357984 w 11786755"/>
              <a:gd name="connsiteY103" fmla="*/ 1673906 h 6482080"/>
              <a:gd name="connsiteX104" fmla="*/ 8343125 w 11786755"/>
              <a:gd name="connsiteY104" fmla="*/ 1710688 h 6482080"/>
              <a:gd name="connsiteX105" fmla="*/ 8320837 w 11786755"/>
              <a:gd name="connsiteY105" fmla="*/ 1754827 h 6482080"/>
              <a:gd name="connsiteX106" fmla="*/ 8320837 w 11786755"/>
              <a:gd name="connsiteY106" fmla="*/ 1798965 h 6482080"/>
              <a:gd name="connsiteX107" fmla="*/ 8320837 w 11786755"/>
              <a:gd name="connsiteY107" fmla="*/ 3240819 h 6482080"/>
              <a:gd name="connsiteX108" fmla="*/ 8313407 w 11786755"/>
              <a:gd name="connsiteY108" fmla="*/ 3343809 h 6482080"/>
              <a:gd name="connsiteX109" fmla="*/ 8283689 w 11786755"/>
              <a:gd name="connsiteY109" fmla="*/ 3446799 h 6482080"/>
              <a:gd name="connsiteX110" fmla="*/ 8246542 w 11786755"/>
              <a:gd name="connsiteY110" fmla="*/ 3542432 h 6482080"/>
              <a:gd name="connsiteX111" fmla="*/ 8194535 w 11786755"/>
              <a:gd name="connsiteY111" fmla="*/ 3630709 h 6482080"/>
              <a:gd name="connsiteX112" fmla="*/ 8135099 w 11786755"/>
              <a:gd name="connsiteY112" fmla="*/ 3704272 h 6482080"/>
              <a:gd name="connsiteX113" fmla="*/ 8053375 w 11786755"/>
              <a:gd name="connsiteY113" fmla="*/ 3777836 h 6482080"/>
              <a:gd name="connsiteX114" fmla="*/ 7971650 w 11786755"/>
              <a:gd name="connsiteY114" fmla="*/ 3829331 h 6482080"/>
              <a:gd name="connsiteX115" fmla="*/ 7867637 w 11786755"/>
              <a:gd name="connsiteY115" fmla="*/ 3873470 h 6482080"/>
              <a:gd name="connsiteX116" fmla="*/ 7867637 w 11786755"/>
              <a:gd name="connsiteY116" fmla="*/ 1798965 h 6482080"/>
              <a:gd name="connsiteX117" fmla="*/ 7867637 w 11786755"/>
              <a:gd name="connsiteY117" fmla="*/ 1754827 h 6482080"/>
              <a:gd name="connsiteX118" fmla="*/ 7852778 w 11786755"/>
              <a:gd name="connsiteY118" fmla="*/ 1710688 h 6482080"/>
              <a:gd name="connsiteX119" fmla="*/ 7837919 w 11786755"/>
              <a:gd name="connsiteY119" fmla="*/ 1673906 h 6482080"/>
              <a:gd name="connsiteX120" fmla="*/ 7808201 w 11786755"/>
              <a:gd name="connsiteY120" fmla="*/ 1644481 h 6482080"/>
              <a:gd name="connsiteX121" fmla="*/ 7771053 w 11786755"/>
              <a:gd name="connsiteY121" fmla="*/ 1615055 h 6482080"/>
              <a:gd name="connsiteX122" fmla="*/ 7733906 w 11786755"/>
              <a:gd name="connsiteY122" fmla="*/ 1600342 h 6482080"/>
              <a:gd name="connsiteX123" fmla="*/ 7696758 w 11786755"/>
              <a:gd name="connsiteY123" fmla="*/ 1585629 h 6482080"/>
              <a:gd name="connsiteX124" fmla="*/ 7652181 w 11786755"/>
              <a:gd name="connsiteY124" fmla="*/ 1578273 h 6482080"/>
              <a:gd name="connsiteX125" fmla="*/ 7607604 w 11786755"/>
              <a:gd name="connsiteY125" fmla="*/ 1585629 h 6482080"/>
              <a:gd name="connsiteX126" fmla="*/ 7563027 w 11786755"/>
              <a:gd name="connsiteY126" fmla="*/ 1600342 h 6482080"/>
              <a:gd name="connsiteX127" fmla="*/ 7525879 w 11786755"/>
              <a:gd name="connsiteY127" fmla="*/ 1615055 h 6482080"/>
              <a:gd name="connsiteX128" fmla="*/ 7488732 w 11786755"/>
              <a:gd name="connsiteY128" fmla="*/ 1644481 h 6482080"/>
              <a:gd name="connsiteX129" fmla="*/ 7466443 w 11786755"/>
              <a:gd name="connsiteY129" fmla="*/ 1673906 h 6482080"/>
              <a:gd name="connsiteX130" fmla="*/ 7444155 w 11786755"/>
              <a:gd name="connsiteY130" fmla="*/ 1710688 h 6482080"/>
              <a:gd name="connsiteX131" fmla="*/ 7429296 w 11786755"/>
              <a:gd name="connsiteY131" fmla="*/ 1754827 h 6482080"/>
              <a:gd name="connsiteX132" fmla="*/ 7429296 w 11786755"/>
              <a:gd name="connsiteY132" fmla="*/ 1798965 h 6482080"/>
              <a:gd name="connsiteX133" fmla="*/ 7429296 w 11786755"/>
              <a:gd name="connsiteY133" fmla="*/ 3873470 h 6482080"/>
              <a:gd name="connsiteX134" fmla="*/ 7332712 w 11786755"/>
              <a:gd name="connsiteY134" fmla="*/ 3829331 h 6482080"/>
              <a:gd name="connsiteX135" fmla="*/ 7250987 w 11786755"/>
              <a:gd name="connsiteY135" fmla="*/ 3777836 h 6482080"/>
              <a:gd name="connsiteX136" fmla="*/ 7176692 w 11786755"/>
              <a:gd name="connsiteY136" fmla="*/ 3704272 h 6482080"/>
              <a:gd name="connsiteX137" fmla="*/ 7102397 w 11786755"/>
              <a:gd name="connsiteY137" fmla="*/ 3630709 h 6482080"/>
              <a:gd name="connsiteX138" fmla="*/ 7050391 w 11786755"/>
              <a:gd name="connsiteY138" fmla="*/ 3542432 h 6482080"/>
              <a:gd name="connsiteX139" fmla="*/ 7013243 w 11786755"/>
              <a:gd name="connsiteY139" fmla="*/ 3446799 h 6482080"/>
              <a:gd name="connsiteX140" fmla="*/ 6983525 w 11786755"/>
              <a:gd name="connsiteY140" fmla="*/ 3343809 h 6482080"/>
              <a:gd name="connsiteX141" fmla="*/ 6976095 w 11786755"/>
              <a:gd name="connsiteY141" fmla="*/ 3240819 h 6482080"/>
              <a:gd name="connsiteX142" fmla="*/ 6976095 w 11786755"/>
              <a:gd name="connsiteY142" fmla="*/ 1798965 h 6482080"/>
              <a:gd name="connsiteX143" fmla="*/ 6976095 w 11786755"/>
              <a:gd name="connsiteY143" fmla="*/ 1754827 h 6482080"/>
              <a:gd name="connsiteX144" fmla="*/ 6961236 w 11786755"/>
              <a:gd name="connsiteY144" fmla="*/ 1710688 h 6482080"/>
              <a:gd name="connsiteX145" fmla="*/ 6938948 w 11786755"/>
              <a:gd name="connsiteY145" fmla="*/ 1673906 h 6482080"/>
              <a:gd name="connsiteX146" fmla="*/ 6916659 w 11786755"/>
              <a:gd name="connsiteY146" fmla="*/ 1644481 h 6482080"/>
              <a:gd name="connsiteX147" fmla="*/ 6879512 w 11786755"/>
              <a:gd name="connsiteY147" fmla="*/ 1615055 h 6482080"/>
              <a:gd name="connsiteX148" fmla="*/ 6842364 w 11786755"/>
              <a:gd name="connsiteY148" fmla="*/ 1600342 h 6482080"/>
              <a:gd name="connsiteX149" fmla="*/ 6805217 w 11786755"/>
              <a:gd name="connsiteY149" fmla="*/ 1585629 h 6482080"/>
              <a:gd name="connsiteX150" fmla="*/ 6760640 w 11786755"/>
              <a:gd name="connsiteY150" fmla="*/ 1578273 h 6482080"/>
              <a:gd name="connsiteX151" fmla="*/ 6716063 w 11786755"/>
              <a:gd name="connsiteY151" fmla="*/ 1585629 h 6482080"/>
              <a:gd name="connsiteX152" fmla="*/ 6671485 w 11786755"/>
              <a:gd name="connsiteY152" fmla="*/ 1600342 h 6482080"/>
              <a:gd name="connsiteX153" fmla="*/ 6634338 w 11786755"/>
              <a:gd name="connsiteY153" fmla="*/ 1615055 h 6482080"/>
              <a:gd name="connsiteX154" fmla="*/ 6597190 w 11786755"/>
              <a:gd name="connsiteY154" fmla="*/ 1644481 h 6482080"/>
              <a:gd name="connsiteX155" fmla="*/ 6574902 w 11786755"/>
              <a:gd name="connsiteY155" fmla="*/ 1673906 h 6482080"/>
              <a:gd name="connsiteX156" fmla="*/ 6552613 w 11786755"/>
              <a:gd name="connsiteY156" fmla="*/ 1710688 h 6482080"/>
              <a:gd name="connsiteX157" fmla="*/ 6537754 w 11786755"/>
              <a:gd name="connsiteY157" fmla="*/ 1754827 h 6482080"/>
              <a:gd name="connsiteX158" fmla="*/ 6537754 w 11786755"/>
              <a:gd name="connsiteY158" fmla="*/ 1798965 h 6482080"/>
              <a:gd name="connsiteX159" fmla="*/ 6537754 w 11786755"/>
              <a:gd name="connsiteY159" fmla="*/ 3240819 h 6482080"/>
              <a:gd name="connsiteX160" fmla="*/ 6537754 w 11786755"/>
              <a:gd name="connsiteY160" fmla="*/ 3336453 h 6482080"/>
              <a:gd name="connsiteX161" fmla="*/ 6552613 w 11786755"/>
              <a:gd name="connsiteY161" fmla="*/ 3439442 h 6482080"/>
              <a:gd name="connsiteX162" fmla="*/ 6574902 w 11786755"/>
              <a:gd name="connsiteY162" fmla="*/ 3535075 h 6482080"/>
              <a:gd name="connsiteX163" fmla="*/ 6597190 w 11786755"/>
              <a:gd name="connsiteY163" fmla="*/ 3623352 h 6482080"/>
              <a:gd name="connsiteX164" fmla="*/ 6634338 w 11786755"/>
              <a:gd name="connsiteY164" fmla="*/ 3711629 h 6482080"/>
              <a:gd name="connsiteX165" fmla="*/ 6678915 w 11786755"/>
              <a:gd name="connsiteY165" fmla="*/ 3792549 h 6482080"/>
              <a:gd name="connsiteX166" fmla="*/ 6730922 w 11786755"/>
              <a:gd name="connsiteY166" fmla="*/ 3873470 h 6482080"/>
              <a:gd name="connsiteX167" fmla="*/ 6790358 w 11786755"/>
              <a:gd name="connsiteY167" fmla="*/ 3947034 h 6482080"/>
              <a:gd name="connsiteX168" fmla="*/ 6849794 w 11786755"/>
              <a:gd name="connsiteY168" fmla="*/ 4020598 h 6482080"/>
              <a:gd name="connsiteX169" fmla="*/ 6924089 w 11786755"/>
              <a:gd name="connsiteY169" fmla="*/ 4079449 h 6482080"/>
              <a:gd name="connsiteX170" fmla="*/ 6998384 w 11786755"/>
              <a:gd name="connsiteY170" fmla="*/ 4145656 h 6482080"/>
              <a:gd name="connsiteX171" fmla="*/ 7080109 w 11786755"/>
              <a:gd name="connsiteY171" fmla="*/ 4189795 h 6482080"/>
              <a:gd name="connsiteX172" fmla="*/ 7154404 w 11786755"/>
              <a:gd name="connsiteY172" fmla="*/ 4233933 h 6482080"/>
              <a:gd name="connsiteX173" fmla="*/ 7236128 w 11786755"/>
              <a:gd name="connsiteY173" fmla="*/ 4270715 h 6482080"/>
              <a:gd name="connsiteX174" fmla="*/ 7332712 w 11786755"/>
              <a:gd name="connsiteY174" fmla="*/ 4300141 h 6482080"/>
              <a:gd name="connsiteX175" fmla="*/ 7429296 w 11786755"/>
              <a:gd name="connsiteY175" fmla="*/ 4322210 h 6482080"/>
              <a:gd name="connsiteX176" fmla="*/ 7429296 w 11786755"/>
              <a:gd name="connsiteY176" fmla="*/ 6482080 h 6482080"/>
              <a:gd name="connsiteX177" fmla="*/ 0 w 11786755"/>
              <a:gd name="connsiteY177" fmla="*/ 6482080 h 6482080"/>
              <a:gd name="connsiteX178" fmla="*/ 0 w 11786755"/>
              <a:gd name="connsiteY178" fmla="*/ 0 h 648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11786755" h="6482080">
                <a:moveTo>
                  <a:pt x="0" y="0"/>
                </a:moveTo>
                <a:lnTo>
                  <a:pt x="11786755" y="0"/>
                </a:lnTo>
                <a:lnTo>
                  <a:pt x="11786755" y="6482080"/>
                </a:lnTo>
                <a:lnTo>
                  <a:pt x="10522346" y="6482080"/>
                </a:lnTo>
                <a:lnTo>
                  <a:pt x="10522346" y="4211864"/>
                </a:lnTo>
                <a:lnTo>
                  <a:pt x="10604189" y="4197151"/>
                </a:lnTo>
                <a:lnTo>
                  <a:pt x="10686033" y="4160369"/>
                </a:lnTo>
                <a:lnTo>
                  <a:pt x="10760436" y="4123587"/>
                </a:lnTo>
                <a:lnTo>
                  <a:pt x="10827399" y="4086805"/>
                </a:lnTo>
                <a:lnTo>
                  <a:pt x="10901802" y="4042667"/>
                </a:lnTo>
                <a:lnTo>
                  <a:pt x="10968764" y="3991172"/>
                </a:lnTo>
                <a:lnTo>
                  <a:pt x="11028287" y="3924964"/>
                </a:lnTo>
                <a:lnTo>
                  <a:pt x="11080369" y="3866113"/>
                </a:lnTo>
                <a:lnTo>
                  <a:pt x="11132451" y="3799906"/>
                </a:lnTo>
                <a:lnTo>
                  <a:pt x="11177093" y="3733698"/>
                </a:lnTo>
                <a:lnTo>
                  <a:pt x="11206854" y="3660134"/>
                </a:lnTo>
                <a:lnTo>
                  <a:pt x="11244056" y="3579214"/>
                </a:lnTo>
                <a:lnTo>
                  <a:pt x="11273817" y="3498293"/>
                </a:lnTo>
                <a:lnTo>
                  <a:pt x="11288697" y="3417373"/>
                </a:lnTo>
                <a:lnTo>
                  <a:pt x="11303578" y="3329096"/>
                </a:lnTo>
                <a:lnTo>
                  <a:pt x="11303578" y="3240819"/>
                </a:lnTo>
                <a:lnTo>
                  <a:pt x="11303578" y="2578743"/>
                </a:lnTo>
                <a:lnTo>
                  <a:pt x="11303578" y="2468397"/>
                </a:lnTo>
                <a:lnTo>
                  <a:pt x="11281257" y="2372764"/>
                </a:lnTo>
                <a:lnTo>
                  <a:pt x="11258936" y="2284487"/>
                </a:lnTo>
                <a:lnTo>
                  <a:pt x="11229175" y="2196211"/>
                </a:lnTo>
                <a:lnTo>
                  <a:pt x="11184533" y="2107934"/>
                </a:lnTo>
                <a:lnTo>
                  <a:pt x="11132451" y="2027013"/>
                </a:lnTo>
                <a:lnTo>
                  <a:pt x="11072929" y="1946093"/>
                </a:lnTo>
                <a:lnTo>
                  <a:pt x="11013406" y="1872529"/>
                </a:lnTo>
                <a:lnTo>
                  <a:pt x="10939003" y="1813678"/>
                </a:lnTo>
                <a:lnTo>
                  <a:pt x="10857160" y="1747470"/>
                </a:lnTo>
                <a:lnTo>
                  <a:pt x="10775317" y="1703332"/>
                </a:lnTo>
                <a:lnTo>
                  <a:pt x="10686033" y="1659193"/>
                </a:lnTo>
                <a:lnTo>
                  <a:pt x="10596749" y="1622411"/>
                </a:lnTo>
                <a:lnTo>
                  <a:pt x="10500025" y="1607699"/>
                </a:lnTo>
                <a:lnTo>
                  <a:pt x="10395861" y="1585629"/>
                </a:lnTo>
                <a:lnTo>
                  <a:pt x="10299137" y="1578273"/>
                </a:lnTo>
                <a:lnTo>
                  <a:pt x="10194973" y="1585629"/>
                </a:lnTo>
                <a:lnTo>
                  <a:pt x="10090809" y="1607699"/>
                </a:lnTo>
                <a:lnTo>
                  <a:pt x="10001525" y="1622411"/>
                </a:lnTo>
                <a:lnTo>
                  <a:pt x="9912241" y="1659193"/>
                </a:lnTo>
                <a:lnTo>
                  <a:pt x="9815517" y="1703332"/>
                </a:lnTo>
                <a:lnTo>
                  <a:pt x="9741114" y="1747470"/>
                </a:lnTo>
                <a:lnTo>
                  <a:pt x="9659271" y="1813678"/>
                </a:lnTo>
                <a:lnTo>
                  <a:pt x="9584868" y="1872529"/>
                </a:lnTo>
                <a:lnTo>
                  <a:pt x="9517905" y="1946093"/>
                </a:lnTo>
                <a:lnTo>
                  <a:pt x="9465823" y="2027013"/>
                </a:lnTo>
                <a:lnTo>
                  <a:pt x="9413741" y="2107934"/>
                </a:lnTo>
                <a:lnTo>
                  <a:pt x="9369099" y="2196211"/>
                </a:lnTo>
                <a:lnTo>
                  <a:pt x="9331898" y="2284487"/>
                </a:lnTo>
                <a:lnTo>
                  <a:pt x="9309577" y="2372764"/>
                </a:lnTo>
                <a:lnTo>
                  <a:pt x="9294696" y="2468397"/>
                </a:lnTo>
                <a:lnTo>
                  <a:pt x="9287256" y="2578743"/>
                </a:lnTo>
                <a:lnTo>
                  <a:pt x="9287256" y="3240819"/>
                </a:lnTo>
                <a:lnTo>
                  <a:pt x="9294696" y="3329096"/>
                </a:lnTo>
                <a:lnTo>
                  <a:pt x="9302137" y="3417373"/>
                </a:lnTo>
                <a:lnTo>
                  <a:pt x="9324458" y="3498293"/>
                </a:lnTo>
                <a:lnTo>
                  <a:pt x="9346778" y="3579214"/>
                </a:lnTo>
                <a:lnTo>
                  <a:pt x="9383980" y="3660134"/>
                </a:lnTo>
                <a:lnTo>
                  <a:pt x="9421181" y="3733698"/>
                </a:lnTo>
                <a:lnTo>
                  <a:pt x="9465823" y="3799906"/>
                </a:lnTo>
                <a:lnTo>
                  <a:pt x="9510465" y="3866113"/>
                </a:lnTo>
                <a:lnTo>
                  <a:pt x="9562547" y="3924964"/>
                </a:lnTo>
                <a:lnTo>
                  <a:pt x="9629510" y="3991172"/>
                </a:lnTo>
                <a:lnTo>
                  <a:pt x="9689032" y="4042667"/>
                </a:lnTo>
                <a:lnTo>
                  <a:pt x="9763435" y="4086805"/>
                </a:lnTo>
                <a:lnTo>
                  <a:pt x="9837838" y="4123587"/>
                </a:lnTo>
                <a:lnTo>
                  <a:pt x="9912241" y="4160369"/>
                </a:lnTo>
                <a:lnTo>
                  <a:pt x="9994085" y="4197151"/>
                </a:lnTo>
                <a:lnTo>
                  <a:pt x="10068488" y="4211864"/>
                </a:lnTo>
                <a:lnTo>
                  <a:pt x="10068488" y="6482080"/>
                </a:lnTo>
                <a:lnTo>
                  <a:pt x="7867637" y="6482080"/>
                </a:lnTo>
                <a:lnTo>
                  <a:pt x="7867637" y="4322210"/>
                </a:lnTo>
                <a:lnTo>
                  <a:pt x="7971650" y="4300141"/>
                </a:lnTo>
                <a:lnTo>
                  <a:pt x="8060804" y="4270715"/>
                </a:lnTo>
                <a:lnTo>
                  <a:pt x="8149958" y="4233933"/>
                </a:lnTo>
                <a:lnTo>
                  <a:pt x="8231683" y="4189795"/>
                </a:lnTo>
                <a:lnTo>
                  <a:pt x="8305978" y="4145656"/>
                </a:lnTo>
                <a:lnTo>
                  <a:pt x="8387702" y="4079449"/>
                </a:lnTo>
                <a:lnTo>
                  <a:pt x="8447139" y="4020598"/>
                </a:lnTo>
                <a:lnTo>
                  <a:pt x="8514004" y="3947034"/>
                </a:lnTo>
                <a:lnTo>
                  <a:pt x="8566011" y="3873470"/>
                </a:lnTo>
                <a:lnTo>
                  <a:pt x="8618017" y="3792549"/>
                </a:lnTo>
                <a:lnTo>
                  <a:pt x="8662594" y="3711629"/>
                </a:lnTo>
                <a:lnTo>
                  <a:pt x="8699742" y="3623352"/>
                </a:lnTo>
                <a:lnTo>
                  <a:pt x="8729460" y="3535075"/>
                </a:lnTo>
                <a:lnTo>
                  <a:pt x="8751749" y="3439442"/>
                </a:lnTo>
                <a:lnTo>
                  <a:pt x="8766607" y="3336453"/>
                </a:lnTo>
                <a:lnTo>
                  <a:pt x="8774037" y="3240819"/>
                </a:lnTo>
                <a:lnTo>
                  <a:pt x="8774037" y="1798965"/>
                </a:lnTo>
                <a:lnTo>
                  <a:pt x="8766607" y="1754827"/>
                </a:lnTo>
                <a:lnTo>
                  <a:pt x="8751749" y="1710688"/>
                </a:lnTo>
                <a:lnTo>
                  <a:pt x="8729460" y="1673906"/>
                </a:lnTo>
                <a:lnTo>
                  <a:pt x="8699742" y="1644481"/>
                </a:lnTo>
                <a:lnTo>
                  <a:pt x="8670024" y="1615055"/>
                </a:lnTo>
                <a:lnTo>
                  <a:pt x="8625447" y="1600342"/>
                </a:lnTo>
                <a:lnTo>
                  <a:pt x="8588299" y="1585629"/>
                </a:lnTo>
                <a:lnTo>
                  <a:pt x="8543722" y="1578273"/>
                </a:lnTo>
                <a:lnTo>
                  <a:pt x="8499145" y="1585629"/>
                </a:lnTo>
                <a:lnTo>
                  <a:pt x="8454568" y="1600342"/>
                </a:lnTo>
                <a:lnTo>
                  <a:pt x="8417421" y="1615055"/>
                </a:lnTo>
                <a:lnTo>
                  <a:pt x="8387702" y="1644481"/>
                </a:lnTo>
                <a:lnTo>
                  <a:pt x="8357984" y="1673906"/>
                </a:lnTo>
                <a:lnTo>
                  <a:pt x="8343125" y="1710688"/>
                </a:lnTo>
                <a:lnTo>
                  <a:pt x="8320837" y="1754827"/>
                </a:lnTo>
                <a:lnTo>
                  <a:pt x="8320837" y="1798965"/>
                </a:lnTo>
                <a:lnTo>
                  <a:pt x="8320837" y="3240819"/>
                </a:lnTo>
                <a:lnTo>
                  <a:pt x="8313407" y="3343809"/>
                </a:lnTo>
                <a:lnTo>
                  <a:pt x="8283689" y="3446799"/>
                </a:lnTo>
                <a:lnTo>
                  <a:pt x="8246542" y="3542432"/>
                </a:lnTo>
                <a:lnTo>
                  <a:pt x="8194535" y="3630709"/>
                </a:lnTo>
                <a:lnTo>
                  <a:pt x="8135099" y="3704272"/>
                </a:lnTo>
                <a:lnTo>
                  <a:pt x="8053375" y="3777836"/>
                </a:lnTo>
                <a:lnTo>
                  <a:pt x="7971650" y="3829331"/>
                </a:lnTo>
                <a:lnTo>
                  <a:pt x="7867637" y="3873470"/>
                </a:lnTo>
                <a:lnTo>
                  <a:pt x="7867637" y="1798965"/>
                </a:lnTo>
                <a:lnTo>
                  <a:pt x="7867637" y="1754827"/>
                </a:lnTo>
                <a:lnTo>
                  <a:pt x="7852778" y="1710688"/>
                </a:lnTo>
                <a:lnTo>
                  <a:pt x="7837919" y="1673906"/>
                </a:lnTo>
                <a:lnTo>
                  <a:pt x="7808201" y="1644481"/>
                </a:lnTo>
                <a:lnTo>
                  <a:pt x="7771053" y="1615055"/>
                </a:lnTo>
                <a:lnTo>
                  <a:pt x="7733906" y="1600342"/>
                </a:lnTo>
                <a:lnTo>
                  <a:pt x="7696758" y="1585629"/>
                </a:lnTo>
                <a:lnTo>
                  <a:pt x="7652181" y="1578273"/>
                </a:lnTo>
                <a:lnTo>
                  <a:pt x="7607604" y="1585629"/>
                </a:lnTo>
                <a:lnTo>
                  <a:pt x="7563027" y="1600342"/>
                </a:lnTo>
                <a:lnTo>
                  <a:pt x="7525879" y="1615055"/>
                </a:lnTo>
                <a:lnTo>
                  <a:pt x="7488732" y="1644481"/>
                </a:lnTo>
                <a:lnTo>
                  <a:pt x="7466443" y="1673906"/>
                </a:lnTo>
                <a:lnTo>
                  <a:pt x="7444155" y="1710688"/>
                </a:lnTo>
                <a:lnTo>
                  <a:pt x="7429296" y="1754827"/>
                </a:lnTo>
                <a:lnTo>
                  <a:pt x="7429296" y="1798965"/>
                </a:lnTo>
                <a:lnTo>
                  <a:pt x="7429296" y="3873470"/>
                </a:lnTo>
                <a:lnTo>
                  <a:pt x="7332712" y="3829331"/>
                </a:lnTo>
                <a:lnTo>
                  <a:pt x="7250987" y="3777836"/>
                </a:lnTo>
                <a:lnTo>
                  <a:pt x="7176692" y="3704272"/>
                </a:lnTo>
                <a:lnTo>
                  <a:pt x="7102397" y="3630709"/>
                </a:lnTo>
                <a:lnTo>
                  <a:pt x="7050391" y="3542432"/>
                </a:lnTo>
                <a:lnTo>
                  <a:pt x="7013243" y="3446799"/>
                </a:lnTo>
                <a:lnTo>
                  <a:pt x="6983525" y="3343809"/>
                </a:lnTo>
                <a:lnTo>
                  <a:pt x="6976095" y="3240819"/>
                </a:lnTo>
                <a:lnTo>
                  <a:pt x="6976095" y="1798965"/>
                </a:lnTo>
                <a:lnTo>
                  <a:pt x="6976095" y="1754827"/>
                </a:lnTo>
                <a:lnTo>
                  <a:pt x="6961236" y="1710688"/>
                </a:lnTo>
                <a:lnTo>
                  <a:pt x="6938948" y="1673906"/>
                </a:lnTo>
                <a:lnTo>
                  <a:pt x="6916659" y="1644481"/>
                </a:lnTo>
                <a:lnTo>
                  <a:pt x="6879512" y="1615055"/>
                </a:lnTo>
                <a:lnTo>
                  <a:pt x="6842364" y="1600342"/>
                </a:lnTo>
                <a:lnTo>
                  <a:pt x="6805217" y="1585629"/>
                </a:lnTo>
                <a:lnTo>
                  <a:pt x="6760640" y="1578273"/>
                </a:lnTo>
                <a:lnTo>
                  <a:pt x="6716063" y="1585629"/>
                </a:lnTo>
                <a:lnTo>
                  <a:pt x="6671485" y="1600342"/>
                </a:lnTo>
                <a:lnTo>
                  <a:pt x="6634338" y="1615055"/>
                </a:lnTo>
                <a:lnTo>
                  <a:pt x="6597190" y="1644481"/>
                </a:lnTo>
                <a:lnTo>
                  <a:pt x="6574902" y="1673906"/>
                </a:lnTo>
                <a:lnTo>
                  <a:pt x="6552613" y="1710688"/>
                </a:lnTo>
                <a:lnTo>
                  <a:pt x="6537754" y="1754827"/>
                </a:lnTo>
                <a:lnTo>
                  <a:pt x="6537754" y="1798965"/>
                </a:lnTo>
                <a:lnTo>
                  <a:pt x="6537754" y="3240819"/>
                </a:lnTo>
                <a:lnTo>
                  <a:pt x="6537754" y="3336453"/>
                </a:lnTo>
                <a:lnTo>
                  <a:pt x="6552613" y="3439442"/>
                </a:lnTo>
                <a:lnTo>
                  <a:pt x="6574902" y="3535075"/>
                </a:lnTo>
                <a:lnTo>
                  <a:pt x="6597190" y="3623352"/>
                </a:lnTo>
                <a:lnTo>
                  <a:pt x="6634338" y="3711629"/>
                </a:lnTo>
                <a:lnTo>
                  <a:pt x="6678915" y="3792549"/>
                </a:lnTo>
                <a:lnTo>
                  <a:pt x="6730922" y="3873470"/>
                </a:lnTo>
                <a:lnTo>
                  <a:pt x="6790358" y="3947034"/>
                </a:lnTo>
                <a:lnTo>
                  <a:pt x="6849794" y="4020598"/>
                </a:lnTo>
                <a:lnTo>
                  <a:pt x="6924089" y="4079449"/>
                </a:lnTo>
                <a:lnTo>
                  <a:pt x="6998384" y="4145656"/>
                </a:lnTo>
                <a:lnTo>
                  <a:pt x="7080109" y="4189795"/>
                </a:lnTo>
                <a:lnTo>
                  <a:pt x="7154404" y="4233933"/>
                </a:lnTo>
                <a:lnTo>
                  <a:pt x="7236128" y="4270715"/>
                </a:lnTo>
                <a:lnTo>
                  <a:pt x="7332712" y="4300141"/>
                </a:lnTo>
                <a:lnTo>
                  <a:pt x="7429296" y="4322210"/>
                </a:lnTo>
                <a:lnTo>
                  <a:pt x="7429296" y="6482080"/>
                </a:lnTo>
                <a:lnTo>
                  <a:pt x="0" y="6482080"/>
                </a:lnTo>
                <a:lnTo>
                  <a:pt x="0" y="0"/>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noAutofit/>
          </a:bodyPr>
          <a:lstStyle/>
          <a:p>
            <a:endParaRPr lang="en-US" dirty="0"/>
          </a:p>
        </p:txBody>
      </p:sp>
      <p:sp>
        <p:nvSpPr>
          <p:cNvPr id="55" name="TextBox 54">
            <a:extLst>
              <a:ext uri="{FF2B5EF4-FFF2-40B4-BE49-F238E27FC236}">
                <a16:creationId xmlns:a16="http://schemas.microsoft.com/office/drawing/2014/main" id="{3185E43A-547E-4BB6-BC7C-56A71052DB90}"/>
              </a:ext>
            </a:extLst>
          </p:cNvPr>
          <p:cNvSpPr txBox="1"/>
          <p:nvPr/>
        </p:nvSpPr>
        <p:spPr>
          <a:xfrm>
            <a:off x="975847" y="507695"/>
            <a:ext cx="5215635" cy="1354217"/>
          </a:xfrm>
          <a:prstGeom prst="rect">
            <a:avLst/>
          </a:prstGeom>
          <a:noFill/>
        </p:spPr>
        <p:txBody>
          <a:bodyPr wrap="square" lIns="0" tIns="0" rIns="0" bIns="0" rtlCol="0">
            <a:spAutoFit/>
          </a:bodyPr>
          <a:lstStyle/>
          <a:p>
            <a:pPr>
              <a:spcAft>
                <a:spcPts val="600"/>
              </a:spcAft>
            </a:pPr>
            <a:r>
              <a:rPr lang="en-US" sz="4400" b="1" dirty="0">
                <a:solidFill>
                  <a:srgbClr val="FF0000"/>
                </a:solidFill>
                <a:latin typeface="+mj-lt"/>
              </a:rPr>
              <a:t>Key Performance indicators (KPIs)</a:t>
            </a:r>
            <a:endParaRPr lang="en-US" sz="4400" dirty="0">
              <a:solidFill>
                <a:srgbClr val="FF0000"/>
              </a:solidFill>
              <a:latin typeface="+mj-lt"/>
            </a:endParaRPr>
          </a:p>
        </p:txBody>
      </p:sp>
      <p:sp>
        <p:nvSpPr>
          <p:cNvPr id="6" name="Oval 5">
            <a:extLst>
              <a:ext uri="{FF2B5EF4-FFF2-40B4-BE49-F238E27FC236}">
                <a16:creationId xmlns:a16="http://schemas.microsoft.com/office/drawing/2014/main" id="{FAB8427E-7E61-4F60-B5E8-7B33408A8718}"/>
              </a:ext>
            </a:extLst>
          </p:cNvPr>
          <p:cNvSpPr/>
          <p:nvPr/>
        </p:nvSpPr>
        <p:spPr>
          <a:xfrm>
            <a:off x="619220" y="2219090"/>
            <a:ext cx="683090" cy="662921"/>
          </a:xfrm>
          <a:prstGeom prst="ellipse">
            <a:avLst/>
          </a:prstGeom>
          <a:solidFill>
            <a:srgbClr val="EFAB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C42A6C14-653E-4996-BEEC-67B7E598D388}"/>
              </a:ext>
            </a:extLst>
          </p:cNvPr>
          <p:cNvSpPr/>
          <p:nvPr/>
        </p:nvSpPr>
        <p:spPr>
          <a:xfrm>
            <a:off x="619220" y="3086567"/>
            <a:ext cx="683091" cy="662905"/>
          </a:xfrm>
          <a:prstGeom prst="ellipse">
            <a:avLst/>
          </a:prstGeom>
          <a:solidFill>
            <a:srgbClr val="EFAB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95311E7D-E302-4B4B-8C60-4D70DE71CC6D}"/>
              </a:ext>
            </a:extLst>
          </p:cNvPr>
          <p:cNvSpPr/>
          <p:nvPr/>
        </p:nvSpPr>
        <p:spPr>
          <a:xfrm>
            <a:off x="619220" y="4203588"/>
            <a:ext cx="683090" cy="551095"/>
          </a:xfrm>
          <a:prstGeom prst="ellipse">
            <a:avLst/>
          </a:prstGeom>
          <a:solidFill>
            <a:srgbClr val="EFAB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69CA796A-58E0-4931-AA03-FA3F15564A15}"/>
              </a:ext>
            </a:extLst>
          </p:cNvPr>
          <p:cNvGrpSpPr/>
          <p:nvPr/>
        </p:nvGrpSpPr>
        <p:grpSpPr>
          <a:xfrm>
            <a:off x="1435661" y="2155661"/>
            <a:ext cx="4052093" cy="552070"/>
            <a:chOff x="1285302" y="2177559"/>
            <a:chExt cx="4182828" cy="552070"/>
          </a:xfrm>
        </p:grpSpPr>
        <p:sp>
          <p:nvSpPr>
            <p:cNvPr id="58" name="TextBox 57">
              <a:extLst>
                <a:ext uri="{FF2B5EF4-FFF2-40B4-BE49-F238E27FC236}">
                  <a16:creationId xmlns:a16="http://schemas.microsoft.com/office/drawing/2014/main" id="{99F49FEC-C11C-4E76-8C5C-F11A256F873D}"/>
                </a:ext>
              </a:extLst>
            </p:cNvPr>
            <p:cNvSpPr txBox="1"/>
            <p:nvPr/>
          </p:nvSpPr>
          <p:spPr>
            <a:xfrm>
              <a:off x="1285302" y="2514185"/>
              <a:ext cx="4168900" cy="215444"/>
            </a:xfrm>
            <a:prstGeom prst="rect">
              <a:avLst/>
            </a:prstGeom>
            <a:noFill/>
          </p:spPr>
          <p:txBody>
            <a:bodyPr wrap="square" lIns="0" tIns="0" rIns="0" bIns="0" rtlCol="0" anchor="t">
              <a:spAutoFit/>
            </a:bodyPr>
            <a:lstStyle/>
            <a:p>
              <a:pPr>
                <a:spcAft>
                  <a:spcPts val="600"/>
                </a:spcAft>
              </a:pPr>
              <a:r>
                <a:rPr lang="en-US" sz="1400" dirty="0"/>
                <a:t>The sum of the total price of all item ordered </a:t>
              </a:r>
            </a:p>
          </p:txBody>
        </p:sp>
        <p:sp>
          <p:nvSpPr>
            <p:cNvPr id="59" name="TextBox 58">
              <a:extLst>
                <a:ext uri="{FF2B5EF4-FFF2-40B4-BE49-F238E27FC236}">
                  <a16:creationId xmlns:a16="http://schemas.microsoft.com/office/drawing/2014/main" id="{25E90753-EB1B-47E2-A371-AEEAEB297DC6}"/>
                </a:ext>
              </a:extLst>
            </p:cNvPr>
            <p:cNvSpPr txBox="1"/>
            <p:nvPr/>
          </p:nvSpPr>
          <p:spPr>
            <a:xfrm>
              <a:off x="1299230" y="2177559"/>
              <a:ext cx="4168900" cy="276999"/>
            </a:xfrm>
            <a:prstGeom prst="rect">
              <a:avLst/>
            </a:prstGeom>
            <a:noFill/>
          </p:spPr>
          <p:txBody>
            <a:bodyPr wrap="square" lIns="0" tIns="0" rIns="0" bIns="0" rtlCol="0" anchor="t">
              <a:spAutoFit/>
            </a:bodyPr>
            <a:lstStyle/>
            <a:p>
              <a:pPr>
                <a:spcAft>
                  <a:spcPts val="600"/>
                </a:spcAft>
              </a:pPr>
              <a:r>
                <a:rPr lang="en-US" b="1" dirty="0"/>
                <a:t>Total Revenue</a:t>
              </a:r>
            </a:p>
          </p:txBody>
        </p:sp>
      </p:grpSp>
      <p:grpSp>
        <p:nvGrpSpPr>
          <p:cNvPr id="60" name="Group 59">
            <a:extLst>
              <a:ext uri="{FF2B5EF4-FFF2-40B4-BE49-F238E27FC236}">
                <a16:creationId xmlns:a16="http://schemas.microsoft.com/office/drawing/2014/main" id="{7C23DE20-BEA8-4942-9EA8-3DA5AA2F1B36}"/>
              </a:ext>
            </a:extLst>
          </p:cNvPr>
          <p:cNvGrpSpPr/>
          <p:nvPr/>
        </p:nvGrpSpPr>
        <p:grpSpPr>
          <a:xfrm>
            <a:off x="1449154" y="3051973"/>
            <a:ext cx="4038600" cy="754053"/>
            <a:chOff x="1927100" y="2998910"/>
            <a:chExt cx="4168900" cy="754053"/>
          </a:xfrm>
        </p:grpSpPr>
        <p:sp>
          <p:nvSpPr>
            <p:cNvPr id="61" name="TextBox 60">
              <a:extLst>
                <a:ext uri="{FF2B5EF4-FFF2-40B4-BE49-F238E27FC236}">
                  <a16:creationId xmlns:a16="http://schemas.microsoft.com/office/drawing/2014/main" id="{2F142ECA-C4B2-427E-B635-6198E03C0F08}"/>
                </a:ext>
              </a:extLst>
            </p:cNvPr>
            <p:cNvSpPr txBox="1"/>
            <p:nvPr/>
          </p:nvSpPr>
          <p:spPr>
            <a:xfrm>
              <a:off x="1927100" y="3322076"/>
              <a:ext cx="4168900" cy="430887"/>
            </a:xfrm>
            <a:prstGeom prst="rect">
              <a:avLst/>
            </a:prstGeom>
            <a:noFill/>
          </p:spPr>
          <p:txBody>
            <a:bodyPr wrap="square" lIns="0" tIns="0" rIns="0" bIns="0" rtlCol="0" anchor="t">
              <a:spAutoFit/>
            </a:bodyPr>
            <a:lstStyle/>
            <a:p>
              <a:pPr>
                <a:spcAft>
                  <a:spcPts val="600"/>
                </a:spcAft>
              </a:pPr>
              <a:r>
                <a:rPr lang="en-US" sz="1400" dirty="0"/>
                <a:t>This is the Total number of orders placed and the Sum of the quantities of Pizza sold. </a:t>
              </a:r>
            </a:p>
          </p:txBody>
        </p:sp>
        <p:sp>
          <p:nvSpPr>
            <p:cNvPr id="62" name="TextBox 61">
              <a:extLst>
                <a:ext uri="{FF2B5EF4-FFF2-40B4-BE49-F238E27FC236}">
                  <a16:creationId xmlns:a16="http://schemas.microsoft.com/office/drawing/2014/main" id="{59A6D418-D91B-4EBE-A2F0-FF449D2774EB}"/>
                </a:ext>
              </a:extLst>
            </p:cNvPr>
            <p:cNvSpPr txBox="1"/>
            <p:nvPr/>
          </p:nvSpPr>
          <p:spPr>
            <a:xfrm>
              <a:off x="1927100" y="2998910"/>
              <a:ext cx="4168900" cy="276999"/>
            </a:xfrm>
            <a:prstGeom prst="rect">
              <a:avLst/>
            </a:prstGeom>
            <a:noFill/>
          </p:spPr>
          <p:txBody>
            <a:bodyPr wrap="square" lIns="0" tIns="0" rIns="0" bIns="0" rtlCol="0" anchor="t">
              <a:spAutoFit/>
            </a:bodyPr>
            <a:lstStyle/>
            <a:p>
              <a:pPr>
                <a:spcAft>
                  <a:spcPts val="600"/>
                </a:spcAft>
              </a:pPr>
              <a:r>
                <a:rPr lang="en-US" b="1" dirty="0"/>
                <a:t>Total Orders and Total Pizza Sold</a:t>
              </a:r>
            </a:p>
          </p:txBody>
        </p:sp>
      </p:grpSp>
      <p:grpSp>
        <p:nvGrpSpPr>
          <p:cNvPr id="63" name="Group 62">
            <a:extLst>
              <a:ext uri="{FF2B5EF4-FFF2-40B4-BE49-F238E27FC236}">
                <a16:creationId xmlns:a16="http://schemas.microsoft.com/office/drawing/2014/main" id="{33D2F16E-A0F1-4D41-BADE-B13F12752F95}"/>
              </a:ext>
            </a:extLst>
          </p:cNvPr>
          <p:cNvGrpSpPr/>
          <p:nvPr/>
        </p:nvGrpSpPr>
        <p:grpSpPr>
          <a:xfrm>
            <a:off x="1435661" y="4145540"/>
            <a:ext cx="4038600" cy="754053"/>
            <a:chOff x="1927100" y="2998910"/>
            <a:chExt cx="4168900" cy="754053"/>
          </a:xfrm>
        </p:grpSpPr>
        <p:sp>
          <p:nvSpPr>
            <p:cNvPr id="64" name="TextBox 63">
              <a:extLst>
                <a:ext uri="{FF2B5EF4-FFF2-40B4-BE49-F238E27FC236}">
                  <a16:creationId xmlns:a16="http://schemas.microsoft.com/office/drawing/2014/main" id="{E0C8E18D-2AC1-4825-8C0E-CF7EC458E063}"/>
                </a:ext>
              </a:extLst>
            </p:cNvPr>
            <p:cNvSpPr txBox="1"/>
            <p:nvPr/>
          </p:nvSpPr>
          <p:spPr>
            <a:xfrm>
              <a:off x="1927100" y="3322076"/>
              <a:ext cx="4168900" cy="430887"/>
            </a:xfrm>
            <a:prstGeom prst="rect">
              <a:avLst/>
            </a:prstGeom>
            <a:noFill/>
          </p:spPr>
          <p:txBody>
            <a:bodyPr wrap="square" lIns="0" tIns="0" rIns="0" bIns="0" rtlCol="0" anchor="t">
              <a:spAutoFit/>
            </a:bodyPr>
            <a:lstStyle/>
            <a:p>
              <a:pPr>
                <a:spcAft>
                  <a:spcPts val="600"/>
                </a:spcAft>
              </a:pPr>
              <a:r>
                <a:rPr lang="en-US" sz="1400" dirty="0"/>
                <a:t>The average amount spent per order, calculated by dividing the total revenue by the total number of orders </a:t>
              </a:r>
            </a:p>
          </p:txBody>
        </p:sp>
        <p:sp>
          <p:nvSpPr>
            <p:cNvPr id="65" name="TextBox 64">
              <a:extLst>
                <a:ext uri="{FF2B5EF4-FFF2-40B4-BE49-F238E27FC236}">
                  <a16:creationId xmlns:a16="http://schemas.microsoft.com/office/drawing/2014/main" id="{C31EBA62-5118-4543-B7D0-F98139DE2481}"/>
                </a:ext>
              </a:extLst>
            </p:cNvPr>
            <p:cNvSpPr txBox="1"/>
            <p:nvPr/>
          </p:nvSpPr>
          <p:spPr>
            <a:xfrm>
              <a:off x="1927100" y="2998910"/>
              <a:ext cx="4168900" cy="276999"/>
            </a:xfrm>
            <a:prstGeom prst="rect">
              <a:avLst/>
            </a:prstGeom>
            <a:noFill/>
          </p:spPr>
          <p:txBody>
            <a:bodyPr wrap="square" lIns="0" tIns="0" rIns="0" bIns="0" rtlCol="0" anchor="t">
              <a:spAutoFit/>
            </a:bodyPr>
            <a:lstStyle/>
            <a:p>
              <a:pPr>
                <a:spcAft>
                  <a:spcPts val="600"/>
                </a:spcAft>
              </a:pPr>
              <a:r>
                <a:rPr lang="en-US" b="1" dirty="0"/>
                <a:t>Average order value</a:t>
              </a:r>
            </a:p>
          </p:txBody>
        </p:sp>
      </p:grpSp>
      <p:sp>
        <p:nvSpPr>
          <p:cNvPr id="12" name="Oval 11">
            <a:extLst>
              <a:ext uri="{FF2B5EF4-FFF2-40B4-BE49-F238E27FC236}">
                <a16:creationId xmlns:a16="http://schemas.microsoft.com/office/drawing/2014/main" id="{335724E0-2C37-4257-985E-180F90BC44B1}"/>
              </a:ext>
            </a:extLst>
          </p:cNvPr>
          <p:cNvSpPr/>
          <p:nvPr/>
        </p:nvSpPr>
        <p:spPr>
          <a:xfrm>
            <a:off x="686728" y="2231896"/>
            <a:ext cx="161411" cy="182563"/>
          </a:xfrm>
          <a:prstGeom prst="ellipse">
            <a:avLst/>
          </a:prstGeom>
          <a:solidFill>
            <a:srgbClr val="2027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val 65">
            <a:extLst>
              <a:ext uri="{FF2B5EF4-FFF2-40B4-BE49-F238E27FC236}">
                <a16:creationId xmlns:a16="http://schemas.microsoft.com/office/drawing/2014/main" id="{C17B673D-6A32-426D-B4F5-A3EE36A2CE7B}"/>
              </a:ext>
            </a:extLst>
          </p:cNvPr>
          <p:cNvSpPr/>
          <p:nvPr/>
        </p:nvSpPr>
        <p:spPr>
          <a:xfrm>
            <a:off x="686728" y="3096092"/>
            <a:ext cx="151934" cy="143097"/>
          </a:xfrm>
          <a:prstGeom prst="ellipse">
            <a:avLst/>
          </a:prstGeom>
          <a:solidFill>
            <a:srgbClr val="2027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B7E506BF-2A02-4DEA-A4D4-FEEF88A8BB39}"/>
              </a:ext>
            </a:extLst>
          </p:cNvPr>
          <p:cNvSpPr/>
          <p:nvPr/>
        </p:nvSpPr>
        <p:spPr>
          <a:xfrm>
            <a:off x="686728" y="4165699"/>
            <a:ext cx="185271" cy="135427"/>
          </a:xfrm>
          <a:prstGeom prst="ellipse">
            <a:avLst/>
          </a:prstGeom>
          <a:solidFill>
            <a:srgbClr val="2027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8" name="Group 67">
            <a:extLst>
              <a:ext uri="{FF2B5EF4-FFF2-40B4-BE49-F238E27FC236}">
                <a16:creationId xmlns:a16="http://schemas.microsoft.com/office/drawing/2014/main" id="{80E901FF-E953-4A7D-B142-B601EC6E4CFA}"/>
              </a:ext>
            </a:extLst>
          </p:cNvPr>
          <p:cNvGrpSpPr/>
          <p:nvPr/>
        </p:nvGrpSpPr>
        <p:grpSpPr>
          <a:xfrm>
            <a:off x="838662" y="2406881"/>
            <a:ext cx="274369" cy="287338"/>
            <a:chOff x="3746500" y="1344613"/>
            <a:chExt cx="285750" cy="287338"/>
          </a:xfrm>
          <a:solidFill>
            <a:schemeClr val="bg1"/>
          </a:solidFill>
        </p:grpSpPr>
        <p:sp>
          <p:nvSpPr>
            <p:cNvPr id="69" name="Freeform 497">
              <a:extLst>
                <a:ext uri="{FF2B5EF4-FFF2-40B4-BE49-F238E27FC236}">
                  <a16:creationId xmlns:a16="http://schemas.microsoft.com/office/drawing/2014/main" id="{43D67131-4DF4-4BAE-9BB3-21A08569E164}"/>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498">
              <a:extLst>
                <a:ext uri="{FF2B5EF4-FFF2-40B4-BE49-F238E27FC236}">
                  <a16:creationId xmlns:a16="http://schemas.microsoft.com/office/drawing/2014/main" id="{2AB6BA2C-93C6-4B11-BC91-E06E65627415}"/>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499">
              <a:extLst>
                <a:ext uri="{FF2B5EF4-FFF2-40B4-BE49-F238E27FC236}">
                  <a16:creationId xmlns:a16="http://schemas.microsoft.com/office/drawing/2014/main" id="{6D843D43-752C-4483-BC6F-BE1EC38169D2}"/>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500">
              <a:extLst>
                <a:ext uri="{FF2B5EF4-FFF2-40B4-BE49-F238E27FC236}">
                  <a16:creationId xmlns:a16="http://schemas.microsoft.com/office/drawing/2014/main" id="{EDE4C377-C451-4FC0-B380-1FF03111E1DB}"/>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501">
              <a:extLst>
                <a:ext uri="{FF2B5EF4-FFF2-40B4-BE49-F238E27FC236}">
                  <a16:creationId xmlns:a16="http://schemas.microsoft.com/office/drawing/2014/main" id="{1DECE233-4963-4C35-AF07-404C52279510}"/>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502">
              <a:extLst>
                <a:ext uri="{FF2B5EF4-FFF2-40B4-BE49-F238E27FC236}">
                  <a16:creationId xmlns:a16="http://schemas.microsoft.com/office/drawing/2014/main" id="{64D1D302-0C61-4F9B-91CE-A7205845F76F}"/>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503">
              <a:extLst>
                <a:ext uri="{FF2B5EF4-FFF2-40B4-BE49-F238E27FC236}">
                  <a16:creationId xmlns:a16="http://schemas.microsoft.com/office/drawing/2014/main" id="{7E5C85AB-C3E1-47D2-9754-AD37E2ABB7AA}"/>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504">
              <a:extLst>
                <a:ext uri="{FF2B5EF4-FFF2-40B4-BE49-F238E27FC236}">
                  <a16:creationId xmlns:a16="http://schemas.microsoft.com/office/drawing/2014/main" id="{F72D5716-8C32-4FB5-94EB-A4F094470B24}"/>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7" name="Group 76">
            <a:extLst>
              <a:ext uri="{FF2B5EF4-FFF2-40B4-BE49-F238E27FC236}">
                <a16:creationId xmlns:a16="http://schemas.microsoft.com/office/drawing/2014/main" id="{6C246DA2-B6BF-4CDF-9C1A-4C9F9B2313AB}"/>
              </a:ext>
            </a:extLst>
          </p:cNvPr>
          <p:cNvGrpSpPr/>
          <p:nvPr/>
        </p:nvGrpSpPr>
        <p:grpSpPr>
          <a:xfrm>
            <a:off x="817096" y="4365220"/>
            <a:ext cx="287338" cy="249238"/>
            <a:chOff x="2598738" y="2530475"/>
            <a:chExt cx="287338" cy="249238"/>
          </a:xfrm>
          <a:solidFill>
            <a:schemeClr val="bg1"/>
          </a:solidFill>
        </p:grpSpPr>
        <p:sp>
          <p:nvSpPr>
            <p:cNvPr id="78" name="Freeform 527">
              <a:extLst>
                <a:ext uri="{FF2B5EF4-FFF2-40B4-BE49-F238E27FC236}">
                  <a16:creationId xmlns:a16="http://schemas.microsoft.com/office/drawing/2014/main" id="{FA9ACF01-C780-4D6F-8A1F-75B49E1DBB4C}"/>
                </a:ext>
              </a:extLst>
            </p:cNvPr>
            <p:cNvSpPr>
              <a:spLocks/>
            </p:cNvSpPr>
            <p:nvPr/>
          </p:nvSpPr>
          <p:spPr bwMode="auto">
            <a:xfrm>
              <a:off x="2655888" y="2625725"/>
              <a:ext cx="123825" cy="134938"/>
            </a:xfrm>
            <a:custGeom>
              <a:avLst/>
              <a:gdLst>
                <a:gd name="T0" fmla="*/ 187 w 391"/>
                <a:gd name="T1" fmla="*/ 0 h 421"/>
                <a:gd name="T2" fmla="*/ 172 w 391"/>
                <a:gd name="T3" fmla="*/ 19 h 421"/>
                <a:gd name="T4" fmla="*/ 155 w 391"/>
                <a:gd name="T5" fmla="*/ 36 h 421"/>
                <a:gd name="T6" fmla="*/ 135 w 391"/>
                <a:gd name="T7" fmla="*/ 52 h 421"/>
                <a:gd name="T8" fmla="*/ 113 w 391"/>
                <a:gd name="T9" fmla="*/ 65 h 421"/>
                <a:gd name="T10" fmla="*/ 91 w 391"/>
                <a:gd name="T11" fmla="*/ 76 h 421"/>
                <a:gd name="T12" fmla="*/ 67 w 391"/>
                <a:gd name="T13" fmla="*/ 83 h 421"/>
                <a:gd name="T14" fmla="*/ 41 w 391"/>
                <a:gd name="T15" fmla="*/ 89 h 421"/>
                <a:gd name="T16" fmla="*/ 15 w 391"/>
                <a:gd name="T17" fmla="*/ 90 h 421"/>
                <a:gd name="T18" fmla="*/ 0 w 391"/>
                <a:gd name="T19" fmla="*/ 89 h 421"/>
                <a:gd name="T20" fmla="*/ 1 w 391"/>
                <a:gd name="T21" fmla="*/ 410 h 421"/>
                <a:gd name="T22" fmla="*/ 3 w 391"/>
                <a:gd name="T23" fmla="*/ 415 h 421"/>
                <a:gd name="T24" fmla="*/ 6 w 391"/>
                <a:gd name="T25" fmla="*/ 418 h 421"/>
                <a:gd name="T26" fmla="*/ 11 w 391"/>
                <a:gd name="T27" fmla="*/ 421 h 421"/>
                <a:gd name="T28" fmla="*/ 77 w 391"/>
                <a:gd name="T29" fmla="*/ 421 h 421"/>
                <a:gd name="T30" fmla="*/ 75 w 391"/>
                <a:gd name="T31" fmla="*/ 406 h 421"/>
                <a:gd name="T32" fmla="*/ 77 w 391"/>
                <a:gd name="T33" fmla="*/ 385 h 421"/>
                <a:gd name="T34" fmla="*/ 83 w 391"/>
                <a:gd name="T35" fmla="*/ 366 h 421"/>
                <a:gd name="T36" fmla="*/ 93 w 391"/>
                <a:gd name="T37" fmla="*/ 347 h 421"/>
                <a:gd name="T38" fmla="*/ 106 w 391"/>
                <a:gd name="T39" fmla="*/ 331 h 421"/>
                <a:gd name="T40" fmla="*/ 122 w 391"/>
                <a:gd name="T41" fmla="*/ 318 h 421"/>
                <a:gd name="T42" fmla="*/ 139 w 391"/>
                <a:gd name="T43" fmla="*/ 309 h 421"/>
                <a:gd name="T44" fmla="*/ 159 w 391"/>
                <a:gd name="T45" fmla="*/ 303 h 421"/>
                <a:gd name="T46" fmla="*/ 181 w 391"/>
                <a:gd name="T47" fmla="*/ 301 h 421"/>
                <a:gd name="T48" fmla="*/ 201 w 391"/>
                <a:gd name="T49" fmla="*/ 303 h 421"/>
                <a:gd name="T50" fmla="*/ 222 w 391"/>
                <a:gd name="T51" fmla="*/ 309 h 421"/>
                <a:gd name="T52" fmla="*/ 240 w 391"/>
                <a:gd name="T53" fmla="*/ 318 h 421"/>
                <a:gd name="T54" fmla="*/ 255 w 391"/>
                <a:gd name="T55" fmla="*/ 331 h 421"/>
                <a:gd name="T56" fmla="*/ 268 w 391"/>
                <a:gd name="T57" fmla="*/ 347 h 421"/>
                <a:gd name="T58" fmla="*/ 277 w 391"/>
                <a:gd name="T59" fmla="*/ 366 h 421"/>
                <a:gd name="T60" fmla="*/ 284 w 391"/>
                <a:gd name="T61" fmla="*/ 385 h 421"/>
                <a:gd name="T62" fmla="*/ 286 w 391"/>
                <a:gd name="T63" fmla="*/ 406 h 421"/>
                <a:gd name="T64" fmla="*/ 285 w 391"/>
                <a:gd name="T65" fmla="*/ 421 h 421"/>
                <a:gd name="T66" fmla="*/ 379 w 391"/>
                <a:gd name="T67" fmla="*/ 420 h 421"/>
                <a:gd name="T68" fmla="*/ 385 w 391"/>
                <a:gd name="T69" fmla="*/ 418 h 421"/>
                <a:gd name="T70" fmla="*/ 389 w 391"/>
                <a:gd name="T71" fmla="*/ 415 h 421"/>
                <a:gd name="T72" fmla="*/ 391 w 391"/>
                <a:gd name="T73" fmla="*/ 410 h 421"/>
                <a:gd name="T74" fmla="*/ 391 w 391"/>
                <a:gd name="T75" fmla="*/ 15 h 421"/>
                <a:gd name="T76" fmla="*/ 390 w 391"/>
                <a:gd name="T77" fmla="*/ 8 h 421"/>
                <a:gd name="T78" fmla="*/ 387 w 391"/>
                <a:gd name="T79" fmla="*/ 4 h 421"/>
                <a:gd name="T80" fmla="*/ 382 w 391"/>
                <a:gd name="T81" fmla="*/ 1 h 421"/>
                <a:gd name="T82" fmla="*/ 376 w 391"/>
                <a:gd name="T83" fmla="*/ 0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91" h="421">
                  <a:moveTo>
                    <a:pt x="376" y="0"/>
                  </a:moveTo>
                  <a:lnTo>
                    <a:pt x="187" y="0"/>
                  </a:lnTo>
                  <a:lnTo>
                    <a:pt x="180" y="9"/>
                  </a:lnTo>
                  <a:lnTo>
                    <a:pt x="172" y="19"/>
                  </a:lnTo>
                  <a:lnTo>
                    <a:pt x="164" y="28"/>
                  </a:lnTo>
                  <a:lnTo>
                    <a:pt x="155" y="36"/>
                  </a:lnTo>
                  <a:lnTo>
                    <a:pt x="145" y="45"/>
                  </a:lnTo>
                  <a:lnTo>
                    <a:pt x="135" y="52"/>
                  </a:lnTo>
                  <a:lnTo>
                    <a:pt x="125" y="59"/>
                  </a:lnTo>
                  <a:lnTo>
                    <a:pt x="113" y="65"/>
                  </a:lnTo>
                  <a:lnTo>
                    <a:pt x="103" y="71"/>
                  </a:lnTo>
                  <a:lnTo>
                    <a:pt x="91" y="76"/>
                  </a:lnTo>
                  <a:lnTo>
                    <a:pt x="79" y="80"/>
                  </a:lnTo>
                  <a:lnTo>
                    <a:pt x="67" y="83"/>
                  </a:lnTo>
                  <a:lnTo>
                    <a:pt x="54" y="87"/>
                  </a:lnTo>
                  <a:lnTo>
                    <a:pt x="41" y="89"/>
                  </a:lnTo>
                  <a:lnTo>
                    <a:pt x="29" y="90"/>
                  </a:lnTo>
                  <a:lnTo>
                    <a:pt x="15" y="90"/>
                  </a:lnTo>
                  <a:lnTo>
                    <a:pt x="7" y="90"/>
                  </a:lnTo>
                  <a:lnTo>
                    <a:pt x="0" y="89"/>
                  </a:lnTo>
                  <a:lnTo>
                    <a:pt x="0" y="406"/>
                  </a:lnTo>
                  <a:lnTo>
                    <a:pt x="1" y="410"/>
                  </a:lnTo>
                  <a:lnTo>
                    <a:pt x="1" y="412"/>
                  </a:lnTo>
                  <a:lnTo>
                    <a:pt x="3" y="415"/>
                  </a:lnTo>
                  <a:lnTo>
                    <a:pt x="4" y="417"/>
                  </a:lnTo>
                  <a:lnTo>
                    <a:pt x="6" y="418"/>
                  </a:lnTo>
                  <a:lnTo>
                    <a:pt x="9" y="420"/>
                  </a:lnTo>
                  <a:lnTo>
                    <a:pt x="11" y="421"/>
                  </a:lnTo>
                  <a:lnTo>
                    <a:pt x="15" y="421"/>
                  </a:lnTo>
                  <a:lnTo>
                    <a:pt x="77" y="421"/>
                  </a:lnTo>
                  <a:lnTo>
                    <a:pt x="76" y="414"/>
                  </a:lnTo>
                  <a:lnTo>
                    <a:pt x="75" y="406"/>
                  </a:lnTo>
                  <a:lnTo>
                    <a:pt x="76" y="396"/>
                  </a:lnTo>
                  <a:lnTo>
                    <a:pt x="77" y="385"/>
                  </a:lnTo>
                  <a:lnTo>
                    <a:pt x="80" y="375"/>
                  </a:lnTo>
                  <a:lnTo>
                    <a:pt x="83" y="366"/>
                  </a:lnTo>
                  <a:lnTo>
                    <a:pt x="88" y="356"/>
                  </a:lnTo>
                  <a:lnTo>
                    <a:pt x="93" y="347"/>
                  </a:lnTo>
                  <a:lnTo>
                    <a:pt x="99" y="339"/>
                  </a:lnTo>
                  <a:lnTo>
                    <a:pt x="106" y="331"/>
                  </a:lnTo>
                  <a:lnTo>
                    <a:pt x="113" y="325"/>
                  </a:lnTo>
                  <a:lnTo>
                    <a:pt x="122" y="318"/>
                  </a:lnTo>
                  <a:lnTo>
                    <a:pt x="130" y="313"/>
                  </a:lnTo>
                  <a:lnTo>
                    <a:pt x="139" y="309"/>
                  </a:lnTo>
                  <a:lnTo>
                    <a:pt x="150" y="305"/>
                  </a:lnTo>
                  <a:lnTo>
                    <a:pt x="159" y="303"/>
                  </a:lnTo>
                  <a:lnTo>
                    <a:pt x="170" y="301"/>
                  </a:lnTo>
                  <a:lnTo>
                    <a:pt x="181" y="301"/>
                  </a:lnTo>
                  <a:lnTo>
                    <a:pt x="192" y="301"/>
                  </a:lnTo>
                  <a:lnTo>
                    <a:pt x="201" y="303"/>
                  </a:lnTo>
                  <a:lnTo>
                    <a:pt x="212" y="305"/>
                  </a:lnTo>
                  <a:lnTo>
                    <a:pt x="222" y="309"/>
                  </a:lnTo>
                  <a:lnTo>
                    <a:pt x="230" y="313"/>
                  </a:lnTo>
                  <a:lnTo>
                    <a:pt x="240" y="318"/>
                  </a:lnTo>
                  <a:lnTo>
                    <a:pt x="247" y="325"/>
                  </a:lnTo>
                  <a:lnTo>
                    <a:pt x="255" y="331"/>
                  </a:lnTo>
                  <a:lnTo>
                    <a:pt x="261" y="339"/>
                  </a:lnTo>
                  <a:lnTo>
                    <a:pt x="268" y="347"/>
                  </a:lnTo>
                  <a:lnTo>
                    <a:pt x="273" y="356"/>
                  </a:lnTo>
                  <a:lnTo>
                    <a:pt x="277" y="366"/>
                  </a:lnTo>
                  <a:lnTo>
                    <a:pt x="282" y="375"/>
                  </a:lnTo>
                  <a:lnTo>
                    <a:pt x="284" y="385"/>
                  </a:lnTo>
                  <a:lnTo>
                    <a:pt x="285" y="396"/>
                  </a:lnTo>
                  <a:lnTo>
                    <a:pt x="286" y="406"/>
                  </a:lnTo>
                  <a:lnTo>
                    <a:pt x="286" y="414"/>
                  </a:lnTo>
                  <a:lnTo>
                    <a:pt x="285" y="421"/>
                  </a:lnTo>
                  <a:lnTo>
                    <a:pt x="376" y="421"/>
                  </a:lnTo>
                  <a:lnTo>
                    <a:pt x="379" y="420"/>
                  </a:lnTo>
                  <a:lnTo>
                    <a:pt x="382" y="420"/>
                  </a:lnTo>
                  <a:lnTo>
                    <a:pt x="385" y="418"/>
                  </a:lnTo>
                  <a:lnTo>
                    <a:pt x="387" y="417"/>
                  </a:lnTo>
                  <a:lnTo>
                    <a:pt x="389" y="415"/>
                  </a:lnTo>
                  <a:lnTo>
                    <a:pt x="390" y="412"/>
                  </a:lnTo>
                  <a:lnTo>
                    <a:pt x="391" y="410"/>
                  </a:lnTo>
                  <a:lnTo>
                    <a:pt x="391" y="406"/>
                  </a:lnTo>
                  <a:lnTo>
                    <a:pt x="391" y="15"/>
                  </a:lnTo>
                  <a:lnTo>
                    <a:pt x="391" y="12"/>
                  </a:lnTo>
                  <a:lnTo>
                    <a:pt x="390" y="8"/>
                  </a:lnTo>
                  <a:lnTo>
                    <a:pt x="389" y="6"/>
                  </a:lnTo>
                  <a:lnTo>
                    <a:pt x="387" y="4"/>
                  </a:lnTo>
                  <a:lnTo>
                    <a:pt x="385" y="2"/>
                  </a:lnTo>
                  <a:lnTo>
                    <a:pt x="382" y="1"/>
                  </a:lnTo>
                  <a:lnTo>
                    <a:pt x="379" y="0"/>
                  </a:lnTo>
                  <a:lnTo>
                    <a:pt x="376" y="0"/>
                  </a:lnTo>
                  <a:lnTo>
                    <a:pt x="3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528">
              <a:extLst>
                <a:ext uri="{FF2B5EF4-FFF2-40B4-BE49-F238E27FC236}">
                  <a16:creationId xmlns:a16="http://schemas.microsoft.com/office/drawing/2014/main" id="{F5F10343-BB84-44FF-A6B4-AD1BD587B860}"/>
                </a:ext>
              </a:extLst>
            </p:cNvPr>
            <p:cNvSpPr>
              <a:spLocks/>
            </p:cNvSpPr>
            <p:nvPr/>
          </p:nvSpPr>
          <p:spPr bwMode="auto">
            <a:xfrm>
              <a:off x="2598738" y="2692400"/>
              <a:ext cx="47625" cy="9525"/>
            </a:xfrm>
            <a:custGeom>
              <a:avLst/>
              <a:gdLst>
                <a:gd name="T0" fmla="*/ 136 w 151"/>
                <a:gd name="T1" fmla="*/ 0 h 30"/>
                <a:gd name="T2" fmla="*/ 15 w 151"/>
                <a:gd name="T3" fmla="*/ 0 h 30"/>
                <a:gd name="T4" fmla="*/ 12 w 151"/>
                <a:gd name="T5" fmla="*/ 1 h 30"/>
                <a:gd name="T6" fmla="*/ 9 w 151"/>
                <a:gd name="T7" fmla="*/ 1 h 30"/>
                <a:gd name="T8" fmla="*/ 7 w 151"/>
                <a:gd name="T9" fmla="*/ 3 h 30"/>
                <a:gd name="T10" fmla="*/ 5 w 151"/>
                <a:gd name="T11" fmla="*/ 4 h 30"/>
                <a:gd name="T12" fmla="*/ 3 w 151"/>
                <a:gd name="T13" fmla="*/ 6 h 30"/>
                <a:gd name="T14" fmla="*/ 2 w 151"/>
                <a:gd name="T15" fmla="*/ 10 h 30"/>
                <a:gd name="T16" fmla="*/ 0 w 151"/>
                <a:gd name="T17" fmla="*/ 13 h 30"/>
                <a:gd name="T18" fmla="*/ 0 w 151"/>
                <a:gd name="T19" fmla="*/ 15 h 30"/>
                <a:gd name="T20" fmla="*/ 0 w 151"/>
                <a:gd name="T21" fmla="*/ 18 h 30"/>
                <a:gd name="T22" fmla="*/ 2 w 151"/>
                <a:gd name="T23" fmla="*/ 21 h 30"/>
                <a:gd name="T24" fmla="*/ 3 w 151"/>
                <a:gd name="T25" fmla="*/ 24 h 30"/>
                <a:gd name="T26" fmla="*/ 5 w 151"/>
                <a:gd name="T27" fmla="*/ 26 h 30"/>
                <a:gd name="T28" fmla="*/ 7 w 151"/>
                <a:gd name="T29" fmla="*/ 28 h 30"/>
                <a:gd name="T30" fmla="*/ 9 w 151"/>
                <a:gd name="T31" fmla="*/ 29 h 30"/>
                <a:gd name="T32" fmla="*/ 12 w 151"/>
                <a:gd name="T33" fmla="*/ 30 h 30"/>
                <a:gd name="T34" fmla="*/ 15 w 151"/>
                <a:gd name="T35" fmla="*/ 30 h 30"/>
                <a:gd name="T36" fmla="*/ 136 w 151"/>
                <a:gd name="T37" fmla="*/ 30 h 30"/>
                <a:gd name="T38" fmla="*/ 139 w 151"/>
                <a:gd name="T39" fmla="*/ 30 h 30"/>
                <a:gd name="T40" fmla="*/ 142 w 151"/>
                <a:gd name="T41" fmla="*/ 29 h 30"/>
                <a:gd name="T42" fmla="*/ 144 w 151"/>
                <a:gd name="T43" fmla="*/ 28 h 30"/>
                <a:gd name="T44" fmla="*/ 146 w 151"/>
                <a:gd name="T45" fmla="*/ 26 h 30"/>
                <a:gd name="T46" fmla="*/ 148 w 151"/>
                <a:gd name="T47" fmla="*/ 24 h 30"/>
                <a:gd name="T48" fmla="*/ 150 w 151"/>
                <a:gd name="T49" fmla="*/ 21 h 30"/>
                <a:gd name="T50" fmla="*/ 151 w 151"/>
                <a:gd name="T51" fmla="*/ 18 h 30"/>
                <a:gd name="T52" fmla="*/ 151 w 151"/>
                <a:gd name="T53" fmla="*/ 15 h 30"/>
                <a:gd name="T54" fmla="*/ 151 w 151"/>
                <a:gd name="T55" fmla="*/ 13 h 30"/>
                <a:gd name="T56" fmla="*/ 150 w 151"/>
                <a:gd name="T57" fmla="*/ 10 h 30"/>
                <a:gd name="T58" fmla="*/ 148 w 151"/>
                <a:gd name="T59" fmla="*/ 8 h 30"/>
                <a:gd name="T60" fmla="*/ 146 w 151"/>
                <a:gd name="T61" fmla="*/ 4 h 30"/>
                <a:gd name="T62" fmla="*/ 144 w 151"/>
                <a:gd name="T63" fmla="*/ 3 h 30"/>
                <a:gd name="T64" fmla="*/ 142 w 151"/>
                <a:gd name="T65" fmla="*/ 1 h 30"/>
                <a:gd name="T66" fmla="*/ 139 w 151"/>
                <a:gd name="T67" fmla="*/ 1 h 30"/>
                <a:gd name="T68" fmla="*/ 136 w 151"/>
                <a:gd name="T6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1" h="30">
                  <a:moveTo>
                    <a:pt x="136" y="0"/>
                  </a:moveTo>
                  <a:lnTo>
                    <a:pt x="15" y="0"/>
                  </a:lnTo>
                  <a:lnTo>
                    <a:pt x="12" y="1"/>
                  </a:lnTo>
                  <a:lnTo>
                    <a:pt x="9" y="1"/>
                  </a:lnTo>
                  <a:lnTo>
                    <a:pt x="7" y="3"/>
                  </a:lnTo>
                  <a:lnTo>
                    <a:pt x="5" y="4"/>
                  </a:lnTo>
                  <a:lnTo>
                    <a:pt x="3" y="6"/>
                  </a:lnTo>
                  <a:lnTo>
                    <a:pt x="2" y="10"/>
                  </a:lnTo>
                  <a:lnTo>
                    <a:pt x="0" y="13"/>
                  </a:lnTo>
                  <a:lnTo>
                    <a:pt x="0" y="15"/>
                  </a:lnTo>
                  <a:lnTo>
                    <a:pt x="0" y="18"/>
                  </a:lnTo>
                  <a:lnTo>
                    <a:pt x="2" y="21"/>
                  </a:lnTo>
                  <a:lnTo>
                    <a:pt x="3" y="24"/>
                  </a:lnTo>
                  <a:lnTo>
                    <a:pt x="5" y="26"/>
                  </a:lnTo>
                  <a:lnTo>
                    <a:pt x="7" y="28"/>
                  </a:lnTo>
                  <a:lnTo>
                    <a:pt x="9" y="29"/>
                  </a:lnTo>
                  <a:lnTo>
                    <a:pt x="12" y="30"/>
                  </a:lnTo>
                  <a:lnTo>
                    <a:pt x="15" y="30"/>
                  </a:lnTo>
                  <a:lnTo>
                    <a:pt x="136" y="30"/>
                  </a:lnTo>
                  <a:lnTo>
                    <a:pt x="139" y="30"/>
                  </a:lnTo>
                  <a:lnTo>
                    <a:pt x="142" y="29"/>
                  </a:lnTo>
                  <a:lnTo>
                    <a:pt x="144" y="28"/>
                  </a:lnTo>
                  <a:lnTo>
                    <a:pt x="146" y="26"/>
                  </a:lnTo>
                  <a:lnTo>
                    <a:pt x="148" y="24"/>
                  </a:lnTo>
                  <a:lnTo>
                    <a:pt x="150" y="21"/>
                  </a:lnTo>
                  <a:lnTo>
                    <a:pt x="151" y="18"/>
                  </a:lnTo>
                  <a:lnTo>
                    <a:pt x="151" y="15"/>
                  </a:lnTo>
                  <a:lnTo>
                    <a:pt x="151" y="13"/>
                  </a:lnTo>
                  <a:lnTo>
                    <a:pt x="150" y="10"/>
                  </a:lnTo>
                  <a:lnTo>
                    <a:pt x="148" y="8"/>
                  </a:lnTo>
                  <a:lnTo>
                    <a:pt x="146" y="4"/>
                  </a:lnTo>
                  <a:lnTo>
                    <a:pt x="144" y="3"/>
                  </a:lnTo>
                  <a:lnTo>
                    <a:pt x="142" y="1"/>
                  </a:lnTo>
                  <a:lnTo>
                    <a:pt x="139" y="1"/>
                  </a:lnTo>
                  <a:lnTo>
                    <a:pt x="13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529">
              <a:extLst>
                <a:ext uri="{FF2B5EF4-FFF2-40B4-BE49-F238E27FC236}">
                  <a16:creationId xmlns:a16="http://schemas.microsoft.com/office/drawing/2014/main" id="{E9EE7B6F-1201-46D8-98D2-FAC0A6E1447F}"/>
                </a:ext>
              </a:extLst>
            </p:cNvPr>
            <p:cNvSpPr>
              <a:spLocks/>
            </p:cNvSpPr>
            <p:nvPr/>
          </p:nvSpPr>
          <p:spPr bwMode="auto">
            <a:xfrm>
              <a:off x="2617788" y="2711450"/>
              <a:ext cx="28575" cy="11113"/>
            </a:xfrm>
            <a:custGeom>
              <a:avLst/>
              <a:gdLst>
                <a:gd name="T0" fmla="*/ 76 w 91"/>
                <a:gd name="T1" fmla="*/ 0 h 31"/>
                <a:gd name="T2" fmla="*/ 16 w 91"/>
                <a:gd name="T3" fmla="*/ 0 h 31"/>
                <a:gd name="T4" fmla="*/ 12 w 91"/>
                <a:gd name="T5" fmla="*/ 1 h 31"/>
                <a:gd name="T6" fmla="*/ 10 w 91"/>
                <a:gd name="T7" fmla="*/ 1 h 31"/>
                <a:gd name="T8" fmla="*/ 7 w 91"/>
                <a:gd name="T9" fmla="*/ 3 h 31"/>
                <a:gd name="T10" fmla="*/ 5 w 91"/>
                <a:gd name="T11" fmla="*/ 5 h 31"/>
                <a:gd name="T12" fmla="*/ 3 w 91"/>
                <a:gd name="T13" fmla="*/ 8 h 31"/>
                <a:gd name="T14" fmla="*/ 2 w 91"/>
                <a:gd name="T15" fmla="*/ 10 h 31"/>
                <a:gd name="T16" fmla="*/ 0 w 91"/>
                <a:gd name="T17" fmla="*/ 13 h 31"/>
                <a:gd name="T18" fmla="*/ 0 w 91"/>
                <a:gd name="T19" fmla="*/ 15 h 31"/>
                <a:gd name="T20" fmla="*/ 0 w 91"/>
                <a:gd name="T21" fmla="*/ 18 h 31"/>
                <a:gd name="T22" fmla="*/ 2 w 91"/>
                <a:gd name="T23" fmla="*/ 22 h 31"/>
                <a:gd name="T24" fmla="*/ 3 w 91"/>
                <a:gd name="T25" fmla="*/ 24 h 31"/>
                <a:gd name="T26" fmla="*/ 5 w 91"/>
                <a:gd name="T27" fmla="*/ 26 h 31"/>
                <a:gd name="T28" fmla="*/ 7 w 91"/>
                <a:gd name="T29" fmla="*/ 28 h 31"/>
                <a:gd name="T30" fmla="*/ 10 w 91"/>
                <a:gd name="T31" fmla="*/ 29 h 31"/>
                <a:gd name="T32" fmla="*/ 12 w 91"/>
                <a:gd name="T33" fmla="*/ 30 h 31"/>
                <a:gd name="T34" fmla="*/ 16 w 91"/>
                <a:gd name="T35" fmla="*/ 31 h 31"/>
                <a:gd name="T36" fmla="*/ 76 w 91"/>
                <a:gd name="T37" fmla="*/ 31 h 31"/>
                <a:gd name="T38" fmla="*/ 79 w 91"/>
                <a:gd name="T39" fmla="*/ 30 h 31"/>
                <a:gd name="T40" fmla="*/ 82 w 91"/>
                <a:gd name="T41" fmla="*/ 29 h 31"/>
                <a:gd name="T42" fmla="*/ 84 w 91"/>
                <a:gd name="T43" fmla="*/ 28 h 31"/>
                <a:gd name="T44" fmla="*/ 86 w 91"/>
                <a:gd name="T45" fmla="*/ 26 h 31"/>
                <a:gd name="T46" fmla="*/ 88 w 91"/>
                <a:gd name="T47" fmla="*/ 24 h 31"/>
                <a:gd name="T48" fmla="*/ 90 w 91"/>
                <a:gd name="T49" fmla="*/ 22 h 31"/>
                <a:gd name="T50" fmla="*/ 91 w 91"/>
                <a:gd name="T51" fmla="*/ 18 h 31"/>
                <a:gd name="T52" fmla="*/ 91 w 91"/>
                <a:gd name="T53" fmla="*/ 15 h 31"/>
                <a:gd name="T54" fmla="*/ 91 w 91"/>
                <a:gd name="T55" fmla="*/ 13 h 31"/>
                <a:gd name="T56" fmla="*/ 90 w 91"/>
                <a:gd name="T57" fmla="*/ 10 h 31"/>
                <a:gd name="T58" fmla="*/ 88 w 91"/>
                <a:gd name="T59" fmla="*/ 8 h 31"/>
                <a:gd name="T60" fmla="*/ 86 w 91"/>
                <a:gd name="T61" fmla="*/ 5 h 31"/>
                <a:gd name="T62" fmla="*/ 84 w 91"/>
                <a:gd name="T63" fmla="*/ 3 h 31"/>
                <a:gd name="T64" fmla="*/ 82 w 91"/>
                <a:gd name="T65" fmla="*/ 2 h 31"/>
                <a:gd name="T66" fmla="*/ 79 w 91"/>
                <a:gd name="T67" fmla="*/ 1 h 31"/>
                <a:gd name="T68" fmla="*/ 76 w 91"/>
                <a:gd name="T69" fmla="*/ 0 h 31"/>
                <a:gd name="T70" fmla="*/ 76 w 91"/>
                <a:gd name="T71"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1" h="31">
                  <a:moveTo>
                    <a:pt x="76" y="0"/>
                  </a:moveTo>
                  <a:lnTo>
                    <a:pt x="16" y="0"/>
                  </a:lnTo>
                  <a:lnTo>
                    <a:pt x="12" y="1"/>
                  </a:lnTo>
                  <a:lnTo>
                    <a:pt x="10" y="1"/>
                  </a:lnTo>
                  <a:lnTo>
                    <a:pt x="7" y="3"/>
                  </a:lnTo>
                  <a:lnTo>
                    <a:pt x="5" y="5"/>
                  </a:lnTo>
                  <a:lnTo>
                    <a:pt x="3" y="8"/>
                  </a:lnTo>
                  <a:lnTo>
                    <a:pt x="2" y="10"/>
                  </a:lnTo>
                  <a:lnTo>
                    <a:pt x="0" y="13"/>
                  </a:lnTo>
                  <a:lnTo>
                    <a:pt x="0" y="15"/>
                  </a:lnTo>
                  <a:lnTo>
                    <a:pt x="0" y="18"/>
                  </a:lnTo>
                  <a:lnTo>
                    <a:pt x="2" y="22"/>
                  </a:lnTo>
                  <a:lnTo>
                    <a:pt x="3" y="24"/>
                  </a:lnTo>
                  <a:lnTo>
                    <a:pt x="5" y="26"/>
                  </a:lnTo>
                  <a:lnTo>
                    <a:pt x="7" y="28"/>
                  </a:lnTo>
                  <a:lnTo>
                    <a:pt x="10" y="29"/>
                  </a:lnTo>
                  <a:lnTo>
                    <a:pt x="12" y="30"/>
                  </a:lnTo>
                  <a:lnTo>
                    <a:pt x="16" y="31"/>
                  </a:lnTo>
                  <a:lnTo>
                    <a:pt x="76" y="31"/>
                  </a:lnTo>
                  <a:lnTo>
                    <a:pt x="79" y="30"/>
                  </a:lnTo>
                  <a:lnTo>
                    <a:pt x="82" y="29"/>
                  </a:lnTo>
                  <a:lnTo>
                    <a:pt x="84" y="28"/>
                  </a:lnTo>
                  <a:lnTo>
                    <a:pt x="86" y="26"/>
                  </a:lnTo>
                  <a:lnTo>
                    <a:pt x="88" y="24"/>
                  </a:lnTo>
                  <a:lnTo>
                    <a:pt x="90" y="22"/>
                  </a:lnTo>
                  <a:lnTo>
                    <a:pt x="91" y="18"/>
                  </a:lnTo>
                  <a:lnTo>
                    <a:pt x="91" y="15"/>
                  </a:lnTo>
                  <a:lnTo>
                    <a:pt x="91" y="13"/>
                  </a:lnTo>
                  <a:lnTo>
                    <a:pt x="90" y="10"/>
                  </a:lnTo>
                  <a:lnTo>
                    <a:pt x="88" y="8"/>
                  </a:lnTo>
                  <a:lnTo>
                    <a:pt x="86" y="5"/>
                  </a:lnTo>
                  <a:lnTo>
                    <a:pt x="84" y="3"/>
                  </a:lnTo>
                  <a:lnTo>
                    <a:pt x="82" y="2"/>
                  </a:lnTo>
                  <a:lnTo>
                    <a:pt x="79" y="1"/>
                  </a:lnTo>
                  <a:lnTo>
                    <a:pt x="76" y="0"/>
                  </a:ln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Freeform 530">
              <a:extLst>
                <a:ext uri="{FF2B5EF4-FFF2-40B4-BE49-F238E27FC236}">
                  <a16:creationId xmlns:a16="http://schemas.microsoft.com/office/drawing/2014/main" id="{279771BB-5530-4821-80BC-30EBC2B6F998}"/>
                </a:ext>
              </a:extLst>
            </p:cNvPr>
            <p:cNvSpPr>
              <a:spLocks/>
            </p:cNvSpPr>
            <p:nvPr/>
          </p:nvSpPr>
          <p:spPr bwMode="auto">
            <a:xfrm>
              <a:off x="2627313" y="2732088"/>
              <a:ext cx="19050" cy="9525"/>
            </a:xfrm>
            <a:custGeom>
              <a:avLst/>
              <a:gdLst>
                <a:gd name="T0" fmla="*/ 45 w 60"/>
                <a:gd name="T1" fmla="*/ 0 h 30"/>
                <a:gd name="T2" fmla="*/ 15 w 60"/>
                <a:gd name="T3" fmla="*/ 0 h 30"/>
                <a:gd name="T4" fmla="*/ 11 w 60"/>
                <a:gd name="T5" fmla="*/ 0 h 30"/>
                <a:gd name="T6" fmla="*/ 9 w 60"/>
                <a:gd name="T7" fmla="*/ 1 h 30"/>
                <a:gd name="T8" fmla="*/ 6 w 60"/>
                <a:gd name="T9" fmla="*/ 2 h 30"/>
                <a:gd name="T10" fmla="*/ 4 w 60"/>
                <a:gd name="T11" fmla="*/ 5 h 30"/>
                <a:gd name="T12" fmla="*/ 2 w 60"/>
                <a:gd name="T13" fmla="*/ 7 h 30"/>
                <a:gd name="T14" fmla="*/ 1 w 60"/>
                <a:gd name="T15" fmla="*/ 9 h 30"/>
                <a:gd name="T16" fmla="*/ 0 w 60"/>
                <a:gd name="T17" fmla="*/ 12 h 30"/>
                <a:gd name="T18" fmla="*/ 0 w 60"/>
                <a:gd name="T19" fmla="*/ 15 h 30"/>
                <a:gd name="T20" fmla="*/ 0 w 60"/>
                <a:gd name="T21" fmla="*/ 17 h 30"/>
                <a:gd name="T22" fmla="*/ 1 w 60"/>
                <a:gd name="T23" fmla="*/ 21 h 30"/>
                <a:gd name="T24" fmla="*/ 2 w 60"/>
                <a:gd name="T25" fmla="*/ 23 h 30"/>
                <a:gd name="T26" fmla="*/ 4 w 60"/>
                <a:gd name="T27" fmla="*/ 26 h 30"/>
                <a:gd name="T28" fmla="*/ 6 w 60"/>
                <a:gd name="T29" fmla="*/ 27 h 30"/>
                <a:gd name="T30" fmla="*/ 9 w 60"/>
                <a:gd name="T31" fmla="*/ 29 h 30"/>
                <a:gd name="T32" fmla="*/ 11 w 60"/>
                <a:gd name="T33" fmla="*/ 29 h 30"/>
                <a:gd name="T34" fmla="*/ 15 w 60"/>
                <a:gd name="T35" fmla="*/ 30 h 30"/>
                <a:gd name="T36" fmla="*/ 45 w 60"/>
                <a:gd name="T37" fmla="*/ 30 h 30"/>
                <a:gd name="T38" fmla="*/ 48 w 60"/>
                <a:gd name="T39" fmla="*/ 29 h 30"/>
                <a:gd name="T40" fmla="*/ 51 w 60"/>
                <a:gd name="T41" fmla="*/ 29 h 30"/>
                <a:gd name="T42" fmla="*/ 53 w 60"/>
                <a:gd name="T43" fmla="*/ 27 h 30"/>
                <a:gd name="T44" fmla="*/ 55 w 60"/>
                <a:gd name="T45" fmla="*/ 26 h 30"/>
                <a:gd name="T46" fmla="*/ 57 w 60"/>
                <a:gd name="T47" fmla="*/ 23 h 30"/>
                <a:gd name="T48" fmla="*/ 59 w 60"/>
                <a:gd name="T49" fmla="*/ 21 h 30"/>
                <a:gd name="T50" fmla="*/ 60 w 60"/>
                <a:gd name="T51" fmla="*/ 17 h 30"/>
                <a:gd name="T52" fmla="*/ 60 w 60"/>
                <a:gd name="T53" fmla="*/ 15 h 30"/>
                <a:gd name="T54" fmla="*/ 60 w 60"/>
                <a:gd name="T55" fmla="*/ 12 h 30"/>
                <a:gd name="T56" fmla="*/ 59 w 60"/>
                <a:gd name="T57" fmla="*/ 9 h 30"/>
                <a:gd name="T58" fmla="*/ 57 w 60"/>
                <a:gd name="T59" fmla="*/ 7 h 30"/>
                <a:gd name="T60" fmla="*/ 55 w 60"/>
                <a:gd name="T61" fmla="*/ 5 h 30"/>
                <a:gd name="T62" fmla="*/ 53 w 60"/>
                <a:gd name="T63" fmla="*/ 2 h 30"/>
                <a:gd name="T64" fmla="*/ 51 w 60"/>
                <a:gd name="T65" fmla="*/ 1 h 30"/>
                <a:gd name="T66" fmla="*/ 48 w 60"/>
                <a:gd name="T67" fmla="*/ 0 h 30"/>
                <a:gd name="T68" fmla="*/ 45 w 60"/>
                <a:gd name="T6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 h="30">
                  <a:moveTo>
                    <a:pt x="45" y="0"/>
                  </a:moveTo>
                  <a:lnTo>
                    <a:pt x="15" y="0"/>
                  </a:lnTo>
                  <a:lnTo>
                    <a:pt x="11" y="0"/>
                  </a:lnTo>
                  <a:lnTo>
                    <a:pt x="9" y="1"/>
                  </a:lnTo>
                  <a:lnTo>
                    <a:pt x="6" y="2"/>
                  </a:lnTo>
                  <a:lnTo>
                    <a:pt x="4" y="5"/>
                  </a:lnTo>
                  <a:lnTo>
                    <a:pt x="2" y="7"/>
                  </a:lnTo>
                  <a:lnTo>
                    <a:pt x="1" y="9"/>
                  </a:lnTo>
                  <a:lnTo>
                    <a:pt x="0" y="12"/>
                  </a:lnTo>
                  <a:lnTo>
                    <a:pt x="0" y="15"/>
                  </a:lnTo>
                  <a:lnTo>
                    <a:pt x="0" y="17"/>
                  </a:lnTo>
                  <a:lnTo>
                    <a:pt x="1" y="21"/>
                  </a:lnTo>
                  <a:lnTo>
                    <a:pt x="2" y="23"/>
                  </a:lnTo>
                  <a:lnTo>
                    <a:pt x="4" y="26"/>
                  </a:lnTo>
                  <a:lnTo>
                    <a:pt x="6" y="27"/>
                  </a:lnTo>
                  <a:lnTo>
                    <a:pt x="9" y="29"/>
                  </a:lnTo>
                  <a:lnTo>
                    <a:pt x="11" y="29"/>
                  </a:lnTo>
                  <a:lnTo>
                    <a:pt x="15" y="30"/>
                  </a:lnTo>
                  <a:lnTo>
                    <a:pt x="45" y="30"/>
                  </a:lnTo>
                  <a:lnTo>
                    <a:pt x="48" y="29"/>
                  </a:lnTo>
                  <a:lnTo>
                    <a:pt x="51" y="29"/>
                  </a:lnTo>
                  <a:lnTo>
                    <a:pt x="53" y="27"/>
                  </a:lnTo>
                  <a:lnTo>
                    <a:pt x="55" y="26"/>
                  </a:lnTo>
                  <a:lnTo>
                    <a:pt x="57" y="23"/>
                  </a:lnTo>
                  <a:lnTo>
                    <a:pt x="59" y="21"/>
                  </a:lnTo>
                  <a:lnTo>
                    <a:pt x="60" y="17"/>
                  </a:lnTo>
                  <a:lnTo>
                    <a:pt x="60" y="15"/>
                  </a:lnTo>
                  <a:lnTo>
                    <a:pt x="60" y="12"/>
                  </a:lnTo>
                  <a:lnTo>
                    <a:pt x="59" y="9"/>
                  </a:lnTo>
                  <a:lnTo>
                    <a:pt x="57" y="7"/>
                  </a:lnTo>
                  <a:lnTo>
                    <a:pt x="55" y="5"/>
                  </a:lnTo>
                  <a:lnTo>
                    <a:pt x="53" y="2"/>
                  </a:lnTo>
                  <a:lnTo>
                    <a:pt x="51" y="1"/>
                  </a:lnTo>
                  <a:lnTo>
                    <a:pt x="48" y="0"/>
                  </a:lnTo>
                  <a:lnTo>
                    <a:pt x="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531">
              <a:extLst>
                <a:ext uri="{FF2B5EF4-FFF2-40B4-BE49-F238E27FC236}">
                  <a16:creationId xmlns:a16="http://schemas.microsoft.com/office/drawing/2014/main" id="{BDB2903B-9562-441F-98F4-D2B894A2A774}"/>
                </a:ext>
              </a:extLst>
            </p:cNvPr>
            <p:cNvSpPr>
              <a:spLocks noEditPoints="1"/>
            </p:cNvSpPr>
            <p:nvPr/>
          </p:nvSpPr>
          <p:spPr bwMode="auto">
            <a:xfrm>
              <a:off x="2603500" y="2530475"/>
              <a:ext cx="114300" cy="114300"/>
            </a:xfrm>
            <a:custGeom>
              <a:avLst/>
              <a:gdLst>
                <a:gd name="T0" fmla="*/ 167 w 362"/>
                <a:gd name="T1" fmla="*/ 103 h 362"/>
                <a:gd name="T2" fmla="*/ 169 w 362"/>
                <a:gd name="T3" fmla="*/ 98 h 362"/>
                <a:gd name="T4" fmla="*/ 172 w 362"/>
                <a:gd name="T5" fmla="*/ 94 h 362"/>
                <a:gd name="T6" fmla="*/ 177 w 362"/>
                <a:gd name="T7" fmla="*/ 92 h 362"/>
                <a:gd name="T8" fmla="*/ 184 w 362"/>
                <a:gd name="T9" fmla="*/ 92 h 362"/>
                <a:gd name="T10" fmla="*/ 189 w 362"/>
                <a:gd name="T11" fmla="*/ 94 h 362"/>
                <a:gd name="T12" fmla="*/ 193 w 362"/>
                <a:gd name="T13" fmla="*/ 98 h 362"/>
                <a:gd name="T14" fmla="*/ 196 w 362"/>
                <a:gd name="T15" fmla="*/ 103 h 362"/>
                <a:gd name="T16" fmla="*/ 196 w 362"/>
                <a:gd name="T17" fmla="*/ 181 h 362"/>
                <a:gd name="T18" fmla="*/ 244 w 362"/>
                <a:gd name="T19" fmla="*/ 182 h 362"/>
                <a:gd name="T20" fmla="*/ 249 w 362"/>
                <a:gd name="T21" fmla="*/ 184 h 362"/>
                <a:gd name="T22" fmla="*/ 254 w 362"/>
                <a:gd name="T23" fmla="*/ 188 h 362"/>
                <a:gd name="T24" fmla="*/ 256 w 362"/>
                <a:gd name="T25" fmla="*/ 193 h 362"/>
                <a:gd name="T26" fmla="*/ 256 w 362"/>
                <a:gd name="T27" fmla="*/ 199 h 362"/>
                <a:gd name="T28" fmla="*/ 254 w 362"/>
                <a:gd name="T29" fmla="*/ 204 h 362"/>
                <a:gd name="T30" fmla="*/ 249 w 362"/>
                <a:gd name="T31" fmla="*/ 208 h 362"/>
                <a:gd name="T32" fmla="*/ 244 w 362"/>
                <a:gd name="T33" fmla="*/ 211 h 362"/>
                <a:gd name="T34" fmla="*/ 181 w 362"/>
                <a:gd name="T35" fmla="*/ 212 h 362"/>
                <a:gd name="T36" fmla="*/ 175 w 362"/>
                <a:gd name="T37" fmla="*/ 211 h 362"/>
                <a:gd name="T38" fmla="*/ 170 w 362"/>
                <a:gd name="T39" fmla="*/ 206 h 362"/>
                <a:gd name="T40" fmla="*/ 167 w 362"/>
                <a:gd name="T41" fmla="*/ 202 h 362"/>
                <a:gd name="T42" fmla="*/ 166 w 362"/>
                <a:gd name="T43" fmla="*/ 197 h 362"/>
                <a:gd name="T44" fmla="*/ 181 w 362"/>
                <a:gd name="T45" fmla="*/ 362 h 362"/>
                <a:gd name="T46" fmla="*/ 217 w 362"/>
                <a:gd name="T47" fmla="*/ 359 h 362"/>
                <a:gd name="T48" fmla="*/ 251 w 362"/>
                <a:gd name="T49" fmla="*/ 348 h 362"/>
                <a:gd name="T50" fmla="*/ 281 w 362"/>
                <a:gd name="T51" fmla="*/ 331 h 362"/>
                <a:gd name="T52" fmla="*/ 308 w 362"/>
                <a:gd name="T53" fmla="*/ 309 h 362"/>
                <a:gd name="T54" fmla="*/ 331 w 362"/>
                <a:gd name="T55" fmla="*/ 282 h 362"/>
                <a:gd name="T56" fmla="*/ 347 w 362"/>
                <a:gd name="T57" fmla="*/ 251 h 362"/>
                <a:gd name="T58" fmla="*/ 358 w 362"/>
                <a:gd name="T59" fmla="*/ 217 h 362"/>
                <a:gd name="T60" fmla="*/ 362 w 362"/>
                <a:gd name="T61" fmla="*/ 182 h 362"/>
                <a:gd name="T62" fmla="*/ 358 w 362"/>
                <a:gd name="T63" fmla="*/ 145 h 362"/>
                <a:gd name="T64" fmla="*/ 347 w 362"/>
                <a:gd name="T65" fmla="*/ 111 h 362"/>
                <a:gd name="T66" fmla="*/ 331 w 362"/>
                <a:gd name="T67" fmla="*/ 80 h 362"/>
                <a:gd name="T68" fmla="*/ 308 w 362"/>
                <a:gd name="T69" fmla="*/ 53 h 362"/>
                <a:gd name="T70" fmla="*/ 281 w 362"/>
                <a:gd name="T71" fmla="*/ 31 h 362"/>
                <a:gd name="T72" fmla="*/ 251 w 362"/>
                <a:gd name="T73" fmla="*/ 14 h 362"/>
                <a:gd name="T74" fmla="*/ 217 w 362"/>
                <a:gd name="T75" fmla="*/ 5 h 362"/>
                <a:gd name="T76" fmla="*/ 181 w 362"/>
                <a:gd name="T77" fmla="*/ 0 h 362"/>
                <a:gd name="T78" fmla="*/ 144 w 362"/>
                <a:gd name="T79" fmla="*/ 5 h 362"/>
                <a:gd name="T80" fmla="*/ 111 w 362"/>
                <a:gd name="T81" fmla="*/ 14 h 362"/>
                <a:gd name="T82" fmla="*/ 80 w 362"/>
                <a:gd name="T83" fmla="*/ 31 h 362"/>
                <a:gd name="T84" fmla="*/ 53 w 362"/>
                <a:gd name="T85" fmla="*/ 53 h 362"/>
                <a:gd name="T86" fmla="*/ 32 w 362"/>
                <a:gd name="T87" fmla="*/ 80 h 362"/>
                <a:gd name="T88" fmla="*/ 14 w 362"/>
                <a:gd name="T89" fmla="*/ 111 h 362"/>
                <a:gd name="T90" fmla="*/ 4 w 362"/>
                <a:gd name="T91" fmla="*/ 145 h 362"/>
                <a:gd name="T92" fmla="*/ 0 w 362"/>
                <a:gd name="T93" fmla="*/ 182 h 362"/>
                <a:gd name="T94" fmla="*/ 4 w 362"/>
                <a:gd name="T95" fmla="*/ 217 h 362"/>
                <a:gd name="T96" fmla="*/ 14 w 362"/>
                <a:gd name="T97" fmla="*/ 251 h 362"/>
                <a:gd name="T98" fmla="*/ 32 w 362"/>
                <a:gd name="T99" fmla="*/ 282 h 362"/>
                <a:gd name="T100" fmla="*/ 53 w 362"/>
                <a:gd name="T101" fmla="*/ 309 h 362"/>
                <a:gd name="T102" fmla="*/ 80 w 362"/>
                <a:gd name="T103" fmla="*/ 331 h 362"/>
                <a:gd name="T104" fmla="*/ 111 w 362"/>
                <a:gd name="T105" fmla="*/ 348 h 362"/>
                <a:gd name="T106" fmla="*/ 144 w 362"/>
                <a:gd name="T107" fmla="*/ 359 h 362"/>
                <a:gd name="T108" fmla="*/ 181 w 362"/>
                <a:gd name="T109" fmla="*/ 36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2" h="362">
                  <a:moveTo>
                    <a:pt x="166" y="105"/>
                  </a:moveTo>
                  <a:lnTo>
                    <a:pt x="167" y="103"/>
                  </a:lnTo>
                  <a:lnTo>
                    <a:pt x="167" y="100"/>
                  </a:lnTo>
                  <a:lnTo>
                    <a:pt x="169" y="98"/>
                  </a:lnTo>
                  <a:lnTo>
                    <a:pt x="170" y="95"/>
                  </a:lnTo>
                  <a:lnTo>
                    <a:pt x="172" y="94"/>
                  </a:lnTo>
                  <a:lnTo>
                    <a:pt x="175" y="92"/>
                  </a:lnTo>
                  <a:lnTo>
                    <a:pt x="177" y="92"/>
                  </a:lnTo>
                  <a:lnTo>
                    <a:pt x="181" y="90"/>
                  </a:lnTo>
                  <a:lnTo>
                    <a:pt x="184" y="92"/>
                  </a:lnTo>
                  <a:lnTo>
                    <a:pt x="187" y="92"/>
                  </a:lnTo>
                  <a:lnTo>
                    <a:pt x="189" y="94"/>
                  </a:lnTo>
                  <a:lnTo>
                    <a:pt x="191" y="95"/>
                  </a:lnTo>
                  <a:lnTo>
                    <a:pt x="193" y="98"/>
                  </a:lnTo>
                  <a:lnTo>
                    <a:pt x="195" y="100"/>
                  </a:lnTo>
                  <a:lnTo>
                    <a:pt x="196" y="103"/>
                  </a:lnTo>
                  <a:lnTo>
                    <a:pt x="196" y="105"/>
                  </a:lnTo>
                  <a:lnTo>
                    <a:pt x="196" y="181"/>
                  </a:lnTo>
                  <a:lnTo>
                    <a:pt x="241" y="181"/>
                  </a:lnTo>
                  <a:lnTo>
                    <a:pt x="244" y="182"/>
                  </a:lnTo>
                  <a:lnTo>
                    <a:pt x="247" y="183"/>
                  </a:lnTo>
                  <a:lnTo>
                    <a:pt x="249" y="184"/>
                  </a:lnTo>
                  <a:lnTo>
                    <a:pt x="251" y="186"/>
                  </a:lnTo>
                  <a:lnTo>
                    <a:pt x="254" y="188"/>
                  </a:lnTo>
                  <a:lnTo>
                    <a:pt x="255" y="190"/>
                  </a:lnTo>
                  <a:lnTo>
                    <a:pt x="256" y="193"/>
                  </a:lnTo>
                  <a:lnTo>
                    <a:pt x="256" y="197"/>
                  </a:lnTo>
                  <a:lnTo>
                    <a:pt x="256" y="199"/>
                  </a:lnTo>
                  <a:lnTo>
                    <a:pt x="255" y="202"/>
                  </a:lnTo>
                  <a:lnTo>
                    <a:pt x="254" y="204"/>
                  </a:lnTo>
                  <a:lnTo>
                    <a:pt x="251" y="206"/>
                  </a:lnTo>
                  <a:lnTo>
                    <a:pt x="249" y="208"/>
                  </a:lnTo>
                  <a:lnTo>
                    <a:pt x="247" y="211"/>
                  </a:lnTo>
                  <a:lnTo>
                    <a:pt x="244" y="211"/>
                  </a:lnTo>
                  <a:lnTo>
                    <a:pt x="241" y="212"/>
                  </a:lnTo>
                  <a:lnTo>
                    <a:pt x="181" y="212"/>
                  </a:lnTo>
                  <a:lnTo>
                    <a:pt x="177" y="211"/>
                  </a:lnTo>
                  <a:lnTo>
                    <a:pt x="175" y="211"/>
                  </a:lnTo>
                  <a:lnTo>
                    <a:pt x="172" y="208"/>
                  </a:lnTo>
                  <a:lnTo>
                    <a:pt x="170" y="206"/>
                  </a:lnTo>
                  <a:lnTo>
                    <a:pt x="169" y="204"/>
                  </a:lnTo>
                  <a:lnTo>
                    <a:pt x="167" y="202"/>
                  </a:lnTo>
                  <a:lnTo>
                    <a:pt x="167" y="199"/>
                  </a:lnTo>
                  <a:lnTo>
                    <a:pt x="166" y="197"/>
                  </a:lnTo>
                  <a:lnTo>
                    <a:pt x="166" y="105"/>
                  </a:lnTo>
                  <a:close/>
                  <a:moveTo>
                    <a:pt x="181" y="362"/>
                  </a:moveTo>
                  <a:lnTo>
                    <a:pt x="200" y="361"/>
                  </a:lnTo>
                  <a:lnTo>
                    <a:pt x="217" y="359"/>
                  </a:lnTo>
                  <a:lnTo>
                    <a:pt x="234" y="353"/>
                  </a:lnTo>
                  <a:lnTo>
                    <a:pt x="251" y="348"/>
                  </a:lnTo>
                  <a:lnTo>
                    <a:pt x="268" y="340"/>
                  </a:lnTo>
                  <a:lnTo>
                    <a:pt x="281" y="331"/>
                  </a:lnTo>
                  <a:lnTo>
                    <a:pt x="295" y="320"/>
                  </a:lnTo>
                  <a:lnTo>
                    <a:pt x="308" y="309"/>
                  </a:lnTo>
                  <a:lnTo>
                    <a:pt x="320" y="296"/>
                  </a:lnTo>
                  <a:lnTo>
                    <a:pt x="331" y="282"/>
                  </a:lnTo>
                  <a:lnTo>
                    <a:pt x="339" y="267"/>
                  </a:lnTo>
                  <a:lnTo>
                    <a:pt x="347" y="251"/>
                  </a:lnTo>
                  <a:lnTo>
                    <a:pt x="353" y="235"/>
                  </a:lnTo>
                  <a:lnTo>
                    <a:pt x="358" y="217"/>
                  </a:lnTo>
                  <a:lnTo>
                    <a:pt x="361" y="200"/>
                  </a:lnTo>
                  <a:lnTo>
                    <a:pt x="362" y="182"/>
                  </a:lnTo>
                  <a:lnTo>
                    <a:pt x="361" y="162"/>
                  </a:lnTo>
                  <a:lnTo>
                    <a:pt x="358" y="145"/>
                  </a:lnTo>
                  <a:lnTo>
                    <a:pt x="353" y="127"/>
                  </a:lnTo>
                  <a:lnTo>
                    <a:pt x="347" y="111"/>
                  </a:lnTo>
                  <a:lnTo>
                    <a:pt x="339" y="95"/>
                  </a:lnTo>
                  <a:lnTo>
                    <a:pt x="331" y="80"/>
                  </a:lnTo>
                  <a:lnTo>
                    <a:pt x="320" y="66"/>
                  </a:lnTo>
                  <a:lnTo>
                    <a:pt x="308" y="53"/>
                  </a:lnTo>
                  <a:lnTo>
                    <a:pt x="295" y="42"/>
                  </a:lnTo>
                  <a:lnTo>
                    <a:pt x="281" y="31"/>
                  </a:lnTo>
                  <a:lnTo>
                    <a:pt x="268" y="22"/>
                  </a:lnTo>
                  <a:lnTo>
                    <a:pt x="251" y="14"/>
                  </a:lnTo>
                  <a:lnTo>
                    <a:pt x="234" y="9"/>
                  </a:lnTo>
                  <a:lnTo>
                    <a:pt x="217" y="5"/>
                  </a:lnTo>
                  <a:lnTo>
                    <a:pt x="200" y="1"/>
                  </a:lnTo>
                  <a:lnTo>
                    <a:pt x="181" y="0"/>
                  </a:lnTo>
                  <a:lnTo>
                    <a:pt x="162" y="1"/>
                  </a:lnTo>
                  <a:lnTo>
                    <a:pt x="144" y="5"/>
                  </a:lnTo>
                  <a:lnTo>
                    <a:pt x="127" y="9"/>
                  </a:lnTo>
                  <a:lnTo>
                    <a:pt x="111" y="14"/>
                  </a:lnTo>
                  <a:lnTo>
                    <a:pt x="95" y="22"/>
                  </a:lnTo>
                  <a:lnTo>
                    <a:pt x="80" y="31"/>
                  </a:lnTo>
                  <a:lnTo>
                    <a:pt x="66" y="42"/>
                  </a:lnTo>
                  <a:lnTo>
                    <a:pt x="53" y="53"/>
                  </a:lnTo>
                  <a:lnTo>
                    <a:pt x="41" y="66"/>
                  </a:lnTo>
                  <a:lnTo>
                    <a:pt x="32" y="80"/>
                  </a:lnTo>
                  <a:lnTo>
                    <a:pt x="22" y="95"/>
                  </a:lnTo>
                  <a:lnTo>
                    <a:pt x="14" y="111"/>
                  </a:lnTo>
                  <a:lnTo>
                    <a:pt x="8" y="128"/>
                  </a:lnTo>
                  <a:lnTo>
                    <a:pt x="4" y="145"/>
                  </a:lnTo>
                  <a:lnTo>
                    <a:pt x="2" y="162"/>
                  </a:lnTo>
                  <a:lnTo>
                    <a:pt x="0" y="182"/>
                  </a:lnTo>
                  <a:lnTo>
                    <a:pt x="2" y="200"/>
                  </a:lnTo>
                  <a:lnTo>
                    <a:pt x="4" y="217"/>
                  </a:lnTo>
                  <a:lnTo>
                    <a:pt x="8" y="235"/>
                  </a:lnTo>
                  <a:lnTo>
                    <a:pt x="14" y="251"/>
                  </a:lnTo>
                  <a:lnTo>
                    <a:pt x="22" y="267"/>
                  </a:lnTo>
                  <a:lnTo>
                    <a:pt x="32" y="282"/>
                  </a:lnTo>
                  <a:lnTo>
                    <a:pt x="41" y="296"/>
                  </a:lnTo>
                  <a:lnTo>
                    <a:pt x="53" y="309"/>
                  </a:lnTo>
                  <a:lnTo>
                    <a:pt x="66" y="320"/>
                  </a:lnTo>
                  <a:lnTo>
                    <a:pt x="80" y="331"/>
                  </a:lnTo>
                  <a:lnTo>
                    <a:pt x="95" y="340"/>
                  </a:lnTo>
                  <a:lnTo>
                    <a:pt x="111" y="348"/>
                  </a:lnTo>
                  <a:lnTo>
                    <a:pt x="127" y="353"/>
                  </a:lnTo>
                  <a:lnTo>
                    <a:pt x="144" y="359"/>
                  </a:lnTo>
                  <a:lnTo>
                    <a:pt x="162" y="361"/>
                  </a:lnTo>
                  <a:lnTo>
                    <a:pt x="181"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532">
              <a:extLst>
                <a:ext uri="{FF2B5EF4-FFF2-40B4-BE49-F238E27FC236}">
                  <a16:creationId xmlns:a16="http://schemas.microsoft.com/office/drawing/2014/main" id="{0B2BE278-ECA6-46AA-8F01-5601655A9A71}"/>
                </a:ext>
              </a:extLst>
            </p:cNvPr>
            <p:cNvSpPr>
              <a:spLocks/>
            </p:cNvSpPr>
            <p:nvPr/>
          </p:nvSpPr>
          <p:spPr bwMode="auto">
            <a:xfrm>
              <a:off x="2689225" y="2732088"/>
              <a:ext cx="47625" cy="47625"/>
            </a:xfrm>
            <a:custGeom>
              <a:avLst/>
              <a:gdLst>
                <a:gd name="T0" fmla="*/ 67 w 150"/>
                <a:gd name="T1" fmla="*/ 0 h 150"/>
                <a:gd name="T2" fmla="*/ 52 w 150"/>
                <a:gd name="T3" fmla="*/ 3 h 150"/>
                <a:gd name="T4" fmla="*/ 38 w 150"/>
                <a:gd name="T5" fmla="*/ 9 h 150"/>
                <a:gd name="T6" fmla="*/ 27 w 150"/>
                <a:gd name="T7" fmla="*/ 17 h 150"/>
                <a:gd name="T8" fmla="*/ 17 w 150"/>
                <a:gd name="T9" fmla="*/ 27 h 150"/>
                <a:gd name="T10" fmla="*/ 8 w 150"/>
                <a:gd name="T11" fmla="*/ 39 h 150"/>
                <a:gd name="T12" fmla="*/ 3 w 150"/>
                <a:gd name="T13" fmla="*/ 53 h 150"/>
                <a:gd name="T14" fmla="*/ 0 w 150"/>
                <a:gd name="T15" fmla="*/ 68 h 150"/>
                <a:gd name="T16" fmla="*/ 0 w 150"/>
                <a:gd name="T17" fmla="*/ 83 h 150"/>
                <a:gd name="T18" fmla="*/ 3 w 150"/>
                <a:gd name="T19" fmla="*/ 98 h 150"/>
                <a:gd name="T20" fmla="*/ 8 w 150"/>
                <a:gd name="T21" fmla="*/ 111 h 150"/>
                <a:gd name="T22" fmla="*/ 17 w 150"/>
                <a:gd name="T23" fmla="*/ 123 h 150"/>
                <a:gd name="T24" fmla="*/ 27 w 150"/>
                <a:gd name="T25" fmla="*/ 133 h 150"/>
                <a:gd name="T26" fmla="*/ 38 w 150"/>
                <a:gd name="T27" fmla="*/ 141 h 150"/>
                <a:gd name="T28" fmla="*/ 52 w 150"/>
                <a:gd name="T29" fmla="*/ 147 h 150"/>
                <a:gd name="T30" fmla="*/ 67 w 150"/>
                <a:gd name="T31" fmla="*/ 150 h 150"/>
                <a:gd name="T32" fmla="*/ 82 w 150"/>
                <a:gd name="T33" fmla="*/ 150 h 150"/>
                <a:gd name="T34" fmla="*/ 97 w 150"/>
                <a:gd name="T35" fmla="*/ 147 h 150"/>
                <a:gd name="T36" fmla="*/ 110 w 150"/>
                <a:gd name="T37" fmla="*/ 141 h 150"/>
                <a:gd name="T38" fmla="*/ 122 w 150"/>
                <a:gd name="T39" fmla="*/ 133 h 150"/>
                <a:gd name="T40" fmla="*/ 133 w 150"/>
                <a:gd name="T41" fmla="*/ 123 h 150"/>
                <a:gd name="T42" fmla="*/ 140 w 150"/>
                <a:gd name="T43" fmla="*/ 111 h 150"/>
                <a:gd name="T44" fmla="*/ 147 w 150"/>
                <a:gd name="T45" fmla="*/ 98 h 150"/>
                <a:gd name="T46" fmla="*/ 150 w 150"/>
                <a:gd name="T47" fmla="*/ 83 h 150"/>
                <a:gd name="T48" fmla="*/ 150 w 150"/>
                <a:gd name="T49" fmla="*/ 68 h 150"/>
                <a:gd name="T50" fmla="*/ 147 w 150"/>
                <a:gd name="T51" fmla="*/ 53 h 150"/>
                <a:gd name="T52" fmla="*/ 140 w 150"/>
                <a:gd name="T53" fmla="*/ 39 h 150"/>
                <a:gd name="T54" fmla="*/ 133 w 150"/>
                <a:gd name="T55" fmla="*/ 27 h 150"/>
                <a:gd name="T56" fmla="*/ 122 w 150"/>
                <a:gd name="T57" fmla="*/ 17 h 150"/>
                <a:gd name="T58" fmla="*/ 110 w 150"/>
                <a:gd name="T59" fmla="*/ 9 h 150"/>
                <a:gd name="T60" fmla="*/ 97 w 150"/>
                <a:gd name="T61" fmla="*/ 3 h 150"/>
                <a:gd name="T62" fmla="*/ 82 w 150"/>
                <a:gd name="T6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0" h="150">
                  <a:moveTo>
                    <a:pt x="75" y="0"/>
                  </a:moveTo>
                  <a:lnTo>
                    <a:pt x="67" y="0"/>
                  </a:lnTo>
                  <a:lnTo>
                    <a:pt x="60" y="1"/>
                  </a:lnTo>
                  <a:lnTo>
                    <a:pt x="52" y="3"/>
                  </a:lnTo>
                  <a:lnTo>
                    <a:pt x="45" y="6"/>
                  </a:lnTo>
                  <a:lnTo>
                    <a:pt x="38" y="9"/>
                  </a:lnTo>
                  <a:lnTo>
                    <a:pt x="32" y="13"/>
                  </a:lnTo>
                  <a:lnTo>
                    <a:pt x="27" y="17"/>
                  </a:lnTo>
                  <a:lnTo>
                    <a:pt x="21" y="22"/>
                  </a:lnTo>
                  <a:lnTo>
                    <a:pt x="17" y="27"/>
                  </a:lnTo>
                  <a:lnTo>
                    <a:pt x="13" y="33"/>
                  </a:lnTo>
                  <a:lnTo>
                    <a:pt x="8" y="39"/>
                  </a:lnTo>
                  <a:lnTo>
                    <a:pt x="5" y="45"/>
                  </a:lnTo>
                  <a:lnTo>
                    <a:pt x="3" y="53"/>
                  </a:lnTo>
                  <a:lnTo>
                    <a:pt x="1" y="60"/>
                  </a:lnTo>
                  <a:lnTo>
                    <a:pt x="0" y="68"/>
                  </a:lnTo>
                  <a:lnTo>
                    <a:pt x="0" y="75"/>
                  </a:lnTo>
                  <a:lnTo>
                    <a:pt x="0" y="83"/>
                  </a:lnTo>
                  <a:lnTo>
                    <a:pt x="1" y="90"/>
                  </a:lnTo>
                  <a:lnTo>
                    <a:pt x="3" y="98"/>
                  </a:lnTo>
                  <a:lnTo>
                    <a:pt x="5" y="104"/>
                  </a:lnTo>
                  <a:lnTo>
                    <a:pt x="8" y="111"/>
                  </a:lnTo>
                  <a:lnTo>
                    <a:pt x="13" y="117"/>
                  </a:lnTo>
                  <a:lnTo>
                    <a:pt x="17" y="123"/>
                  </a:lnTo>
                  <a:lnTo>
                    <a:pt x="21" y="128"/>
                  </a:lnTo>
                  <a:lnTo>
                    <a:pt x="27" y="133"/>
                  </a:lnTo>
                  <a:lnTo>
                    <a:pt x="32" y="138"/>
                  </a:lnTo>
                  <a:lnTo>
                    <a:pt x="38" y="141"/>
                  </a:lnTo>
                  <a:lnTo>
                    <a:pt x="45" y="144"/>
                  </a:lnTo>
                  <a:lnTo>
                    <a:pt x="52" y="147"/>
                  </a:lnTo>
                  <a:lnTo>
                    <a:pt x="60" y="149"/>
                  </a:lnTo>
                  <a:lnTo>
                    <a:pt x="67" y="150"/>
                  </a:lnTo>
                  <a:lnTo>
                    <a:pt x="75" y="150"/>
                  </a:lnTo>
                  <a:lnTo>
                    <a:pt x="82" y="150"/>
                  </a:lnTo>
                  <a:lnTo>
                    <a:pt x="90" y="149"/>
                  </a:lnTo>
                  <a:lnTo>
                    <a:pt x="97" y="147"/>
                  </a:lnTo>
                  <a:lnTo>
                    <a:pt x="104" y="144"/>
                  </a:lnTo>
                  <a:lnTo>
                    <a:pt x="110" y="141"/>
                  </a:lnTo>
                  <a:lnTo>
                    <a:pt x="117" y="138"/>
                  </a:lnTo>
                  <a:lnTo>
                    <a:pt x="122" y="133"/>
                  </a:lnTo>
                  <a:lnTo>
                    <a:pt x="127" y="128"/>
                  </a:lnTo>
                  <a:lnTo>
                    <a:pt x="133" y="123"/>
                  </a:lnTo>
                  <a:lnTo>
                    <a:pt x="137" y="117"/>
                  </a:lnTo>
                  <a:lnTo>
                    <a:pt x="140" y="111"/>
                  </a:lnTo>
                  <a:lnTo>
                    <a:pt x="144" y="104"/>
                  </a:lnTo>
                  <a:lnTo>
                    <a:pt x="147" y="98"/>
                  </a:lnTo>
                  <a:lnTo>
                    <a:pt x="148" y="90"/>
                  </a:lnTo>
                  <a:lnTo>
                    <a:pt x="150" y="83"/>
                  </a:lnTo>
                  <a:lnTo>
                    <a:pt x="150" y="75"/>
                  </a:lnTo>
                  <a:lnTo>
                    <a:pt x="150" y="68"/>
                  </a:lnTo>
                  <a:lnTo>
                    <a:pt x="148" y="60"/>
                  </a:lnTo>
                  <a:lnTo>
                    <a:pt x="147" y="53"/>
                  </a:lnTo>
                  <a:lnTo>
                    <a:pt x="144" y="45"/>
                  </a:lnTo>
                  <a:lnTo>
                    <a:pt x="140" y="39"/>
                  </a:lnTo>
                  <a:lnTo>
                    <a:pt x="137" y="33"/>
                  </a:lnTo>
                  <a:lnTo>
                    <a:pt x="133" y="27"/>
                  </a:lnTo>
                  <a:lnTo>
                    <a:pt x="127" y="22"/>
                  </a:lnTo>
                  <a:lnTo>
                    <a:pt x="122" y="17"/>
                  </a:lnTo>
                  <a:lnTo>
                    <a:pt x="117" y="13"/>
                  </a:lnTo>
                  <a:lnTo>
                    <a:pt x="110" y="9"/>
                  </a:lnTo>
                  <a:lnTo>
                    <a:pt x="104" y="6"/>
                  </a:lnTo>
                  <a:lnTo>
                    <a:pt x="97" y="3"/>
                  </a:lnTo>
                  <a:lnTo>
                    <a:pt x="90" y="1"/>
                  </a:lnTo>
                  <a:lnTo>
                    <a:pt x="82" y="0"/>
                  </a:lnTo>
                  <a:lnTo>
                    <a:pt x="7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4" name="Freeform 533">
              <a:extLst>
                <a:ext uri="{FF2B5EF4-FFF2-40B4-BE49-F238E27FC236}">
                  <a16:creationId xmlns:a16="http://schemas.microsoft.com/office/drawing/2014/main" id="{B7F3E9E7-07C2-49F8-9B8F-C103B9CEFE06}"/>
                </a:ext>
              </a:extLst>
            </p:cNvPr>
            <p:cNvSpPr>
              <a:spLocks noEditPoints="1"/>
            </p:cNvSpPr>
            <p:nvPr/>
          </p:nvSpPr>
          <p:spPr bwMode="auto">
            <a:xfrm>
              <a:off x="2789238" y="2654300"/>
              <a:ext cx="96838" cy="106363"/>
            </a:xfrm>
            <a:custGeom>
              <a:avLst/>
              <a:gdLst>
                <a:gd name="T0" fmla="*/ 30 w 301"/>
                <a:gd name="T1" fmla="*/ 30 h 331"/>
                <a:gd name="T2" fmla="*/ 250 w 301"/>
                <a:gd name="T3" fmla="*/ 150 h 331"/>
                <a:gd name="T4" fmla="*/ 301 w 301"/>
                <a:gd name="T5" fmla="*/ 165 h 331"/>
                <a:gd name="T6" fmla="*/ 300 w 301"/>
                <a:gd name="T7" fmla="*/ 161 h 331"/>
                <a:gd name="T8" fmla="*/ 300 w 301"/>
                <a:gd name="T9" fmla="*/ 160 h 331"/>
                <a:gd name="T10" fmla="*/ 297 w 301"/>
                <a:gd name="T11" fmla="*/ 155 h 331"/>
                <a:gd name="T12" fmla="*/ 297 w 301"/>
                <a:gd name="T13" fmla="*/ 155 h 331"/>
                <a:gd name="T14" fmla="*/ 144 w 301"/>
                <a:gd name="T15" fmla="*/ 2 h 331"/>
                <a:gd name="T16" fmla="*/ 138 w 301"/>
                <a:gd name="T17" fmla="*/ 0 h 331"/>
                <a:gd name="T18" fmla="*/ 15 w 301"/>
                <a:gd name="T19" fmla="*/ 0 h 331"/>
                <a:gd name="T20" fmla="*/ 10 w 301"/>
                <a:gd name="T21" fmla="*/ 1 h 331"/>
                <a:gd name="T22" fmla="*/ 4 w 301"/>
                <a:gd name="T23" fmla="*/ 4 h 331"/>
                <a:gd name="T24" fmla="*/ 1 w 301"/>
                <a:gd name="T25" fmla="*/ 10 h 331"/>
                <a:gd name="T26" fmla="*/ 0 w 301"/>
                <a:gd name="T27" fmla="*/ 15 h 331"/>
                <a:gd name="T28" fmla="*/ 0 w 301"/>
                <a:gd name="T29" fmla="*/ 316 h 331"/>
                <a:gd name="T30" fmla="*/ 1 w 301"/>
                <a:gd name="T31" fmla="*/ 322 h 331"/>
                <a:gd name="T32" fmla="*/ 4 w 301"/>
                <a:gd name="T33" fmla="*/ 327 h 331"/>
                <a:gd name="T34" fmla="*/ 10 w 301"/>
                <a:gd name="T35" fmla="*/ 330 h 331"/>
                <a:gd name="T36" fmla="*/ 15 w 301"/>
                <a:gd name="T37" fmla="*/ 331 h 331"/>
                <a:gd name="T38" fmla="*/ 31 w 301"/>
                <a:gd name="T39" fmla="*/ 324 h 331"/>
                <a:gd name="T40" fmla="*/ 31 w 301"/>
                <a:gd name="T41" fmla="*/ 306 h 331"/>
                <a:gd name="T42" fmla="*/ 35 w 301"/>
                <a:gd name="T43" fmla="*/ 285 h 331"/>
                <a:gd name="T44" fmla="*/ 43 w 301"/>
                <a:gd name="T45" fmla="*/ 266 h 331"/>
                <a:gd name="T46" fmla="*/ 55 w 301"/>
                <a:gd name="T47" fmla="*/ 249 h 331"/>
                <a:gd name="T48" fmla="*/ 69 w 301"/>
                <a:gd name="T49" fmla="*/ 235 h 331"/>
                <a:gd name="T50" fmla="*/ 86 w 301"/>
                <a:gd name="T51" fmla="*/ 223 h 331"/>
                <a:gd name="T52" fmla="*/ 104 w 301"/>
                <a:gd name="T53" fmla="*/ 215 h 331"/>
                <a:gd name="T54" fmla="*/ 126 w 301"/>
                <a:gd name="T55" fmla="*/ 211 h 331"/>
                <a:gd name="T56" fmla="*/ 147 w 301"/>
                <a:gd name="T57" fmla="*/ 211 h 331"/>
                <a:gd name="T58" fmla="*/ 167 w 301"/>
                <a:gd name="T59" fmla="*/ 215 h 331"/>
                <a:gd name="T60" fmla="*/ 186 w 301"/>
                <a:gd name="T61" fmla="*/ 223 h 331"/>
                <a:gd name="T62" fmla="*/ 203 w 301"/>
                <a:gd name="T63" fmla="*/ 235 h 331"/>
                <a:gd name="T64" fmla="*/ 217 w 301"/>
                <a:gd name="T65" fmla="*/ 249 h 331"/>
                <a:gd name="T66" fmla="*/ 229 w 301"/>
                <a:gd name="T67" fmla="*/ 266 h 331"/>
                <a:gd name="T68" fmla="*/ 236 w 301"/>
                <a:gd name="T69" fmla="*/ 285 h 331"/>
                <a:gd name="T70" fmla="*/ 240 w 301"/>
                <a:gd name="T71" fmla="*/ 306 h 331"/>
                <a:gd name="T72" fmla="*/ 241 w 301"/>
                <a:gd name="T73" fmla="*/ 324 h 331"/>
                <a:gd name="T74" fmla="*/ 286 w 301"/>
                <a:gd name="T75" fmla="*/ 331 h 331"/>
                <a:gd name="T76" fmla="*/ 292 w 301"/>
                <a:gd name="T77" fmla="*/ 330 h 331"/>
                <a:gd name="T78" fmla="*/ 297 w 301"/>
                <a:gd name="T79" fmla="*/ 327 h 331"/>
                <a:gd name="T80" fmla="*/ 300 w 301"/>
                <a:gd name="T81" fmla="*/ 322 h 331"/>
                <a:gd name="T82" fmla="*/ 301 w 301"/>
                <a:gd name="T83" fmla="*/ 316 h 331"/>
                <a:gd name="T84" fmla="*/ 301 w 301"/>
                <a:gd name="T85" fmla="*/ 165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1" h="331">
                  <a:moveTo>
                    <a:pt x="30" y="150"/>
                  </a:moveTo>
                  <a:lnTo>
                    <a:pt x="30" y="30"/>
                  </a:lnTo>
                  <a:lnTo>
                    <a:pt x="130" y="30"/>
                  </a:lnTo>
                  <a:lnTo>
                    <a:pt x="250" y="150"/>
                  </a:lnTo>
                  <a:lnTo>
                    <a:pt x="30" y="150"/>
                  </a:lnTo>
                  <a:close/>
                  <a:moveTo>
                    <a:pt x="301" y="165"/>
                  </a:moveTo>
                  <a:lnTo>
                    <a:pt x="300" y="163"/>
                  </a:lnTo>
                  <a:lnTo>
                    <a:pt x="300" y="161"/>
                  </a:lnTo>
                  <a:lnTo>
                    <a:pt x="300" y="160"/>
                  </a:lnTo>
                  <a:lnTo>
                    <a:pt x="300" y="160"/>
                  </a:lnTo>
                  <a:lnTo>
                    <a:pt x="298" y="156"/>
                  </a:lnTo>
                  <a:lnTo>
                    <a:pt x="297" y="155"/>
                  </a:lnTo>
                  <a:lnTo>
                    <a:pt x="297" y="155"/>
                  </a:lnTo>
                  <a:lnTo>
                    <a:pt x="297" y="155"/>
                  </a:lnTo>
                  <a:lnTo>
                    <a:pt x="147" y="4"/>
                  </a:lnTo>
                  <a:lnTo>
                    <a:pt x="144" y="2"/>
                  </a:lnTo>
                  <a:lnTo>
                    <a:pt x="142" y="1"/>
                  </a:lnTo>
                  <a:lnTo>
                    <a:pt x="138" y="0"/>
                  </a:lnTo>
                  <a:lnTo>
                    <a:pt x="136" y="0"/>
                  </a:lnTo>
                  <a:lnTo>
                    <a:pt x="15" y="0"/>
                  </a:lnTo>
                  <a:lnTo>
                    <a:pt x="12" y="0"/>
                  </a:lnTo>
                  <a:lnTo>
                    <a:pt x="10" y="1"/>
                  </a:lnTo>
                  <a:lnTo>
                    <a:pt x="7" y="2"/>
                  </a:lnTo>
                  <a:lnTo>
                    <a:pt x="4" y="4"/>
                  </a:lnTo>
                  <a:lnTo>
                    <a:pt x="3" y="6"/>
                  </a:lnTo>
                  <a:lnTo>
                    <a:pt x="1" y="10"/>
                  </a:lnTo>
                  <a:lnTo>
                    <a:pt x="1" y="12"/>
                  </a:lnTo>
                  <a:lnTo>
                    <a:pt x="0" y="15"/>
                  </a:lnTo>
                  <a:lnTo>
                    <a:pt x="0" y="165"/>
                  </a:lnTo>
                  <a:lnTo>
                    <a:pt x="0" y="316"/>
                  </a:lnTo>
                  <a:lnTo>
                    <a:pt x="1" y="320"/>
                  </a:lnTo>
                  <a:lnTo>
                    <a:pt x="1" y="322"/>
                  </a:lnTo>
                  <a:lnTo>
                    <a:pt x="3" y="325"/>
                  </a:lnTo>
                  <a:lnTo>
                    <a:pt x="4" y="327"/>
                  </a:lnTo>
                  <a:lnTo>
                    <a:pt x="7" y="328"/>
                  </a:lnTo>
                  <a:lnTo>
                    <a:pt x="10" y="330"/>
                  </a:lnTo>
                  <a:lnTo>
                    <a:pt x="12" y="331"/>
                  </a:lnTo>
                  <a:lnTo>
                    <a:pt x="15" y="331"/>
                  </a:lnTo>
                  <a:lnTo>
                    <a:pt x="31" y="331"/>
                  </a:lnTo>
                  <a:lnTo>
                    <a:pt x="31" y="324"/>
                  </a:lnTo>
                  <a:lnTo>
                    <a:pt x="30" y="316"/>
                  </a:lnTo>
                  <a:lnTo>
                    <a:pt x="31" y="306"/>
                  </a:lnTo>
                  <a:lnTo>
                    <a:pt x="32" y="295"/>
                  </a:lnTo>
                  <a:lnTo>
                    <a:pt x="35" y="285"/>
                  </a:lnTo>
                  <a:lnTo>
                    <a:pt x="39" y="276"/>
                  </a:lnTo>
                  <a:lnTo>
                    <a:pt x="43" y="266"/>
                  </a:lnTo>
                  <a:lnTo>
                    <a:pt x="48" y="257"/>
                  </a:lnTo>
                  <a:lnTo>
                    <a:pt x="55" y="249"/>
                  </a:lnTo>
                  <a:lnTo>
                    <a:pt x="61" y="241"/>
                  </a:lnTo>
                  <a:lnTo>
                    <a:pt x="69" y="235"/>
                  </a:lnTo>
                  <a:lnTo>
                    <a:pt x="77" y="228"/>
                  </a:lnTo>
                  <a:lnTo>
                    <a:pt x="86" y="223"/>
                  </a:lnTo>
                  <a:lnTo>
                    <a:pt x="94" y="219"/>
                  </a:lnTo>
                  <a:lnTo>
                    <a:pt x="104" y="215"/>
                  </a:lnTo>
                  <a:lnTo>
                    <a:pt x="115" y="213"/>
                  </a:lnTo>
                  <a:lnTo>
                    <a:pt x="126" y="211"/>
                  </a:lnTo>
                  <a:lnTo>
                    <a:pt x="136" y="211"/>
                  </a:lnTo>
                  <a:lnTo>
                    <a:pt x="147" y="211"/>
                  </a:lnTo>
                  <a:lnTo>
                    <a:pt x="157" y="213"/>
                  </a:lnTo>
                  <a:lnTo>
                    <a:pt x="167" y="215"/>
                  </a:lnTo>
                  <a:lnTo>
                    <a:pt x="177" y="219"/>
                  </a:lnTo>
                  <a:lnTo>
                    <a:pt x="186" y="223"/>
                  </a:lnTo>
                  <a:lnTo>
                    <a:pt x="194" y="228"/>
                  </a:lnTo>
                  <a:lnTo>
                    <a:pt x="203" y="235"/>
                  </a:lnTo>
                  <a:lnTo>
                    <a:pt x="210" y="241"/>
                  </a:lnTo>
                  <a:lnTo>
                    <a:pt x="217" y="249"/>
                  </a:lnTo>
                  <a:lnTo>
                    <a:pt x="223" y="257"/>
                  </a:lnTo>
                  <a:lnTo>
                    <a:pt x="229" y="266"/>
                  </a:lnTo>
                  <a:lnTo>
                    <a:pt x="233" y="276"/>
                  </a:lnTo>
                  <a:lnTo>
                    <a:pt x="236" y="285"/>
                  </a:lnTo>
                  <a:lnTo>
                    <a:pt x="239" y="295"/>
                  </a:lnTo>
                  <a:lnTo>
                    <a:pt x="240" y="306"/>
                  </a:lnTo>
                  <a:lnTo>
                    <a:pt x="241" y="316"/>
                  </a:lnTo>
                  <a:lnTo>
                    <a:pt x="241" y="324"/>
                  </a:lnTo>
                  <a:lnTo>
                    <a:pt x="240" y="331"/>
                  </a:lnTo>
                  <a:lnTo>
                    <a:pt x="286" y="331"/>
                  </a:lnTo>
                  <a:lnTo>
                    <a:pt x="290" y="330"/>
                  </a:lnTo>
                  <a:lnTo>
                    <a:pt x="292" y="330"/>
                  </a:lnTo>
                  <a:lnTo>
                    <a:pt x="295" y="328"/>
                  </a:lnTo>
                  <a:lnTo>
                    <a:pt x="297" y="327"/>
                  </a:lnTo>
                  <a:lnTo>
                    <a:pt x="299" y="325"/>
                  </a:lnTo>
                  <a:lnTo>
                    <a:pt x="300" y="322"/>
                  </a:lnTo>
                  <a:lnTo>
                    <a:pt x="301" y="320"/>
                  </a:lnTo>
                  <a:lnTo>
                    <a:pt x="301" y="316"/>
                  </a:lnTo>
                  <a:lnTo>
                    <a:pt x="301" y="165"/>
                  </a:lnTo>
                  <a:lnTo>
                    <a:pt x="301" y="165"/>
                  </a:lnTo>
                  <a:lnTo>
                    <a:pt x="301" y="1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Freeform 534">
              <a:extLst>
                <a:ext uri="{FF2B5EF4-FFF2-40B4-BE49-F238E27FC236}">
                  <a16:creationId xmlns:a16="http://schemas.microsoft.com/office/drawing/2014/main" id="{22EBAC00-42AC-428A-AF25-784E80959740}"/>
                </a:ext>
              </a:extLst>
            </p:cNvPr>
            <p:cNvSpPr>
              <a:spLocks/>
            </p:cNvSpPr>
            <p:nvPr/>
          </p:nvSpPr>
          <p:spPr bwMode="auto">
            <a:xfrm>
              <a:off x="2808288" y="2732088"/>
              <a:ext cx="49213" cy="47625"/>
            </a:xfrm>
            <a:custGeom>
              <a:avLst/>
              <a:gdLst>
                <a:gd name="T0" fmla="*/ 68 w 151"/>
                <a:gd name="T1" fmla="*/ 0 h 150"/>
                <a:gd name="T2" fmla="*/ 54 w 151"/>
                <a:gd name="T3" fmla="*/ 3 h 150"/>
                <a:gd name="T4" fmla="*/ 40 w 151"/>
                <a:gd name="T5" fmla="*/ 9 h 150"/>
                <a:gd name="T6" fmla="*/ 28 w 151"/>
                <a:gd name="T7" fmla="*/ 17 h 150"/>
                <a:gd name="T8" fmla="*/ 17 w 151"/>
                <a:gd name="T9" fmla="*/ 27 h 150"/>
                <a:gd name="T10" fmla="*/ 10 w 151"/>
                <a:gd name="T11" fmla="*/ 39 h 150"/>
                <a:gd name="T12" fmla="*/ 4 w 151"/>
                <a:gd name="T13" fmla="*/ 53 h 150"/>
                <a:gd name="T14" fmla="*/ 1 w 151"/>
                <a:gd name="T15" fmla="*/ 68 h 150"/>
                <a:gd name="T16" fmla="*/ 1 w 151"/>
                <a:gd name="T17" fmla="*/ 83 h 150"/>
                <a:gd name="T18" fmla="*/ 4 w 151"/>
                <a:gd name="T19" fmla="*/ 98 h 150"/>
                <a:gd name="T20" fmla="*/ 10 w 151"/>
                <a:gd name="T21" fmla="*/ 111 h 150"/>
                <a:gd name="T22" fmla="*/ 17 w 151"/>
                <a:gd name="T23" fmla="*/ 123 h 150"/>
                <a:gd name="T24" fmla="*/ 28 w 151"/>
                <a:gd name="T25" fmla="*/ 133 h 150"/>
                <a:gd name="T26" fmla="*/ 40 w 151"/>
                <a:gd name="T27" fmla="*/ 141 h 150"/>
                <a:gd name="T28" fmla="*/ 54 w 151"/>
                <a:gd name="T29" fmla="*/ 147 h 150"/>
                <a:gd name="T30" fmla="*/ 68 w 151"/>
                <a:gd name="T31" fmla="*/ 150 h 150"/>
                <a:gd name="T32" fmla="*/ 84 w 151"/>
                <a:gd name="T33" fmla="*/ 150 h 150"/>
                <a:gd name="T34" fmla="*/ 98 w 151"/>
                <a:gd name="T35" fmla="*/ 147 h 150"/>
                <a:gd name="T36" fmla="*/ 112 w 151"/>
                <a:gd name="T37" fmla="*/ 141 h 150"/>
                <a:gd name="T38" fmla="*/ 124 w 151"/>
                <a:gd name="T39" fmla="*/ 133 h 150"/>
                <a:gd name="T40" fmla="*/ 134 w 151"/>
                <a:gd name="T41" fmla="*/ 123 h 150"/>
                <a:gd name="T42" fmla="*/ 142 w 151"/>
                <a:gd name="T43" fmla="*/ 111 h 150"/>
                <a:gd name="T44" fmla="*/ 148 w 151"/>
                <a:gd name="T45" fmla="*/ 98 h 150"/>
                <a:gd name="T46" fmla="*/ 150 w 151"/>
                <a:gd name="T47" fmla="*/ 83 h 150"/>
                <a:gd name="T48" fmla="*/ 150 w 151"/>
                <a:gd name="T49" fmla="*/ 68 h 150"/>
                <a:gd name="T50" fmla="*/ 148 w 151"/>
                <a:gd name="T51" fmla="*/ 53 h 150"/>
                <a:gd name="T52" fmla="*/ 142 w 151"/>
                <a:gd name="T53" fmla="*/ 39 h 150"/>
                <a:gd name="T54" fmla="*/ 134 w 151"/>
                <a:gd name="T55" fmla="*/ 27 h 150"/>
                <a:gd name="T56" fmla="*/ 124 w 151"/>
                <a:gd name="T57" fmla="*/ 17 h 150"/>
                <a:gd name="T58" fmla="*/ 112 w 151"/>
                <a:gd name="T59" fmla="*/ 9 h 150"/>
                <a:gd name="T60" fmla="*/ 98 w 151"/>
                <a:gd name="T61" fmla="*/ 3 h 150"/>
                <a:gd name="T62" fmla="*/ 84 w 151"/>
                <a:gd name="T63"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1" h="150">
                  <a:moveTo>
                    <a:pt x="76" y="0"/>
                  </a:moveTo>
                  <a:lnTo>
                    <a:pt x="68" y="0"/>
                  </a:lnTo>
                  <a:lnTo>
                    <a:pt x="60" y="1"/>
                  </a:lnTo>
                  <a:lnTo>
                    <a:pt x="54" y="3"/>
                  </a:lnTo>
                  <a:lnTo>
                    <a:pt x="46" y="6"/>
                  </a:lnTo>
                  <a:lnTo>
                    <a:pt x="40" y="9"/>
                  </a:lnTo>
                  <a:lnTo>
                    <a:pt x="33" y="13"/>
                  </a:lnTo>
                  <a:lnTo>
                    <a:pt x="28" y="17"/>
                  </a:lnTo>
                  <a:lnTo>
                    <a:pt x="23" y="22"/>
                  </a:lnTo>
                  <a:lnTo>
                    <a:pt x="17" y="27"/>
                  </a:lnTo>
                  <a:lnTo>
                    <a:pt x="13" y="33"/>
                  </a:lnTo>
                  <a:lnTo>
                    <a:pt x="10" y="39"/>
                  </a:lnTo>
                  <a:lnTo>
                    <a:pt x="7" y="45"/>
                  </a:lnTo>
                  <a:lnTo>
                    <a:pt x="4" y="53"/>
                  </a:lnTo>
                  <a:lnTo>
                    <a:pt x="2" y="60"/>
                  </a:lnTo>
                  <a:lnTo>
                    <a:pt x="1" y="68"/>
                  </a:lnTo>
                  <a:lnTo>
                    <a:pt x="0" y="75"/>
                  </a:lnTo>
                  <a:lnTo>
                    <a:pt x="1" y="83"/>
                  </a:lnTo>
                  <a:lnTo>
                    <a:pt x="2" y="90"/>
                  </a:lnTo>
                  <a:lnTo>
                    <a:pt x="4" y="98"/>
                  </a:lnTo>
                  <a:lnTo>
                    <a:pt x="7" y="104"/>
                  </a:lnTo>
                  <a:lnTo>
                    <a:pt x="10" y="111"/>
                  </a:lnTo>
                  <a:lnTo>
                    <a:pt x="13" y="117"/>
                  </a:lnTo>
                  <a:lnTo>
                    <a:pt x="17" y="123"/>
                  </a:lnTo>
                  <a:lnTo>
                    <a:pt x="23" y="128"/>
                  </a:lnTo>
                  <a:lnTo>
                    <a:pt x="28" y="133"/>
                  </a:lnTo>
                  <a:lnTo>
                    <a:pt x="33" y="138"/>
                  </a:lnTo>
                  <a:lnTo>
                    <a:pt x="40" y="141"/>
                  </a:lnTo>
                  <a:lnTo>
                    <a:pt x="46" y="144"/>
                  </a:lnTo>
                  <a:lnTo>
                    <a:pt x="54" y="147"/>
                  </a:lnTo>
                  <a:lnTo>
                    <a:pt x="60" y="149"/>
                  </a:lnTo>
                  <a:lnTo>
                    <a:pt x="68" y="150"/>
                  </a:lnTo>
                  <a:lnTo>
                    <a:pt x="76" y="150"/>
                  </a:lnTo>
                  <a:lnTo>
                    <a:pt x="84" y="150"/>
                  </a:lnTo>
                  <a:lnTo>
                    <a:pt x="91" y="149"/>
                  </a:lnTo>
                  <a:lnTo>
                    <a:pt x="98" y="147"/>
                  </a:lnTo>
                  <a:lnTo>
                    <a:pt x="105" y="144"/>
                  </a:lnTo>
                  <a:lnTo>
                    <a:pt x="112" y="141"/>
                  </a:lnTo>
                  <a:lnTo>
                    <a:pt x="118" y="138"/>
                  </a:lnTo>
                  <a:lnTo>
                    <a:pt x="124" y="133"/>
                  </a:lnTo>
                  <a:lnTo>
                    <a:pt x="129" y="128"/>
                  </a:lnTo>
                  <a:lnTo>
                    <a:pt x="134" y="123"/>
                  </a:lnTo>
                  <a:lnTo>
                    <a:pt x="139" y="117"/>
                  </a:lnTo>
                  <a:lnTo>
                    <a:pt x="142" y="111"/>
                  </a:lnTo>
                  <a:lnTo>
                    <a:pt x="145" y="104"/>
                  </a:lnTo>
                  <a:lnTo>
                    <a:pt x="148" y="98"/>
                  </a:lnTo>
                  <a:lnTo>
                    <a:pt x="149" y="90"/>
                  </a:lnTo>
                  <a:lnTo>
                    <a:pt x="150" y="83"/>
                  </a:lnTo>
                  <a:lnTo>
                    <a:pt x="151" y="75"/>
                  </a:lnTo>
                  <a:lnTo>
                    <a:pt x="150" y="68"/>
                  </a:lnTo>
                  <a:lnTo>
                    <a:pt x="149" y="60"/>
                  </a:lnTo>
                  <a:lnTo>
                    <a:pt x="148" y="53"/>
                  </a:lnTo>
                  <a:lnTo>
                    <a:pt x="145" y="45"/>
                  </a:lnTo>
                  <a:lnTo>
                    <a:pt x="142" y="39"/>
                  </a:lnTo>
                  <a:lnTo>
                    <a:pt x="139" y="33"/>
                  </a:lnTo>
                  <a:lnTo>
                    <a:pt x="134" y="27"/>
                  </a:lnTo>
                  <a:lnTo>
                    <a:pt x="129" y="22"/>
                  </a:lnTo>
                  <a:lnTo>
                    <a:pt x="124" y="17"/>
                  </a:lnTo>
                  <a:lnTo>
                    <a:pt x="118" y="13"/>
                  </a:lnTo>
                  <a:lnTo>
                    <a:pt x="112" y="9"/>
                  </a:lnTo>
                  <a:lnTo>
                    <a:pt x="105" y="6"/>
                  </a:lnTo>
                  <a:lnTo>
                    <a:pt x="98" y="3"/>
                  </a:lnTo>
                  <a:lnTo>
                    <a:pt x="91" y="1"/>
                  </a:lnTo>
                  <a:lnTo>
                    <a:pt x="84" y="0"/>
                  </a:lnTo>
                  <a:lnTo>
                    <a:pt x="7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6" name="Group 85">
            <a:extLst>
              <a:ext uri="{FF2B5EF4-FFF2-40B4-BE49-F238E27FC236}">
                <a16:creationId xmlns:a16="http://schemas.microsoft.com/office/drawing/2014/main" id="{C074FF4B-B823-41CA-AAB4-D13D12CACFED}"/>
              </a:ext>
            </a:extLst>
          </p:cNvPr>
          <p:cNvGrpSpPr/>
          <p:nvPr/>
        </p:nvGrpSpPr>
        <p:grpSpPr>
          <a:xfrm>
            <a:off x="794614" y="3305384"/>
            <a:ext cx="287338" cy="249238"/>
            <a:chOff x="3171825" y="2530475"/>
            <a:chExt cx="287338" cy="249238"/>
          </a:xfrm>
          <a:solidFill>
            <a:schemeClr val="bg1"/>
          </a:solidFill>
        </p:grpSpPr>
        <p:sp>
          <p:nvSpPr>
            <p:cNvPr id="87" name="Freeform 535">
              <a:extLst>
                <a:ext uri="{FF2B5EF4-FFF2-40B4-BE49-F238E27FC236}">
                  <a16:creationId xmlns:a16="http://schemas.microsoft.com/office/drawing/2014/main" id="{39FE822A-DCC1-42C3-A5D8-4512038C40F1}"/>
                </a:ext>
              </a:extLst>
            </p:cNvPr>
            <p:cNvSpPr>
              <a:spLocks noEditPoints="1"/>
            </p:cNvSpPr>
            <p:nvPr/>
          </p:nvSpPr>
          <p:spPr bwMode="auto">
            <a:xfrm>
              <a:off x="3200400" y="2640013"/>
              <a:ext cx="230188" cy="139700"/>
            </a:xfrm>
            <a:custGeom>
              <a:avLst/>
              <a:gdLst>
                <a:gd name="T0" fmla="*/ 481 w 722"/>
                <a:gd name="T1" fmla="*/ 407 h 437"/>
                <a:gd name="T2" fmla="*/ 632 w 722"/>
                <a:gd name="T3" fmla="*/ 106 h 437"/>
                <a:gd name="T4" fmla="*/ 361 w 722"/>
                <a:gd name="T5" fmla="*/ 287 h 437"/>
                <a:gd name="T6" fmla="*/ 90 w 722"/>
                <a:gd name="T7" fmla="*/ 106 h 437"/>
                <a:gd name="T8" fmla="*/ 361 w 722"/>
                <a:gd name="T9" fmla="*/ 287 h 437"/>
                <a:gd name="T10" fmla="*/ 584 w 722"/>
                <a:gd name="T11" fmla="*/ 10 h 437"/>
                <a:gd name="T12" fmla="*/ 555 w 722"/>
                <a:gd name="T13" fmla="*/ 28 h 437"/>
                <a:gd name="T14" fmla="*/ 523 w 722"/>
                <a:gd name="T15" fmla="*/ 39 h 437"/>
                <a:gd name="T16" fmla="*/ 487 w 722"/>
                <a:gd name="T17" fmla="*/ 45 h 437"/>
                <a:gd name="T18" fmla="*/ 450 w 722"/>
                <a:gd name="T19" fmla="*/ 46 h 437"/>
                <a:gd name="T20" fmla="*/ 418 w 722"/>
                <a:gd name="T21" fmla="*/ 42 h 437"/>
                <a:gd name="T22" fmla="*/ 388 w 722"/>
                <a:gd name="T23" fmla="*/ 33 h 437"/>
                <a:gd name="T24" fmla="*/ 360 w 722"/>
                <a:gd name="T25" fmla="*/ 22 h 437"/>
                <a:gd name="T26" fmla="*/ 336 w 722"/>
                <a:gd name="T27" fmla="*/ 22 h 437"/>
                <a:gd name="T28" fmla="*/ 312 w 722"/>
                <a:gd name="T29" fmla="*/ 34 h 437"/>
                <a:gd name="T30" fmla="*/ 285 w 722"/>
                <a:gd name="T31" fmla="*/ 42 h 437"/>
                <a:gd name="T32" fmla="*/ 256 w 722"/>
                <a:gd name="T33" fmla="*/ 46 h 437"/>
                <a:gd name="T34" fmla="*/ 223 w 722"/>
                <a:gd name="T35" fmla="*/ 45 h 437"/>
                <a:gd name="T36" fmla="*/ 188 w 722"/>
                <a:gd name="T37" fmla="*/ 39 h 437"/>
                <a:gd name="T38" fmla="*/ 159 w 722"/>
                <a:gd name="T39" fmla="*/ 28 h 437"/>
                <a:gd name="T40" fmla="*/ 135 w 722"/>
                <a:gd name="T41" fmla="*/ 10 h 437"/>
                <a:gd name="T42" fmla="*/ 110 w 722"/>
                <a:gd name="T43" fmla="*/ 4 h 437"/>
                <a:gd name="T44" fmla="*/ 83 w 722"/>
                <a:gd name="T45" fmla="*/ 10 h 437"/>
                <a:gd name="T46" fmla="*/ 48 w 722"/>
                <a:gd name="T47" fmla="*/ 15 h 437"/>
                <a:gd name="T48" fmla="*/ 15 w 722"/>
                <a:gd name="T49" fmla="*/ 15 h 437"/>
                <a:gd name="T50" fmla="*/ 0 w 722"/>
                <a:gd name="T51" fmla="*/ 422 h 437"/>
                <a:gd name="T52" fmla="*/ 1 w 722"/>
                <a:gd name="T53" fmla="*/ 428 h 437"/>
                <a:gd name="T54" fmla="*/ 4 w 722"/>
                <a:gd name="T55" fmla="*/ 433 h 437"/>
                <a:gd name="T56" fmla="*/ 9 w 722"/>
                <a:gd name="T57" fmla="*/ 436 h 437"/>
                <a:gd name="T58" fmla="*/ 15 w 722"/>
                <a:gd name="T59" fmla="*/ 437 h 437"/>
                <a:gd name="T60" fmla="*/ 647 w 722"/>
                <a:gd name="T61" fmla="*/ 437 h 437"/>
                <a:gd name="T62" fmla="*/ 711 w 722"/>
                <a:gd name="T63" fmla="*/ 437 h 437"/>
                <a:gd name="T64" fmla="*/ 716 w 722"/>
                <a:gd name="T65" fmla="*/ 435 h 437"/>
                <a:gd name="T66" fmla="*/ 720 w 722"/>
                <a:gd name="T67" fmla="*/ 431 h 437"/>
                <a:gd name="T68" fmla="*/ 722 w 722"/>
                <a:gd name="T69" fmla="*/ 426 h 437"/>
                <a:gd name="T70" fmla="*/ 722 w 722"/>
                <a:gd name="T71" fmla="*/ 9 h 437"/>
                <a:gd name="T72" fmla="*/ 700 w 722"/>
                <a:gd name="T73" fmla="*/ 14 h 437"/>
                <a:gd name="T74" fmla="*/ 677 w 722"/>
                <a:gd name="T75" fmla="*/ 16 h 437"/>
                <a:gd name="T76" fmla="*/ 636 w 722"/>
                <a:gd name="T77" fmla="*/ 12 h 437"/>
                <a:gd name="T78" fmla="*/ 597 w 722"/>
                <a:gd name="T79"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22" h="437">
                  <a:moveTo>
                    <a:pt x="632" y="407"/>
                  </a:moveTo>
                  <a:lnTo>
                    <a:pt x="481" y="407"/>
                  </a:lnTo>
                  <a:lnTo>
                    <a:pt x="481" y="106"/>
                  </a:lnTo>
                  <a:lnTo>
                    <a:pt x="632" y="106"/>
                  </a:lnTo>
                  <a:lnTo>
                    <a:pt x="632" y="407"/>
                  </a:lnTo>
                  <a:close/>
                  <a:moveTo>
                    <a:pt x="361" y="287"/>
                  </a:moveTo>
                  <a:lnTo>
                    <a:pt x="90" y="287"/>
                  </a:lnTo>
                  <a:lnTo>
                    <a:pt x="90" y="106"/>
                  </a:lnTo>
                  <a:lnTo>
                    <a:pt x="361" y="106"/>
                  </a:lnTo>
                  <a:lnTo>
                    <a:pt x="361" y="287"/>
                  </a:lnTo>
                  <a:close/>
                  <a:moveTo>
                    <a:pt x="597" y="0"/>
                  </a:moveTo>
                  <a:lnTo>
                    <a:pt x="584" y="10"/>
                  </a:lnTo>
                  <a:lnTo>
                    <a:pt x="570" y="20"/>
                  </a:lnTo>
                  <a:lnTo>
                    <a:pt x="555" y="28"/>
                  </a:lnTo>
                  <a:lnTo>
                    <a:pt x="540" y="34"/>
                  </a:lnTo>
                  <a:lnTo>
                    <a:pt x="523" y="39"/>
                  </a:lnTo>
                  <a:lnTo>
                    <a:pt x="505" y="43"/>
                  </a:lnTo>
                  <a:lnTo>
                    <a:pt x="487" y="45"/>
                  </a:lnTo>
                  <a:lnTo>
                    <a:pt x="466" y="46"/>
                  </a:lnTo>
                  <a:lnTo>
                    <a:pt x="450" y="46"/>
                  </a:lnTo>
                  <a:lnTo>
                    <a:pt x="434" y="44"/>
                  </a:lnTo>
                  <a:lnTo>
                    <a:pt x="418" y="42"/>
                  </a:lnTo>
                  <a:lnTo>
                    <a:pt x="403" y="38"/>
                  </a:lnTo>
                  <a:lnTo>
                    <a:pt x="388" y="33"/>
                  </a:lnTo>
                  <a:lnTo>
                    <a:pt x="374" y="29"/>
                  </a:lnTo>
                  <a:lnTo>
                    <a:pt x="360" y="22"/>
                  </a:lnTo>
                  <a:lnTo>
                    <a:pt x="347" y="15"/>
                  </a:lnTo>
                  <a:lnTo>
                    <a:pt x="336" y="22"/>
                  </a:lnTo>
                  <a:lnTo>
                    <a:pt x="325" y="29"/>
                  </a:lnTo>
                  <a:lnTo>
                    <a:pt x="312" y="34"/>
                  </a:lnTo>
                  <a:lnTo>
                    <a:pt x="299" y="38"/>
                  </a:lnTo>
                  <a:lnTo>
                    <a:pt x="285" y="42"/>
                  </a:lnTo>
                  <a:lnTo>
                    <a:pt x="271" y="44"/>
                  </a:lnTo>
                  <a:lnTo>
                    <a:pt x="256" y="46"/>
                  </a:lnTo>
                  <a:lnTo>
                    <a:pt x="241" y="46"/>
                  </a:lnTo>
                  <a:lnTo>
                    <a:pt x="223" y="45"/>
                  </a:lnTo>
                  <a:lnTo>
                    <a:pt x="204" y="43"/>
                  </a:lnTo>
                  <a:lnTo>
                    <a:pt x="188" y="39"/>
                  </a:lnTo>
                  <a:lnTo>
                    <a:pt x="173" y="35"/>
                  </a:lnTo>
                  <a:lnTo>
                    <a:pt x="159" y="28"/>
                  </a:lnTo>
                  <a:lnTo>
                    <a:pt x="147" y="20"/>
                  </a:lnTo>
                  <a:lnTo>
                    <a:pt x="135" y="10"/>
                  </a:lnTo>
                  <a:lnTo>
                    <a:pt x="123" y="0"/>
                  </a:lnTo>
                  <a:lnTo>
                    <a:pt x="110" y="4"/>
                  </a:lnTo>
                  <a:lnTo>
                    <a:pt x="96" y="7"/>
                  </a:lnTo>
                  <a:lnTo>
                    <a:pt x="83" y="10"/>
                  </a:lnTo>
                  <a:lnTo>
                    <a:pt x="70" y="13"/>
                  </a:lnTo>
                  <a:lnTo>
                    <a:pt x="48" y="15"/>
                  </a:lnTo>
                  <a:lnTo>
                    <a:pt x="30" y="16"/>
                  </a:lnTo>
                  <a:lnTo>
                    <a:pt x="15" y="15"/>
                  </a:lnTo>
                  <a:lnTo>
                    <a:pt x="0" y="13"/>
                  </a:lnTo>
                  <a:lnTo>
                    <a:pt x="0" y="422"/>
                  </a:lnTo>
                  <a:lnTo>
                    <a:pt x="1" y="426"/>
                  </a:lnTo>
                  <a:lnTo>
                    <a:pt x="1" y="428"/>
                  </a:lnTo>
                  <a:lnTo>
                    <a:pt x="3" y="431"/>
                  </a:lnTo>
                  <a:lnTo>
                    <a:pt x="4" y="433"/>
                  </a:lnTo>
                  <a:lnTo>
                    <a:pt x="6" y="435"/>
                  </a:lnTo>
                  <a:lnTo>
                    <a:pt x="9" y="436"/>
                  </a:lnTo>
                  <a:lnTo>
                    <a:pt x="11" y="437"/>
                  </a:lnTo>
                  <a:lnTo>
                    <a:pt x="15" y="437"/>
                  </a:lnTo>
                  <a:lnTo>
                    <a:pt x="466" y="437"/>
                  </a:lnTo>
                  <a:lnTo>
                    <a:pt x="647" y="437"/>
                  </a:lnTo>
                  <a:lnTo>
                    <a:pt x="707" y="437"/>
                  </a:lnTo>
                  <a:lnTo>
                    <a:pt x="711" y="437"/>
                  </a:lnTo>
                  <a:lnTo>
                    <a:pt x="713" y="436"/>
                  </a:lnTo>
                  <a:lnTo>
                    <a:pt x="716" y="435"/>
                  </a:lnTo>
                  <a:lnTo>
                    <a:pt x="718" y="433"/>
                  </a:lnTo>
                  <a:lnTo>
                    <a:pt x="720" y="431"/>
                  </a:lnTo>
                  <a:lnTo>
                    <a:pt x="721" y="428"/>
                  </a:lnTo>
                  <a:lnTo>
                    <a:pt x="722" y="426"/>
                  </a:lnTo>
                  <a:lnTo>
                    <a:pt x="722" y="422"/>
                  </a:lnTo>
                  <a:lnTo>
                    <a:pt x="722" y="9"/>
                  </a:lnTo>
                  <a:lnTo>
                    <a:pt x="712" y="12"/>
                  </a:lnTo>
                  <a:lnTo>
                    <a:pt x="700" y="14"/>
                  </a:lnTo>
                  <a:lnTo>
                    <a:pt x="689" y="16"/>
                  </a:lnTo>
                  <a:lnTo>
                    <a:pt x="677" y="16"/>
                  </a:lnTo>
                  <a:lnTo>
                    <a:pt x="656" y="15"/>
                  </a:lnTo>
                  <a:lnTo>
                    <a:pt x="636" y="12"/>
                  </a:lnTo>
                  <a:lnTo>
                    <a:pt x="615" y="6"/>
                  </a:lnTo>
                  <a:lnTo>
                    <a:pt x="597" y="0"/>
                  </a:lnTo>
                  <a:lnTo>
                    <a:pt x="59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8" name="Freeform 536">
              <a:extLst>
                <a:ext uri="{FF2B5EF4-FFF2-40B4-BE49-F238E27FC236}">
                  <a16:creationId xmlns:a16="http://schemas.microsoft.com/office/drawing/2014/main" id="{9FFFEA69-8BF8-4F07-8067-90AAB4AEFD61}"/>
                </a:ext>
              </a:extLst>
            </p:cNvPr>
            <p:cNvSpPr>
              <a:spLocks/>
            </p:cNvSpPr>
            <p:nvPr/>
          </p:nvSpPr>
          <p:spPr bwMode="auto">
            <a:xfrm>
              <a:off x="3392488" y="2587625"/>
              <a:ext cx="66675" cy="47625"/>
            </a:xfrm>
            <a:custGeom>
              <a:avLst/>
              <a:gdLst>
                <a:gd name="T0" fmla="*/ 196 w 211"/>
                <a:gd name="T1" fmla="*/ 0 h 151"/>
                <a:gd name="T2" fmla="*/ 181 w 211"/>
                <a:gd name="T3" fmla="*/ 0 h 151"/>
                <a:gd name="T4" fmla="*/ 0 w 211"/>
                <a:gd name="T5" fmla="*/ 0 h 151"/>
                <a:gd name="T6" fmla="*/ 0 w 211"/>
                <a:gd name="T7" fmla="*/ 134 h 151"/>
                <a:gd name="T8" fmla="*/ 11 w 211"/>
                <a:gd name="T9" fmla="*/ 139 h 151"/>
                <a:gd name="T10" fmla="*/ 23 w 211"/>
                <a:gd name="T11" fmla="*/ 143 h 151"/>
                <a:gd name="T12" fmla="*/ 34 w 211"/>
                <a:gd name="T13" fmla="*/ 145 h 151"/>
                <a:gd name="T14" fmla="*/ 44 w 211"/>
                <a:gd name="T15" fmla="*/ 148 h 151"/>
                <a:gd name="T16" fmla="*/ 63 w 211"/>
                <a:gd name="T17" fmla="*/ 150 h 151"/>
                <a:gd name="T18" fmla="*/ 75 w 211"/>
                <a:gd name="T19" fmla="*/ 151 h 151"/>
                <a:gd name="T20" fmla="*/ 87 w 211"/>
                <a:gd name="T21" fmla="*/ 150 h 151"/>
                <a:gd name="T22" fmla="*/ 98 w 211"/>
                <a:gd name="T23" fmla="*/ 149 h 151"/>
                <a:gd name="T24" fmla="*/ 110 w 211"/>
                <a:gd name="T25" fmla="*/ 145 h 151"/>
                <a:gd name="T26" fmla="*/ 120 w 211"/>
                <a:gd name="T27" fmla="*/ 142 h 151"/>
                <a:gd name="T28" fmla="*/ 120 w 211"/>
                <a:gd name="T29" fmla="*/ 142 h 151"/>
                <a:gd name="T30" fmla="*/ 130 w 211"/>
                <a:gd name="T31" fmla="*/ 138 h 151"/>
                <a:gd name="T32" fmla="*/ 139 w 211"/>
                <a:gd name="T33" fmla="*/ 133 h 151"/>
                <a:gd name="T34" fmla="*/ 147 w 211"/>
                <a:gd name="T35" fmla="*/ 127 h 151"/>
                <a:gd name="T36" fmla="*/ 156 w 211"/>
                <a:gd name="T37" fmla="*/ 122 h 151"/>
                <a:gd name="T38" fmla="*/ 163 w 211"/>
                <a:gd name="T39" fmla="*/ 114 h 151"/>
                <a:gd name="T40" fmla="*/ 171 w 211"/>
                <a:gd name="T41" fmla="*/ 108 h 151"/>
                <a:gd name="T42" fmla="*/ 178 w 211"/>
                <a:gd name="T43" fmla="*/ 100 h 151"/>
                <a:gd name="T44" fmla="*/ 185 w 211"/>
                <a:gd name="T45" fmla="*/ 92 h 151"/>
                <a:gd name="T46" fmla="*/ 190 w 211"/>
                <a:gd name="T47" fmla="*/ 83 h 151"/>
                <a:gd name="T48" fmla="*/ 196 w 211"/>
                <a:gd name="T49" fmla="*/ 75 h 151"/>
                <a:gd name="T50" fmla="*/ 200 w 211"/>
                <a:gd name="T51" fmla="*/ 65 h 151"/>
                <a:gd name="T52" fmla="*/ 204 w 211"/>
                <a:gd name="T53" fmla="*/ 55 h 151"/>
                <a:gd name="T54" fmla="*/ 206 w 211"/>
                <a:gd name="T55" fmla="*/ 46 h 151"/>
                <a:gd name="T56" fmla="*/ 208 w 211"/>
                <a:gd name="T57" fmla="*/ 36 h 151"/>
                <a:gd name="T58" fmla="*/ 211 w 211"/>
                <a:gd name="T59" fmla="*/ 25 h 151"/>
                <a:gd name="T60" fmla="*/ 211 w 211"/>
                <a:gd name="T61" fmla="*/ 16 h 151"/>
                <a:gd name="T62" fmla="*/ 211 w 211"/>
                <a:gd name="T63" fmla="*/ 0 h 151"/>
                <a:gd name="T64" fmla="*/ 196 w 211"/>
                <a:gd name="T65"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1" h="151">
                  <a:moveTo>
                    <a:pt x="196" y="0"/>
                  </a:moveTo>
                  <a:lnTo>
                    <a:pt x="181" y="0"/>
                  </a:lnTo>
                  <a:lnTo>
                    <a:pt x="0" y="0"/>
                  </a:lnTo>
                  <a:lnTo>
                    <a:pt x="0" y="134"/>
                  </a:lnTo>
                  <a:lnTo>
                    <a:pt x="11" y="139"/>
                  </a:lnTo>
                  <a:lnTo>
                    <a:pt x="23" y="143"/>
                  </a:lnTo>
                  <a:lnTo>
                    <a:pt x="34" y="145"/>
                  </a:lnTo>
                  <a:lnTo>
                    <a:pt x="44" y="148"/>
                  </a:lnTo>
                  <a:lnTo>
                    <a:pt x="63" y="150"/>
                  </a:lnTo>
                  <a:lnTo>
                    <a:pt x="75" y="151"/>
                  </a:lnTo>
                  <a:lnTo>
                    <a:pt x="87" y="150"/>
                  </a:lnTo>
                  <a:lnTo>
                    <a:pt x="98" y="149"/>
                  </a:lnTo>
                  <a:lnTo>
                    <a:pt x="110" y="145"/>
                  </a:lnTo>
                  <a:lnTo>
                    <a:pt x="120" y="142"/>
                  </a:lnTo>
                  <a:lnTo>
                    <a:pt x="120" y="142"/>
                  </a:lnTo>
                  <a:lnTo>
                    <a:pt x="130" y="138"/>
                  </a:lnTo>
                  <a:lnTo>
                    <a:pt x="139" y="133"/>
                  </a:lnTo>
                  <a:lnTo>
                    <a:pt x="147" y="127"/>
                  </a:lnTo>
                  <a:lnTo>
                    <a:pt x="156" y="122"/>
                  </a:lnTo>
                  <a:lnTo>
                    <a:pt x="163" y="114"/>
                  </a:lnTo>
                  <a:lnTo>
                    <a:pt x="171" y="108"/>
                  </a:lnTo>
                  <a:lnTo>
                    <a:pt x="178" y="100"/>
                  </a:lnTo>
                  <a:lnTo>
                    <a:pt x="185" y="92"/>
                  </a:lnTo>
                  <a:lnTo>
                    <a:pt x="190" y="83"/>
                  </a:lnTo>
                  <a:lnTo>
                    <a:pt x="196" y="75"/>
                  </a:lnTo>
                  <a:lnTo>
                    <a:pt x="200" y="65"/>
                  </a:lnTo>
                  <a:lnTo>
                    <a:pt x="204" y="55"/>
                  </a:lnTo>
                  <a:lnTo>
                    <a:pt x="206" y="46"/>
                  </a:lnTo>
                  <a:lnTo>
                    <a:pt x="208" y="36"/>
                  </a:lnTo>
                  <a:lnTo>
                    <a:pt x="211" y="25"/>
                  </a:lnTo>
                  <a:lnTo>
                    <a:pt x="211" y="16"/>
                  </a:lnTo>
                  <a:lnTo>
                    <a:pt x="211" y="0"/>
                  </a:lnTo>
                  <a:lnTo>
                    <a:pt x="19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Freeform 537">
              <a:extLst>
                <a:ext uri="{FF2B5EF4-FFF2-40B4-BE49-F238E27FC236}">
                  <a16:creationId xmlns:a16="http://schemas.microsoft.com/office/drawing/2014/main" id="{DE0EC588-97A6-47C1-A544-9A61FF21CA30}"/>
                </a:ext>
              </a:extLst>
            </p:cNvPr>
            <p:cNvSpPr>
              <a:spLocks/>
            </p:cNvSpPr>
            <p:nvPr/>
          </p:nvSpPr>
          <p:spPr bwMode="auto">
            <a:xfrm>
              <a:off x="3316288" y="2587625"/>
              <a:ext cx="66675" cy="57150"/>
            </a:xfrm>
            <a:custGeom>
              <a:avLst/>
              <a:gdLst>
                <a:gd name="T0" fmla="*/ 213 w 213"/>
                <a:gd name="T1" fmla="*/ 143 h 181"/>
                <a:gd name="T2" fmla="*/ 211 w 213"/>
                <a:gd name="T3" fmla="*/ 140 h 181"/>
                <a:gd name="T4" fmla="*/ 211 w 213"/>
                <a:gd name="T5" fmla="*/ 136 h 181"/>
                <a:gd name="T6" fmla="*/ 211 w 213"/>
                <a:gd name="T7" fmla="*/ 0 h 181"/>
                <a:gd name="T8" fmla="*/ 0 w 213"/>
                <a:gd name="T9" fmla="*/ 0 h 181"/>
                <a:gd name="T10" fmla="*/ 0 w 213"/>
                <a:gd name="T11" fmla="*/ 151 h 181"/>
                <a:gd name="T12" fmla="*/ 0 w 213"/>
                <a:gd name="T13" fmla="*/ 152 h 181"/>
                <a:gd name="T14" fmla="*/ 0 w 213"/>
                <a:gd name="T15" fmla="*/ 153 h 181"/>
                <a:gd name="T16" fmla="*/ 11 w 213"/>
                <a:gd name="T17" fmla="*/ 159 h 181"/>
                <a:gd name="T18" fmla="*/ 23 w 213"/>
                <a:gd name="T19" fmla="*/ 165 h 181"/>
                <a:gd name="T20" fmla="*/ 34 w 213"/>
                <a:gd name="T21" fmla="*/ 169 h 181"/>
                <a:gd name="T22" fmla="*/ 48 w 213"/>
                <a:gd name="T23" fmla="*/ 173 h 181"/>
                <a:gd name="T24" fmla="*/ 61 w 213"/>
                <a:gd name="T25" fmla="*/ 177 h 181"/>
                <a:gd name="T26" fmla="*/ 76 w 213"/>
                <a:gd name="T27" fmla="*/ 179 h 181"/>
                <a:gd name="T28" fmla="*/ 90 w 213"/>
                <a:gd name="T29" fmla="*/ 181 h 181"/>
                <a:gd name="T30" fmla="*/ 105 w 213"/>
                <a:gd name="T31" fmla="*/ 181 h 181"/>
                <a:gd name="T32" fmla="*/ 122 w 213"/>
                <a:gd name="T33" fmla="*/ 180 h 181"/>
                <a:gd name="T34" fmla="*/ 138 w 213"/>
                <a:gd name="T35" fmla="*/ 179 h 181"/>
                <a:gd name="T36" fmla="*/ 152 w 213"/>
                <a:gd name="T37" fmla="*/ 175 h 181"/>
                <a:gd name="T38" fmla="*/ 166 w 213"/>
                <a:gd name="T39" fmla="*/ 171 h 181"/>
                <a:gd name="T40" fmla="*/ 179 w 213"/>
                <a:gd name="T41" fmla="*/ 167 h 181"/>
                <a:gd name="T42" fmla="*/ 192 w 213"/>
                <a:gd name="T43" fmla="*/ 160 h 181"/>
                <a:gd name="T44" fmla="*/ 203 w 213"/>
                <a:gd name="T45" fmla="*/ 153 h 181"/>
                <a:gd name="T46" fmla="*/ 213 w 213"/>
                <a:gd name="T47" fmla="*/ 143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3" h="181">
                  <a:moveTo>
                    <a:pt x="213" y="143"/>
                  </a:moveTo>
                  <a:lnTo>
                    <a:pt x="211" y="140"/>
                  </a:lnTo>
                  <a:lnTo>
                    <a:pt x="211" y="136"/>
                  </a:lnTo>
                  <a:lnTo>
                    <a:pt x="211" y="0"/>
                  </a:lnTo>
                  <a:lnTo>
                    <a:pt x="0" y="0"/>
                  </a:lnTo>
                  <a:lnTo>
                    <a:pt x="0" y="151"/>
                  </a:lnTo>
                  <a:lnTo>
                    <a:pt x="0" y="152"/>
                  </a:lnTo>
                  <a:lnTo>
                    <a:pt x="0" y="153"/>
                  </a:lnTo>
                  <a:lnTo>
                    <a:pt x="11" y="159"/>
                  </a:lnTo>
                  <a:lnTo>
                    <a:pt x="23" y="165"/>
                  </a:lnTo>
                  <a:lnTo>
                    <a:pt x="34" y="169"/>
                  </a:lnTo>
                  <a:lnTo>
                    <a:pt x="48" y="173"/>
                  </a:lnTo>
                  <a:lnTo>
                    <a:pt x="61" y="177"/>
                  </a:lnTo>
                  <a:lnTo>
                    <a:pt x="76" y="179"/>
                  </a:lnTo>
                  <a:lnTo>
                    <a:pt x="90" y="181"/>
                  </a:lnTo>
                  <a:lnTo>
                    <a:pt x="105" y="181"/>
                  </a:lnTo>
                  <a:lnTo>
                    <a:pt x="122" y="180"/>
                  </a:lnTo>
                  <a:lnTo>
                    <a:pt x="138" y="179"/>
                  </a:lnTo>
                  <a:lnTo>
                    <a:pt x="152" y="175"/>
                  </a:lnTo>
                  <a:lnTo>
                    <a:pt x="166" y="171"/>
                  </a:lnTo>
                  <a:lnTo>
                    <a:pt x="179" y="167"/>
                  </a:lnTo>
                  <a:lnTo>
                    <a:pt x="192" y="160"/>
                  </a:lnTo>
                  <a:lnTo>
                    <a:pt x="203" y="153"/>
                  </a:lnTo>
                  <a:lnTo>
                    <a:pt x="213" y="1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0" name="Freeform 538">
              <a:extLst>
                <a:ext uri="{FF2B5EF4-FFF2-40B4-BE49-F238E27FC236}">
                  <a16:creationId xmlns:a16="http://schemas.microsoft.com/office/drawing/2014/main" id="{3794A9B4-9E0C-4C0C-804E-3E4BB0967036}"/>
                </a:ext>
              </a:extLst>
            </p:cNvPr>
            <p:cNvSpPr>
              <a:spLocks/>
            </p:cNvSpPr>
            <p:nvPr/>
          </p:nvSpPr>
          <p:spPr bwMode="auto">
            <a:xfrm>
              <a:off x="3249613" y="2587625"/>
              <a:ext cx="57150" cy="57150"/>
            </a:xfrm>
            <a:custGeom>
              <a:avLst/>
              <a:gdLst>
                <a:gd name="T0" fmla="*/ 0 w 181"/>
                <a:gd name="T1" fmla="*/ 0 h 181"/>
                <a:gd name="T2" fmla="*/ 0 w 181"/>
                <a:gd name="T3" fmla="*/ 149 h 181"/>
                <a:gd name="T4" fmla="*/ 8 w 181"/>
                <a:gd name="T5" fmla="*/ 157 h 181"/>
                <a:gd name="T6" fmla="*/ 18 w 181"/>
                <a:gd name="T7" fmla="*/ 164 h 181"/>
                <a:gd name="T8" fmla="*/ 28 w 181"/>
                <a:gd name="T9" fmla="*/ 169 h 181"/>
                <a:gd name="T10" fmla="*/ 38 w 181"/>
                <a:gd name="T11" fmla="*/ 173 h 181"/>
                <a:gd name="T12" fmla="*/ 49 w 181"/>
                <a:gd name="T13" fmla="*/ 177 h 181"/>
                <a:gd name="T14" fmla="*/ 62 w 181"/>
                <a:gd name="T15" fmla="*/ 179 h 181"/>
                <a:gd name="T16" fmla="*/ 75 w 181"/>
                <a:gd name="T17" fmla="*/ 181 h 181"/>
                <a:gd name="T18" fmla="*/ 90 w 181"/>
                <a:gd name="T19" fmla="*/ 181 h 181"/>
                <a:gd name="T20" fmla="*/ 103 w 181"/>
                <a:gd name="T21" fmla="*/ 181 h 181"/>
                <a:gd name="T22" fmla="*/ 116 w 181"/>
                <a:gd name="T23" fmla="*/ 179 h 181"/>
                <a:gd name="T24" fmla="*/ 129 w 181"/>
                <a:gd name="T25" fmla="*/ 178 h 181"/>
                <a:gd name="T26" fmla="*/ 139 w 181"/>
                <a:gd name="T27" fmla="*/ 174 h 181"/>
                <a:gd name="T28" fmla="*/ 151 w 181"/>
                <a:gd name="T29" fmla="*/ 170 h 181"/>
                <a:gd name="T30" fmla="*/ 161 w 181"/>
                <a:gd name="T31" fmla="*/ 166 h 181"/>
                <a:gd name="T32" fmla="*/ 171 w 181"/>
                <a:gd name="T33" fmla="*/ 160 h 181"/>
                <a:gd name="T34" fmla="*/ 181 w 181"/>
                <a:gd name="T35" fmla="*/ 154 h 181"/>
                <a:gd name="T36" fmla="*/ 180 w 181"/>
                <a:gd name="T37" fmla="*/ 152 h 181"/>
                <a:gd name="T38" fmla="*/ 180 w 181"/>
                <a:gd name="T39" fmla="*/ 151 h 181"/>
                <a:gd name="T40" fmla="*/ 180 w 181"/>
                <a:gd name="T41" fmla="*/ 0 h 181"/>
                <a:gd name="T42" fmla="*/ 0 w 181"/>
                <a:gd name="T43"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1" h="181">
                  <a:moveTo>
                    <a:pt x="0" y="0"/>
                  </a:moveTo>
                  <a:lnTo>
                    <a:pt x="0" y="149"/>
                  </a:lnTo>
                  <a:lnTo>
                    <a:pt x="8" y="157"/>
                  </a:lnTo>
                  <a:lnTo>
                    <a:pt x="18" y="164"/>
                  </a:lnTo>
                  <a:lnTo>
                    <a:pt x="28" y="169"/>
                  </a:lnTo>
                  <a:lnTo>
                    <a:pt x="38" y="173"/>
                  </a:lnTo>
                  <a:lnTo>
                    <a:pt x="49" y="177"/>
                  </a:lnTo>
                  <a:lnTo>
                    <a:pt x="62" y="179"/>
                  </a:lnTo>
                  <a:lnTo>
                    <a:pt x="75" y="181"/>
                  </a:lnTo>
                  <a:lnTo>
                    <a:pt x="90" y="181"/>
                  </a:lnTo>
                  <a:lnTo>
                    <a:pt x="103" y="181"/>
                  </a:lnTo>
                  <a:lnTo>
                    <a:pt x="116" y="179"/>
                  </a:lnTo>
                  <a:lnTo>
                    <a:pt x="129" y="178"/>
                  </a:lnTo>
                  <a:lnTo>
                    <a:pt x="139" y="174"/>
                  </a:lnTo>
                  <a:lnTo>
                    <a:pt x="151" y="170"/>
                  </a:lnTo>
                  <a:lnTo>
                    <a:pt x="161" y="166"/>
                  </a:lnTo>
                  <a:lnTo>
                    <a:pt x="171" y="160"/>
                  </a:lnTo>
                  <a:lnTo>
                    <a:pt x="181" y="154"/>
                  </a:lnTo>
                  <a:lnTo>
                    <a:pt x="180" y="152"/>
                  </a:lnTo>
                  <a:lnTo>
                    <a:pt x="180" y="151"/>
                  </a:lnTo>
                  <a:lnTo>
                    <a:pt x="18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1" name="Freeform 539">
              <a:extLst>
                <a:ext uri="{FF2B5EF4-FFF2-40B4-BE49-F238E27FC236}">
                  <a16:creationId xmlns:a16="http://schemas.microsoft.com/office/drawing/2014/main" id="{0778A0FA-8089-4CF0-8F14-6C132D0A3CDC}"/>
                </a:ext>
              </a:extLst>
            </p:cNvPr>
            <p:cNvSpPr>
              <a:spLocks/>
            </p:cNvSpPr>
            <p:nvPr/>
          </p:nvSpPr>
          <p:spPr bwMode="auto">
            <a:xfrm>
              <a:off x="3171825" y="2587625"/>
              <a:ext cx="68263" cy="47625"/>
            </a:xfrm>
            <a:custGeom>
              <a:avLst/>
              <a:gdLst>
                <a:gd name="T0" fmla="*/ 211 w 211"/>
                <a:gd name="T1" fmla="*/ 133 h 151"/>
                <a:gd name="T2" fmla="*/ 211 w 211"/>
                <a:gd name="T3" fmla="*/ 0 h 151"/>
                <a:gd name="T4" fmla="*/ 30 w 211"/>
                <a:gd name="T5" fmla="*/ 0 h 151"/>
                <a:gd name="T6" fmla="*/ 15 w 211"/>
                <a:gd name="T7" fmla="*/ 0 h 151"/>
                <a:gd name="T8" fmla="*/ 0 w 211"/>
                <a:gd name="T9" fmla="*/ 0 h 151"/>
                <a:gd name="T10" fmla="*/ 0 w 211"/>
                <a:gd name="T11" fmla="*/ 16 h 151"/>
                <a:gd name="T12" fmla="*/ 1 w 211"/>
                <a:gd name="T13" fmla="*/ 30 h 151"/>
                <a:gd name="T14" fmla="*/ 2 w 211"/>
                <a:gd name="T15" fmla="*/ 42 h 151"/>
                <a:gd name="T16" fmla="*/ 5 w 211"/>
                <a:gd name="T17" fmla="*/ 56 h 151"/>
                <a:gd name="T18" fmla="*/ 9 w 211"/>
                <a:gd name="T19" fmla="*/ 68 h 151"/>
                <a:gd name="T20" fmla="*/ 13 w 211"/>
                <a:gd name="T21" fmla="*/ 80 h 151"/>
                <a:gd name="T22" fmla="*/ 20 w 211"/>
                <a:gd name="T23" fmla="*/ 92 h 151"/>
                <a:gd name="T24" fmla="*/ 26 w 211"/>
                <a:gd name="T25" fmla="*/ 101 h 151"/>
                <a:gd name="T26" fmla="*/ 35 w 211"/>
                <a:gd name="T27" fmla="*/ 111 h 151"/>
                <a:gd name="T28" fmla="*/ 42 w 211"/>
                <a:gd name="T29" fmla="*/ 120 h 151"/>
                <a:gd name="T30" fmla="*/ 52 w 211"/>
                <a:gd name="T31" fmla="*/ 128 h 151"/>
                <a:gd name="T32" fmla="*/ 62 w 211"/>
                <a:gd name="T33" fmla="*/ 135 h 151"/>
                <a:gd name="T34" fmla="*/ 72 w 211"/>
                <a:gd name="T35" fmla="*/ 140 h 151"/>
                <a:gd name="T36" fmla="*/ 84 w 211"/>
                <a:gd name="T37" fmla="*/ 144 h 151"/>
                <a:gd name="T38" fmla="*/ 95 w 211"/>
                <a:gd name="T39" fmla="*/ 148 h 151"/>
                <a:gd name="T40" fmla="*/ 108 w 211"/>
                <a:gd name="T41" fmla="*/ 150 h 151"/>
                <a:gd name="T42" fmla="*/ 120 w 211"/>
                <a:gd name="T43" fmla="*/ 151 h 151"/>
                <a:gd name="T44" fmla="*/ 137 w 211"/>
                <a:gd name="T45" fmla="*/ 150 h 151"/>
                <a:gd name="T46" fmla="*/ 159 w 211"/>
                <a:gd name="T47" fmla="*/ 147 h 151"/>
                <a:gd name="T48" fmla="*/ 172 w 211"/>
                <a:gd name="T49" fmla="*/ 144 h 151"/>
                <a:gd name="T50" fmla="*/ 185 w 211"/>
                <a:gd name="T51" fmla="*/ 141 h 151"/>
                <a:gd name="T52" fmla="*/ 198 w 211"/>
                <a:gd name="T53" fmla="*/ 138 h 151"/>
                <a:gd name="T54" fmla="*/ 211 w 211"/>
                <a:gd name="T55" fmla="*/ 133 h 151"/>
                <a:gd name="T56" fmla="*/ 211 w 211"/>
                <a:gd name="T57" fmla="*/ 13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1" h="151">
                  <a:moveTo>
                    <a:pt x="211" y="133"/>
                  </a:moveTo>
                  <a:lnTo>
                    <a:pt x="211" y="0"/>
                  </a:lnTo>
                  <a:lnTo>
                    <a:pt x="30" y="0"/>
                  </a:lnTo>
                  <a:lnTo>
                    <a:pt x="15" y="0"/>
                  </a:lnTo>
                  <a:lnTo>
                    <a:pt x="0" y="0"/>
                  </a:lnTo>
                  <a:lnTo>
                    <a:pt x="0" y="16"/>
                  </a:lnTo>
                  <a:lnTo>
                    <a:pt x="1" y="30"/>
                  </a:lnTo>
                  <a:lnTo>
                    <a:pt x="2" y="42"/>
                  </a:lnTo>
                  <a:lnTo>
                    <a:pt x="5" y="56"/>
                  </a:lnTo>
                  <a:lnTo>
                    <a:pt x="9" y="68"/>
                  </a:lnTo>
                  <a:lnTo>
                    <a:pt x="13" y="80"/>
                  </a:lnTo>
                  <a:lnTo>
                    <a:pt x="20" y="92"/>
                  </a:lnTo>
                  <a:lnTo>
                    <a:pt x="26" y="101"/>
                  </a:lnTo>
                  <a:lnTo>
                    <a:pt x="35" y="111"/>
                  </a:lnTo>
                  <a:lnTo>
                    <a:pt x="42" y="120"/>
                  </a:lnTo>
                  <a:lnTo>
                    <a:pt x="52" y="128"/>
                  </a:lnTo>
                  <a:lnTo>
                    <a:pt x="62" y="135"/>
                  </a:lnTo>
                  <a:lnTo>
                    <a:pt x="72" y="140"/>
                  </a:lnTo>
                  <a:lnTo>
                    <a:pt x="84" y="144"/>
                  </a:lnTo>
                  <a:lnTo>
                    <a:pt x="95" y="148"/>
                  </a:lnTo>
                  <a:lnTo>
                    <a:pt x="108" y="150"/>
                  </a:lnTo>
                  <a:lnTo>
                    <a:pt x="120" y="151"/>
                  </a:lnTo>
                  <a:lnTo>
                    <a:pt x="137" y="150"/>
                  </a:lnTo>
                  <a:lnTo>
                    <a:pt x="159" y="147"/>
                  </a:lnTo>
                  <a:lnTo>
                    <a:pt x="172" y="144"/>
                  </a:lnTo>
                  <a:lnTo>
                    <a:pt x="185" y="141"/>
                  </a:lnTo>
                  <a:lnTo>
                    <a:pt x="198" y="138"/>
                  </a:lnTo>
                  <a:lnTo>
                    <a:pt x="211" y="133"/>
                  </a:lnTo>
                  <a:lnTo>
                    <a:pt x="211"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2" name="Freeform 540">
              <a:extLst>
                <a:ext uri="{FF2B5EF4-FFF2-40B4-BE49-F238E27FC236}">
                  <a16:creationId xmlns:a16="http://schemas.microsoft.com/office/drawing/2014/main" id="{3CAED700-07A5-4DBA-8B34-345BF1646FC2}"/>
                </a:ext>
              </a:extLst>
            </p:cNvPr>
            <p:cNvSpPr>
              <a:spLocks/>
            </p:cNvSpPr>
            <p:nvPr/>
          </p:nvSpPr>
          <p:spPr bwMode="auto">
            <a:xfrm>
              <a:off x="3382963" y="2722563"/>
              <a:ext cx="9525" cy="9525"/>
            </a:xfrm>
            <a:custGeom>
              <a:avLst/>
              <a:gdLst>
                <a:gd name="T0" fmla="*/ 15 w 30"/>
                <a:gd name="T1" fmla="*/ 30 h 30"/>
                <a:gd name="T2" fmla="*/ 17 w 30"/>
                <a:gd name="T3" fmla="*/ 29 h 30"/>
                <a:gd name="T4" fmla="*/ 21 w 30"/>
                <a:gd name="T5" fmla="*/ 28 h 30"/>
                <a:gd name="T6" fmla="*/ 23 w 30"/>
                <a:gd name="T7" fmla="*/ 27 h 30"/>
                <a:gd name="T8" fmla="*/ 26 w 30"/>
                <a:gd name="T9" fmla="*/ 25 h 30"/>
                <a:gd name="T10" fmla="*/ 27 w 30"/>
                <a:gd name="T11" fmla="*/ 23 h 30"/>
                <a:gd name="T12" fmla="*/ 29 w 30"/>
                <a:gd name="T13" fmla="*/ 21 h 30"/>
                <a:gd name="T14" fmla="*/ 29 w 30"/>
                <a:gd name="T15" fmla="*/ 17 h 30"/>
                <a:gd name="T16" fmla="*/ 30 w 30"/>
                <a:gd name="T17" fmla="*/ 15 h 30"/>
                <a:gd name="T18" fmla="*/ 29 w 30"/>
                <a:gd name="T19" fmla="*/ 12 h 30"/>
                <a:gd name="T20" fmla="*/ 29 w 30"/>
                <a:gd name="T21" fmla="*/ 9 h 30"/>
                <a:gd name="T22" fmla="*/ 27 w 30"/>
                <a:gd name="T23" fmla="*/ 7 h 30"/>
                <a:gd name="T24" fmla="*/ 26 w 30"/>
                <a:gd name="T25" fmla="*/ 4 h 30"/>
                <a:gd name="T26" fmla="*/ 23 w 30"/>
                <a:gd name="T27" fmla="*/ 2 h 30"/>
                <a:gd name="T28" fmla="*/ 21 w 30"/>
                <a:gd name="T29" fmla="*/ 1 h 30"/>
                <a:gd name="T30" fmla="*/ 17 w 30"/>
                <a:gd name="T31" fmla="*/ 0 h 30"/>
                <a:gd name="T32" fmla="*/ 15 w 30"/>
                <a:gd name="T33" fmla="*/ 0 h 30"/>
                <a:gd name="T34" fmla="*/ 12 w 30"/>
                <a:gd name="T35" fmla="*/ 0 h 30"/>
                <a:gd name="T36" fmla="*/ 9 w 30"/>
                <a:gd name="T37" fmla="*/ 1 h 30"/>
                <a:gd name="T38" fmla="*/ 7 w 30"/>
                <a:gd name="T39" fmla="*/ 2 h 30"/>
                <a:gd name="T40" fmla="*/ 5 w 30"/>
                <a:gd name="T41" fmla="*/ 4 h 30"/>
                <a:gd name="T42" fmla="*/ 2 w 30"/>
                <a:gd name="T43" fmla="*/ 7 h 30"/>
                <a:gd name="T44" fmla="*/ 1 w 30"/>
                <a:gd name="T45" fmla="*/ 9 h 30"/>
                <a:gd name="T46" fmla="*/ 0 w 30"/>
                <a:gd name="T47" fmla="*/ 12 h 30"/>
                <a:gd name="T48" fmla="*/ 0 w 30"/>
                <a:gd name="T49" fmla="*/ 15 h 30"/>
                <a:gd name="T50" fmla="*/ 0 w 30"/>
                <a:gd name="T51" fmla="*/ 17 h 30"/>
                <a:gd name="T52" fmla="*/ 1 w 30"/>
                <a:gd name="T53" fmla="*/ 21 h 30"/>
                <a:gd name="T54" fmla="*/ 2 w 30"/>
                <a:gd name="T55" fmla="*/ 23 h 30"/>
                <a:gd name="T56" fmla="*/ 5 w 30"/>
                <a:gd name="T57" fmla="*/ 25 h 30"/>
                <a:gd name="T58" fmla="*/ 7 w 30"/>
                <a:gd name="T59" fmla="*/ 27 h 30"/>
                <a:gd name="T60" fmla="*/ 9 w 30"/>
                <a:gd name="T61" fmla="*/ 28 h 30"/>
                <a:gd name="T62" fmla="*/ 12 w 30"/>
                <a:gd name="T63" fmla="*/ 29 h 30"/>
                <a:gd name="T64" fmla="*/ 15 w 30"/>
                <a:gd name="T65"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 h="30">
                  <a:moveTo>
                    <a:pt x="15" y="30"/>
                  </a:moveTo>
                  <a:lnTo>
                    <a:pt x="17" y="29"/>
                  </a:lnTo>
                  <a:lnTo>
                    <a:pt x="21" y="28"/>
                  </a:lnTo>
                  <a:lnTo>
                    <a:pt x="23" y="27"/>
                  </a:lnTo>
                  <a:lnTo>
                    <a:pt x="26" y="25"/>
                  </a:lnTo>
                  <a:lnTo>
                    <a:pt x="27" y="23"/>
                  </a:lnTo>
                  <a:lnTo>
                    <a:pt x="29" y="21"/>
                  </a:lnTo>
                  <a:lnTo>
                    <a:pt x="29" y="17"/>
                  </a:lnTo>
                  <a:lnTo>
                    <a:pt x="30" y="15"/>
                  </a:lnTo>
                  <a:lnTo>
                    <a:pt x="29" y="12"/>
                  </a:lnTo>
                  <a:lnTo>
                    <a:pt x="29" y="9"/>
                  </a:lnTo>
                  <a:lnTo>
                    <a:pt x="27" y="7"/>
                  </a:lnTo>
                  <a:lnTo>
                    <a:pt x="26" y="4"/>
                  </a:lnTo>
                  <a:lnTo>
                    <a:pt x="23" y="2"/>
                  </a:lnTo>
                  <a:lnTo>
                    <a:pt x="21" y="1"/>
                  </a:lnTo>
                  <a:lnTo>
                    <a:pt x="17" y="0"/>
                  </a:lnTo>
                  <a:lnTo>
                    <a:pt x="15" y="0"/>
                  </a:lnTo>
                  <a:lnTo>
                    <a:pt x="12" y="0"/>
                  </a:lnTo>
                  <a:lnTo>
                    <a:pt x="9" y="1"/>
                  </a:lnTo>
                  <a:lnTo>
                    <a:pt x="7" y="2"/>
                  </a:lnTo>
                  <a:lnTo>
                    <a:pt x="5" y="4"/>
                  </a:lnTo>
                  <a:lnTo>
                    <a:pt x="2" y="7"/>
                  </a:lnTo>
                  <a:lnTo>
                    <a:pt x="1" y="9"/>
                  </a:lnTo>
                  <a:lnTo>
                    <a:pt x="0" y="12"/>
                  </a:lnTo>
                  <a:lnTo>
                    <a:pt x="0" y="15"/>
                  </a:lnTo>
                  <a:lnTo>
                    <a:pt x="0" y="17"/>
                  </a:lnTo>
                  <a:lnTo>
                    <a:pt x="1" y="21"/>
                  </a:lnTo>
                  <a:lnTo>
                    <a:pt x="2" y="23"/>
                  </a:lnTo>
                  <a:lnTo>
                    <a:pt x="5" y="25"/>
                  </a:lnTo>
                  <a:lnTo>
                    <a:pt x="7" y="27"/>
                  </a:lnTo>
                  <a:lnTo>
                    <a:pt x="9" y="28"/>
                  </a:lnTo>
                  <a:lnTo>
                    <a:pt x="12" y="29"/>
                  </a:lnTo>
                  <a:lnTo>
                    <a:pt x="1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3" name="Freeform 541">
              <a:extLst>
                <a:ext uri="{FF2B5EF4-FFF2-40B4-BE49-F238E27FC236}">
                  <a16:creationId xmlns:a16="http://schemas.microsoft.com/office/drawing/2014/main" id="{BCA3A954-7CAB-4185-832E-D23B799CB0D4}"/>
                </a:ext>
              </a:extLst>
            </p:cNvPr>
            <p:cNvSpPr>
              <a:spLocks/>
            </p:cNvSpPr>
            <p:nvPr/>
          </p:nvSpPr>
          <p:spPr bwMode="auto">
            <a:xfrm>
              <a:off x="3175000" y="2530475"/>
              <a:ext cx="80963" cy="47625"/>
            </a:xfrm>
            <a:custGeom>
              <a:avLst/>
              <a:gdLst>
                <a:gd name="T0" fmla="*/ 35 w 258"/>
                <a:gd name="T1" fmla="*/ 151 h 151"/>
                <a:gd name="T2" fmla="*/ 208 w 258"/>
                <a:gd name="T3" fmla="*/ 151 h 151"/>
                <a:gd name="T4" fmla="*/ 258 w 258"/>
                <a:gd name="T5" fmla="*/ 0 h 151"/>
                <a:gd name="T6" fmla="*/ 99 w 258"/>
                <a:gd name="T7" fmla="*/ 0 h 151"/>
                <a:gd name="T8" fmla="*/ 95 w 258"/>
                <a:gd name="T9" fmla="*/ 1 h 151"/>
                <a:gd name="T10" fmla="*/ 91 w 258"/>
                <a:gd name="T11" fmla="*/ 2 h 151"/>
                <a:gd name="T12" fmla="*/ 88 w 258"/>
                <a:gd name="T13" fmla="*/ 5 h 151"/>
                <a:gd name="T14" fmla="*/ 86 w 258"/>
                <a:gd name="T15" fmla="*/ 8 h 151"/>
                <a:gd name="T16" fmla="*/ 18 w 258"/>
                <a:gd name="T17" fmla="*/ 120 h 151"/>
                <a:gd name="T18" fmla="*/ 0 w 258"/>
                <a:gd name="T19" fmla="*/ 151 h 151"/>
                <a:gd name="T20" fmla="*/ 9 w 258"/>
                <a:gd name="T21" fmla="*/ 151 h 151"/>
                <a:gd name="T22" fmla="*/ 35 w 258"/>
                <a:gd name="T23"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8" h="151">
                  <a:moveTo>
                    <a:pt x="35" y="151"/>
                  </a:moveTo>
                  <a:lnTo>
                    <a:pt x="208" y="151"/>
                  </a:lnTo>
                  <a:lnTo>
                    <a:pt x="258" y="0"/>
                  </a:lnTo>
                  <a:lnTo>
                    <a:pt x="99" y="0"/>
                  </a:lnTo>
                  <a:lnTo>
                    <a:pt x="95" y="1"/>
                  </a:lnTo>
                  <a:lnTo>
                    <a:pt x="91" y="2"/>
                  </a:lnTo>
                  <a:lnTo>
                    <a:pt x="88" y="5"/>
                  </a:lnTo>
                  <a:lnTo>
                    <a:pt x="86" y="8"/>
                  </a:lnTo>
                  <a:lnTo>
                    <a:pt x="18" y="120"/>
                  </a:lnTo>
                  <a:lnTo>
                    <a:pt x="0" y="151"/>
                  </a:lnTo>
                  <a:lnTo>
                    <a:pt x="9" y="151"/>
                  </a:lnTo>
                  <a:lnTo>
                    <a:pt x="3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4" name="Freeform 542">
              <a:extLst>
                <a:ext uri="{FF2B5EF4-FFF2-40B4-BE49-F238E27FC236}">
                  <a16:creationId xmlns:a16="http://schemas.microsoft.com/office/drawing/2014/main" id="{E7B471C4-5AD5-4F7F-8F66-8EDEBC6466E1}"/>
                </a:ext>
              </a:extLst>
            </p:cNvPr>
            <p:cNvSpPr>
              <a:spLocks/>
            </p:cNvSpPr>
            <p:nvPr/>
          </p:nvSpPr>
          <p:spPr bwMode="auto">
            <a:xfrm>
              <a:off x="3251200" y="2530475"/>
              <a:ext cx="55563" cy="47625"/>
            </a:xfrm>
            <a:custGeom>
              <a:avLst/>
              <a:gdLst>
                <a:gd name="T0" fmla="*/ 175 w 175"/>
                <a:gd name="T1" fmla="*/ 151 h 151"/>
                <a:gd name="T2" fmla="*/ 175 w 175"/>
                <a:gd name="T3" fmla="*/ 0 h 151"/>
                <a:gd name="T4" fmla="*/ 51 w 175"/>
                <a:gd name="T5" fmla="*/ 0 h 151"/>
                <a:gd name="T6" fmla="*/ 0 w 175"/>
                <a:gd name="T7" fmla="*/ 151 h 151"/>
                <a:gd name="T8" fmla="*/ 175 w 175"/>
                <a:gd name="T9" fmla="*/ 151 h 151"/>
              </a:gdLst>
              <a:ahLst/>
              <a:cxnLst>
                <a:cxn ang="0">
                  <a:pos x="T0" y="T1"/>
                </a:cxn>
                <a:cxn ang="0">
                  <a:pos x="T2" y="T3"/>
                </a:cxn>
                <a:cxn ang="0">
                  <a:pos x="T4" y="T5"/>
                </a:cxn>
                <a:cxn ang="0">
                  <a:pos x="T6" y="T7"/>
                </a:cxn>
                <a:cxn ang="0">
                  <a:pos x="T8" y="T9"/>
                </a:cxn>
              </a:cxnLst>
              <a:rect l="0" t="0" r="r" b="b"/>
              <a:pathLst>
                <a:path w="175" h="151">
                  <a:moveTo>
                    <a:pt x="175" y="151"/>
                  </a:moveTo>
                  <a:lnTo>
                    <a:pt x="175" y="0"/>
                  </a:lnTo>
                  <a:lnTo>
                    <a:pt x="51" y="0"/>
                  </a:lnTo>
                  <a:lnTo>
                    <a:pt x="0" y="151"/>
                  </a:lnTo>
                  <a:lnTo>
                    <a:pt x="17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5" name="Freeform 543">
              <a:extLst>
                <a:ext uri="{FF2B5EF4-FFF2-40B4-BE49-F238E27FC236}">
                  <a16:creationId xmlns:a16="http://schemas.microsoft.com/office/drawing/2014/main" id="{917212E4-1B3E-4DDC-878D-35471ADB9AB7}"/>
                </a:ext>
              </a:extLst>
            </p:cNvPr>
            <p:cNvSpPr>
              <a:spLocks/>
            </p:cNvSpPr>
            <p:nvPr/>
          </p:nvSpPr>
          <p:spPr bwMode="auto">
            <a:xfrm>
              <a:off x="3375025" y="2530475"/>
              <a:ext cx="82550" cy="47625"/>
            </a:xfrm>
            <a:custGeom>
              <a:avLst/>
              <a:gdLst>
                <a:gd name="T0" fmla="*/ 223 w 258"/>
                <a:gd name="T1" fmla="*/ 151 h 151"/>
                <a:gd name="T2" fmla="*/ 250 w 258"/>
                <a:gd name="T3" fmla="*/ 151 h 151"/>
                <a:gd name="T4" fmla="*/ 258 w 258"/>
                <a:gd name="T5" fmla="*/ 151 h 151"/>
                <a:gd name="T6" fmla="*/ 240 w 258"/>
                <a:gd name="T7" fmla="*/ 120 h 151"/>
                <a:gd name="T8" fmla="*/ 172 w 258"/>
                <a:gd name="T9" fmla="*/ 8 h 151"/>
                <a:gd name="T10" fmla="*/ 170 w 258"/>
                <a:gd name="T11" fmla="*/ 5 h 151"/>
                <a:gd name="T12" fmla="*/ 167 w 258"/>
                <a:gd name="T13" fmla="*/ 2 h 151"/>
                <a:gd name="T14" fmla="*/ 164 w 258"/>
                <a:gd name="T15" fmla="*/ 1 h 151"/>
                <a:gd name="T16" fmla="*/ 159 w 258"/>
                <a:gd name="T17" fmla="*/ 0 h 151"/>
                <a:gd name="T18" fmla="*/ 0 w 258"/>
                <a:gd name="T19" fmla="*/ 0 h 151"/>
                <a:gd name="T20" fmla="*/ 50 w 258"/>
                <a:gd name="T21" fmla="*/ 151 h 151"/>
                <a:gd name="T22" fmla="*/ 223 w 258"/>
                <a:gd name="T23" fmla="*/ 151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8" h="151">
                  <a:moveTo>
                    <a:pt x="223" y="151"/>
                  </a:moveTo>
                  <a:lnTo>
                    <a:pt x="250" y="151"/>
                  </a:lnTo>
                  <a:lnTo>
                    <a:pt x="258" y="151"/>
                  </a:lnTo>
                  <a:lnTo>
                    <a:pt x="240" y="120"/>
                  </a:lnTo>
                  <a:lnTo>
                    <a:pt x="172" y="8"/>
                  </a:lnTo>
                  <a:lnTo>
                    <a:pt x="170" y="5"/>
                  </a:lnTo>
                  <a:lnTo>
                    <a:pt x="167" y="2"/>
                  </a:lnTo>
                  <a:lnTo>
                    <a:pt x="164" y="1"/>
                  </a:lnTo>
                  <a:lnTo>
                    <a:pt x="159" y="0"/>
                  </a:lnTo>
                  <a:lnTo>
                    <a:pt x="0" y="0"/>
                  </a:lnTo>
                  <a:lnTo>
                    <a:pt x="50" y="151"/>
                  </a:lnTo>
                  <a:lnTo>
                    <a:pt x="223"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6" name="Freeform 544">
              <a:extLst>
                <a:ext uri="{FF2B5EF4-FFF2-40B4-BE49-F238E27FC236}">
                  <a16:creationId xmlns:a16="http://schemas.microsoft.com/office/drawing/2014/main" id="{B3ECF76E-A2EA-4E6B-8F85-B00FE0B31D53}"/>
                </a:ext>
              </a:extLst>
            </p:cNvPr>
            <p:cNvSpPr>
              <a:spLocks/>
            </p:cNvSpPr>
            <p:nvPr/>
          </p:nvSpPr>
          <p:spPr bwMode="auto">
            <a:xfrm>
              <a:off x="3316288" y="2530475"/>
              <a:ext cx="65088" cy="47625"/>
            </a:xfrm>
            <a:custGeom>
              <a:avLst/>
              <a:gdLst>
                <a:gd name="T0" fmla="*/ 154 w 205"/>
                <a:gd name="T1" fmla="*/ 0 h 151"/>
                <a:gd name="T2" fmla="*/ 0 w 205"/>
                <a:gd name="T3" fmla="*/ 0 h 151"/>
                <a:gd name="T4" fmla="*/ 0 w 205"/>
                <a:gd name="T5" fmla="*/ 151 h 151"/>
                <a:gd name="T6" fmla="*/ 205 w 205"/>
                <a:gd name="T7" fmla="*/ 151 h 151"/>
                <a:gd name="T8" fmla="*/ 154 w 205"/>
                <a:gd name="T9" fmla="*/ 0 h 151"/>
              </a:gdLst>
              <a:ahLst/>
              <a:cxnLst>
                <a:cxn ang="0">
                  <a:pos x="T0" y="T1"/>
                </a:cxn>
                <a:cxn ang="0">
                  <a:pos x="T2" y="T3"/>
                </a:cxn>
                <a:cxn ang="0">
                  <a:pos x="T4" y="T5"/>
                </a:cxn>
                <a:cxn ang="0">
                  <a:pos x="T6" y="T7"/>
                </a:cxn>
                <a:cxn ang="0">
                  <a:pos x="T8" y="T9"/>
                </a:cxn>
              </a:cxnLst>
              <a:rect l="0" t="0" r="r" b="b"/>
              <a:pathLst>
                <a:path w="205" h="151">
                  <a:moveTo>
                    <a:pt x="154" y="0"/>
                  </a:moveTo>
                  <a:lnTo>
                    <a:pt x="0" y="0"/>
                  </a:lnTo>
                  <a:lnTo>
                    <a:pt x="0" y="151"/>
                  </a:lnTo>
                  <a:lnTo>
                    <a:pt x="205" y="151"/>
                  </a:lnTo>
                  <a:lnTo>
                    <a:pt x="15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0" name="Oval 49">
            <a:extLst>
              <a:ext uri="{FF2B5EF4-FFF2-40B4-BE49-F238E27FC236}">
                <a16:creationId xmlns:a16="http://schemas.microsoft.com/office/drawing/2014/main" id="{92311490-0FD0-4F7E-8350-D2D2700B475B}"/>
              </a:ext>
            </a:extLst>
          </p:cNvPr>
          <p:cNvSpPr/>
          <p:nvPr/>
        </p:nvSpPr>
        <p:spPr>
          <a:xfrm>
            <a:off x="630076" y="5256789"/>
            <a:ext cx="683090" cy="551095"/>
          </a:xfrm>
          <a:prstGeom prst="ellipse">
            <a:avLst/>
          </a:prstGeom>
          <a:solidFill>
            <a:srgbClr val="EFAB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B79814AB-1AB5-44BE-A96C-F31916356819}"/>
              </a:ext>
            </a:extLst>
          </p:cNvPr>
          <p:cNvSpPr/>
          <p:nvPr/>
        </p:nvSpPr>
        <p:spPr>
          <a:xfrm>
            <a:off x="686728" y="5225400"/>
            <a:ext cx="185271" cy="135427"/>
          </a:xfrm>
          <a:prstGeom prst="ellipse">
            <a:avLst/>
          </a:prstGeom>
          <a:solidFill>
            <a:srgbClr val="2027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4" name="Group 53">
            <a:extLst>
              <a:ext uri="{FF2B5EF4-FFF2-40B4-BE49-F238E27FC236}">
                <a16:creationId xmlns:a16="http://schemas.microsoft.com/office/drawing/2014/main" id="{28ED42DD-628C-4215-93D7-8117FCD4E4AA}"/>
              </a:ext>
            </a:extLst>
          </p:cNvPr>
          <p:cNvGrpSpPr/>
          <p:nvPr/>
        </p:nvGrpSpPr>
        <p:grpSpPr>
          <a:xfrm>
            <a:off x="797321" y="5366523"/>
            <a:ext cx="305420" cy="379201"/>
            <a:chOff x="5467350" y="2500313"/>
            <a:chExt cx="238125" cy="285750"/>
          </a:xfrm>
          <a:solidFill>
            <a:schemeClr val="bg1"/>
          </a:solidFill>
        </p:grpSpPr>
        <p:sp>
          <p:nvSpPr>
            <p:cNvPr id="97" name="Freeform 1295">
              <a:extLst>
                <a:ext uri="{FF2B5EF4-FFF2-40B4-BE49-F238E27FC236}">
                  <a16:creationId xmlns:a16="http://schemas.microsoft.com/office/drawing/2014/main" id="{82567728-3CEC-45E4-B8F1-4E6529CD7725}"/>
                </a:ext>
              </a:extLst>
            </p:cNvPr>
            <p:cNvSpPr>
              <a:spLocks noEditPoints="1"/>
            </p:cNvSpPr>
            <p:nvPr/>
          </p:nvSpPr>
          <p:spPr bwMode="auto">
            <a:xfrm>
              <a:off x="5467350" y="2547938"/>
              <a:ext cx="238125" cy="238125"/>
            </a:xfrm>
            <a:custGeom>
              <a:avLst/>
              <a:gdLst>
                <a:gd name="T0" fmla="*/ 257 w 751"/>
                <a:gd name="T1" fmla="*/ 702 h 753"/>
                <a:gd name="T2" fmla="*/ 143 w 751"/>
                <a:gd name="T3" fmla="*/ 633 h 753"/>
                <a:gd name="T4" fmla="*/ 64 w 751"/>
                <a:gd name="T5" fmla="*/ 527 h 753"/>
                <a:gd name="T6" fmla="*/ 30 w 751"/>
                <a:gd name="T7" fmla="*/ 395 h 753"/>
                <a:gd name="T8" fmla="*/ 50 w 751"/>
                <a:gd name="T9" fmla="*/ 261 h 753"/>
                <a:gd name="T10" fmla="*/ 115 w 751"/>
                <a:gd name="T11" fmla="*/ 150 h 753"/>
                <a:gd name="T12" fmla="*/ 217 w 751"/>
                <a:gd name="T13" fmla="*/ 71 h 753"/>
                <a:gd name="T14" fmla="*/ 344 w 751"/>
                <a:gd name="T15" fmla="*/ 33 h 753"/>
                <a:gd name="T16" fmla="*/ 279 w 751"/>
                <a:gd name="T17" fmla="*/ 108 h 753"/>
                <a:gd name="T18" fmla="*/ 188 w 751"/>
                <a:gd name="T19" fmla="*/ 162 h 753"/>
                <a:gd name="T20" fmla="*/ 123 w 751"/>
                <a:gd name="T21" fmla="*/ 245 h 753"/>
                <a:gd name="T22" fmla="*/ 91 w 751"/>
                <a:gd name="T23" fmla="*/ 349 h 753"/>
                <a:gd name="T24" fmla="*/ 103 w 751"/>
                <a:gd name="T25" fmla="*/ 462 h 753"/>
                <a:gd name="T26" fmla="*/ 155 w 751"/>
                <a:gd name="T27" fmla="*/ 559 h 753"/>
                <a:gd name="T28" fmla="*/ 239 w 751"/>
                <a:gd name="T29" fmla="*/ 628 h 753"/>
                <a:gd name="T30" fmla="*/ 346 w 751"/>
                <a:gd name="T31" fmla="*/ 661 h 753"/>
                <a:gd name="T32" fmla="*/ 460 w 751"/>
                <a:gd name="T33" fmla="*/ 650 h 753"/>
                <a:gd name="T34" fmla="*/ 557 w 751"/>
                <a:gd name="T35" fmla="*/ 598 h 753"/>
                <a:gd name="T36" fmla="*/ 626 w 751"/>
                <a:gd name="T37" fmla="*/ 513 h 753"/>
                <a:gd name="T38" fmla="*/ 660 w 751"/>
                <a:gd name="T39" fmla="*/ 406 h 753"/>
                <a:gd name="T40" fmla="*/ 619 w 751"/>
                <a:gd name="T41" fmla="*/ 227 h 753"/>
                <a:gd name="T42" fmla="*/ 677 w 751"/>
                <a:gd name="T43" fmla="*/ 208 h 753"/>
                <a:gd name="T44" fmla="*/ 719 w 751"/>
                <a:gd name="T45" fmla="*/ 328 h 753"/>
                <a:gd name="T46" fmla="*/ 710 w 751"/>
                <a:gd name="T47" fmla="*/ 463 h 753"/>
                <a:gd name="T48" fmla="*/ 653 w 751"/>
                <a:gd name="T49" fmla="*/ 583 h 753"/>
                <a:gd name="T50" fmla="*/ 555 w 751"/>
                <a:gd name="T51" fmla="*/ 673 h 753"/>
                <a:gd name="T52" fmla="*/ 429 w 751"/>
                <a:gd name="T53" fmla="*/ 719 h 753"/>
                <a:gd name="T54" fmla="*/ 283 w 751"/>
                <a:gd name="T55" fmla="*/ 464 h 753"/>
                <a:gd name="T56" fmla="*/ 198 w 751"/>
                <a:gd name="T57" fmla="*/ 464 h 753"/>
                <a:gd name="T58" fmla="*/ 198 w 751"/>
                <a:gd name="T59" fmla="*/ 379 h 753"/>
                <a:gd name="T60" fmla="*/ 283 w 751"/>
                <a:gd name="T61" fmla="*/ 379 h 753"/>
                <a:gd name="T62" fmla="*/ 237 w 751"/>
                <a:gd name="T63" fmla="*/ 321 h 753"/>
                <a:gd name="T64" fmla="*/ 221 w 751"/>
                <a:gd name="T65" fmla="*/ 238 h 753"/>
                <a:gd name="T66" fmla="*/ 303 w 751"/>
                <a:gd name="T67" fmla="*/ 221 h 753"/>
                <a:gd name="T68" fmla="*/ 320 w 751"/>
                <a:gd name="T69" fmla="*/ 305 h 753"/>
                <a:gd name="T70" fmla="*/ 414 w 751"/>
                <a:gd name="T71" fmla="*/ 487 h 753"/>
                <a:gd name="T72" fmla="*/ 447 w 751"/>
                <a:gd name="T73" fmla="*/ 566 h 753"/>
                <a:gd name="T74" fmla="*/ 368 w 751"/>
                <a:gd name="T75" fmla="*/ 598 h 753"/>
                <a:gd name="T76" fmla="*/ 335 w 751"/>
                <a:gd name="T77" fmla="*/ 519 h 753"/>
                <a:gd name="T78" fmla="*/ 460 w 751"/>
                <a:gd name="T79" fmla="*/ 294 h 753"/>
                <a:gd name="T80" fmla="*/ 540 w 751"/>
                <a:gd name="T81" fmla="*/ 283 h 753"/>
                <a:gd name="T82" fmla="*/ 469 w 751"/>
                <a:gd name="T83" fmla="*/ 330 h 753"/>
                <a:gd name="T84" fmla="*/ 561 w 751"/>
                <a:gd name="T85" fmla="*/ 455 h 753"/>
                <a:gd name="T86" fmla="*/ 477 w 751"/>
                <a:gd name="T87" fmla="*/ 471 h 753"/>
                <a:gd name="T88" fmla="*/ 461 w 751"/>
                <a:gd name="T89" fmla="*/ 389 h 753"/>
                <a:gd name="T90" fmla="*/ 545 w 751"/>
                <a:gd name="T91" fmla="*/ 372 h 753"/>
                <a:gd name="T92" fmla="*/ 636 w 751"/>
                <a:gd name="T93" fmla="*/ 108 h 753"/>
                <a:gd name="T94" fmla="*/ 391 w 751"/>
                <a:gd name="T95" fmla="*/ 340 h 753"/>
                <a:gd name="T96" fmla="*/ 337 w 751"/>
                <a:gd name="T97" fmla="*/ 3 h 753"/>
                <a:gd name="T98" fmla="*/ 197 w 751"/>
                <a:gd name="T99" fmla="*/ 46 h 753"/>
                <a:gd name="T100" fmla="*/ 86 w 751"/>
                <a:gd name="T101" fmla="*/ 139 h 753"/>
                <a:gd name="T102" fmla="*/ 17 w 751"/>
                <a:gd name="T103" fmla="*/ 265 h 753"/>
                <a:gd name="T104" fmla="*/ 1 w 751"/>
                <a:gd name="T105" fmla="*/ 415 h 753"/>
                <a:gd name="T106" fmla="*/ 45 w 751"/>
                <a:gd name="T107" fmla="*/ 556 h 753"/>
                <a:gd name="T108" fmla="*/ 137 w 751"/>
                <a:gd name="T109" fmla="*/ 667 h 753"/>
                <a:gd name="T110" fmla="*/ 263 w 751"/>
                <a:gd name="T111" fmla="*/ 736 h 753"/>
                <a:gd name="T112" fmla="*/ 414 w 751"/>
                <a:gd name="T113" fmla="*/ 751 h 753"/>
                <a:gd name="T114" fmla="*/ 555 w 751"/>
                <a:gd name="T115" fmla="*/ 707 h 753"/>
                <a:gd name="T116" fmla="*/ 665 w 751"/>
                <a:gd name="T117" fmla="*/ 616 h 753"/>
                <a:gd name="T118" fmla="*/ 734 w 751"/>
                <a:gd name="T119" fmla="*/ 488 h 753"/>
                <a:gd name="T120" fmla="*/ 750 w 751"/>
                <a:gd name="T121" fmla="*/ 340 h 753"/>
                <a:gd name="T122" fmla="*/ 708 w 751"/>
                <a:gd name="T123" fmla="*/ 201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1" h="753">
                  <a:moveTo>
                    <a:pt x="375" y="723"/>
                  </a:moveTo>
                  <a:lnTo>
                    <a:pt x="358" y="723"/>
                  </a:lnTo>
                  <a:lnTo>
                    <a:pt x="340" y="720"/>
                  </a:lnTo>
                  <a:lnTo>
                    <a:pt x="323" y="719"/>
                  </a:lnTo>
                  <a:lnTo>
                    <a:pt x="306" y="715"/>
                  </a:lnTo>
                  <a:lnTo>
                    <a:pt x="289" y="712"/>
                  </a:lnTo>
                  <a:lnTo>
                    <a:pt x="273" y="707"/>
                  </a:lnTo>
                  <a:lnTo>
                    <a:pt x="257" y="702"/>
                  </a:lnTo>
                  <a:lnTo>
                    <a:pt x="242" y="696"/>
                  </a:lnTo>
                  <a:lnTo>
                    <a:pt x="226" y="689"/>
                  </a:lnTo>
                  <a:lnTo>
                    <a:pt x="211" y="681"/>
                  </a:lnTo>
                  <a:lnTo>
                    <a:pt x="197" y="673"/>
                  </a:lnTo>
                  <a:lnTo>
                    <a:pt x="182" y="663"/>
                  </a:lnTo>
                  <a:lnTo>
                    <a:pt x="169" y="653"/>
                  </a:lnTo>
                  <a:lnTo>
                    <a:pt x="155" y="644"/>
                  </a:lnTo>
                  <a:lnTo>
                    <a:pt x="143" y="633"/>
                  </a:lnTo>
                  <a:lnTo>
                    <a:pt x="131" y="621"/>
                  </a:lnTo>
                  <a:lnTo>
                    <a:pt x="120" y="610"/>
                  </a:lnTo>
                  <a:lnTo>
                    <a:pt x="109" y="596"/>
                  </a:lnTo>
                  <a:lnTo>
                    <a:pt x="98" y="583"/>
                  </a:lnTo>
                  <a:lnTo>
                    <a:pt x="89" y="570"/>
                  </a:lnTo>
                  <a:lnTo>
                    <a:pt x="80" y="556"/>
                  </a:lnTo>
                  <a:lnTo>
                    <a:pt x="72" y="542"/>
                  </a:lnTo>
                  <a:lnTo>
                    <a:pt x="64" y="527"/>
                  </a:lnTo>
                  <a:lnTo>
                    <a:pt x="57" y="511"/>
                  </a:lnTo>
                  <a:lnTo>
                    <a:pt x="51" y="496"/>
                  </a:lnTo>
                  <a:lnTo>
                    <a:pt x="45" y="480"/>
                  </a:lnTo>
                  <a:lnTo>
                    <a:pt x="41" y="463"/>
                  </a:lnTo>
                  <a:lnTo>
                    <a:pt x="36" y="446"/>
                  </a:lnTo>
                  <a:lnTo>
                    <a:pt x="34" y="429"/>
                  </a:lnTo>
                  <a:lnTo>
                    <a:pt x="31" y="412"/>
                  </a:lnTo>
                  <a:lnTo>
                    <a:pt x="30" y="395"/>
                  </a:lnTo>
                  <a:lnTo>
                    <a:pt x="30" y="377"/>
                  </a:lnTo>
                  <a:lnTo>
                    <a:pt x="30" y="360"/>
                  </a:lnTo>
                  <a:lnTo>
                    <a:pt x="31" y="343"/>
                  </a:lnTo>
                  <a:lnTo>
                    <a:pt x="34" y="326"/>
                  </a:lnTo>
                  <a:lnTo>
                    <a:pt x="36" y="309"/>
                  </a:lnTo>
                  <a:lnTo>
                    <a:pt x="40" y="293"/>
                  </a:lnTo>
                  <a:lnTo>
                    <a:pt x="45" y="277"/>
                  </a:lnTo>
                  <a:lnTo>
                    <a:pt x="50" y="261"/>
                  </a:lnTo>
                  <a:lnTo>
                    <a:pt x="56" y="245"/>
                  </a:lnTo>
                  <a:lnTo>
                    <a:pt x="62" y="231"/>
                  </a:lnTo>
                  <a:lnTo>
                    <a:pt x="69" y="216"/>
                  </a:lnTo>
                  <a:lnTo>
                    <a:pt x="78" y="202"/>
                  </a:lnTo>
                  <a:lnTo>
                    <a:pt x="86" y="188"/>
                  </a:lnTo>
                  <a:lnTo>
                    <a:pt x="95" y="175"/>
                  </a:lnTo>
                  <a:lnTo>
                    <a:pt x="106" y="162"/>
                  </a:lnTo>
                  <a:lnTo>
                    <a:pt x="115" y="150"/>
                  </a:lnTo>
                  <a:lnTo>
                    <a:pt x="126" y="137"/>
                  </a:lnTo>
                  <a:lnTo>
                    <a:pt x="137" y="126"/>
                  </a:lnTo>
                  <a:lnTo>
                    <a:pt x="149" y="116"/>
                  </a:lnTo>
                  <a:lnTo>
                    <a:pt x="163" y="106"/>
                  </a:lnTo>
                  <a:lnTo>
                    <a:pt x="175" y="96"/>
                  </a:lnTo>
                  <a:lnTo>
                    <a:pt x="188" y="86"/>
                  </a:lnTo>
                  <a:lnTo>
                    <a:pt x="203" y="78"/>
                  </a:lnTo>
                  <a:lnTo>
                    <a:pt x="217" y="71"/>
                  </a:lnTo>
                  <a:lnTo>
                    <a:pt x="232" y="63"/>
                  </a:lnTo>
                  <a:lnTo>
                    <a:pt x="246" y="57"/>
                  </a:lnTo>
                  <a:lnTo>
                    <a:pt x="262" y="51"/>
                  </a:lnTo>
                  <a:lnTo>
                    <a:pt x="278" y="46"/>
                  </a:lnTo>
                  <a:lnTo>
                    <a:pt x="294" y="42"/>
                  </a:lnTo>
                  <a:lnTo>
                    <a:pt x="310" y="38"/>
                  </a:lnTo>
                  <a:lnTo>
                    <a:pt x="327" y="35"/>
                  </a:lnTo>
                  <a:lnTo>
                    <a:pt x="344" y="33"/>
                  </a:lnTo>
                  <a:lnTo>
                    <a:pt x="361" y="32"/>
                  </a:lnTo>
                  <a:lnTo>
                    <a:pt x="361" y="92"/>
                  </a:lnTo>
                  <a:lnTo>
                    <a:pt x="347" y="94"/>
                  </a:lnTo>
                  <a:lnTo>
                    <a:pt x="333" y="95"/>
                  </a:lnTo>
                  <a:lnTo>
                    <a:pt x="319" y="97"/>
                  </a:lnTo>
                  <a:lnTo>
                    <a:pt x="306" y="101"/>
                  </a:lnTo>
                  <a:lnTo>
                    <a:pt x="293" y="105"/>
                  </a:lnTo>
                  <a:lnTo>
                    <a:pt x="279" y="108"/>
                  </a:lnTo>
                  <a:lnTo>
                    <a:pt x="267" y="113"/>
                  </a:lnTo>
                  <a:lnTo>
                    <a:pt x="255" y="119"/>
                  </a:lnTo>
                  <a:lnTo>
                    <a:pt x="243" y="124"/>
                  </a:lnTo>
                  <a:lnTo>
                    <a:pt x="231" y="131"/>
                  </a:lnTo>
                  <a:lnTo>
                    <a:pt x="220" y="139"/>
                  </a:lnTo>
                  <a:lnTo>
                    <a:pt x="209" y="146"/>
                  </a:lnTo>
                  <a:lnTo>
                    <a:pt x="198" y="153"/>
                  </a:lnTo>
                  <a:lnTo>
                    <a:pt x="188" y="162"/>
                  </a:lnTo>
                  <a:lnTo>
                    <a:pt x="178" y="171"/>
                  </a:lnTo>
                  <a:lnTo>
                    <a:pt x="169" y="180"/>
                  </a:lnTo>
                  <a:lnTo>
                    <a:pt x="160" y="190"/>
                  </a:lnTo>
                  <a:lnTo>
                    <a:pt x="152" y="201"/>
                  </a:lnTo>
                  <a:lnTo>
                    <a:pt x="143" y="211"/>
                  </a:lnTo>
                  <a:lnTo>
                    <a:pt x="136" y="222"/>
                  </a:lnTo>
                  <a:lnTo>
                    <a:pt x="129" y="233"/>
                  </a:lnTo>
                  <a:lnTo>
                    <a:pt x="123" y="245"/>
                  </a:lnTo>
                  <a:lnTo>
                    <a:pt x="116" y="256"/>
                  </a:lnTo>
                  <a:lnTo>
                    <a:pt x="112" y="270"/>
                  </a:lnTo>
                  <a:lnTo>
                    <a:pt x="107" y="282"/>
                  </a:lnTo>
                  <a:lnTo>
                    <a:pt x="102" y="295"/>
                  </a:lnTo>
                  <a:lnTo>
                    <a:pt x="98" y="307"/>
                  </a:lnTo>
                  <a:lnTo>
                    <a:pt x="96" y="321"/>
                  </a:lnTo>
                  <a:lnTo>
                    <a:pt x="93" y="334"/>
                  </a:lnTo>
                  <a:lnTo>
                    <a:pt x="91" y="349"/>
                  </a:lnTo>
                  <a:lnTo>
                    <a:pt x="90" y="362"/>
                  </a:lnTo>
                  <a:lnTo>
                    <a:pt x="90" y="377"/>
                  </a:lnTo>
                  <a:lnTo>
                    <a:pt x="90" y="391"/>
                  </a:lnTo>
                  <a:lnTo>
                    <a:pt x="91" y="406"/>
                  </a:lnTo>
                  <a:lnTo>
                    <a:pt x="93" y="420"/>
                  </a:lnTo>
                  <a:lnTo>
                    <a:pt x="96" y="434"/>
                  </a:lnTo>
                  <a:lnTo>
                    <a:pt x="99" y="448"/>
                  </a:lnTo>
                  <a:lnTo>
                    <a:pt x="103" y="462"/>
                  </a:lnTo>
                  <a:lnTo>
                    <a:pt x="107" y="475"/>
                  </a:lnTo>
                  <a:lnTo>
                    <a:pt x="113" y="488"/>
                  </a:lnTo>
                  <a:lnTo>
                    <a:pt x="118" y="500"/>
                  </a:lnTo>
                  <a:lnTo>
                    <a:pt x="125" y="513"/>
                  </a:lnTo>
                  <a:lnTo>
                    <a:pt x="131" y="525"/>
                  </a:lnTo>
                  <a:lnTo>
                    <a:pt x="138" y="537"/>
                  </a:lnTo>
                  <a:lnTo>
                    <a:pt x="147" y="548"/>
                  </a:lnTo>
                  <a:lnTo>
                    <a:pt x="155" y="559"/>
                  </a:lnTo>
                  <a:lnTo>
                    <a:pt x="164" y="568"/>
                  </a:lnTo>
                  <a:lnTo>
                    <a:pt x="174" y="578"/>
                  </a:lnTo>
                  <a:lnTo>
                    <a:pt x="183" y="588"/>
                  </a:lnTo>
                  <a:lnTo>
                    <a:pt x="194" y="598"/>
                  </a:lnTo>
                  <a:lnTo>
                    <a:pt x="205" y="606"/>
                  </a:lnTo>
                  <a:lnTo>
                    <a:pt x="216" y="613"/>
                  </a:lnTo>
                  <a:lnTo>
                    <a:pt x="227" y="621"/>
                  </a:lnTo>
                  <a:lnTo>
                    <a:pt x="239" y="628"/>
                  </a:lnTo>
                  <a:lnTo>
                    <a:pt x="251" y="634"/>
                  </a:lnTo>
                  <a:lnTo>
                    <a:pt x="265" y="640"/>
                  </a:lnTo>
                  <a:lnTo>
                    <a:pt x="278" y="645"/>
                  </a:lnTo>
                  <a:lnTo>
                    <a:pt x="291" y="650"/>
                  </a:lnTo>
                  <a:lnTo>
                    <a:pt x="305" y="653"/>
                  </a:lnTo>
                  <a:lnTo>
                    <a:pt x="318" y="657"/>
                  </a:lnTo>
                  <a:lnTo>
                    <a:pt x="333" y="659"/>
                  </a:lnTo>
                  <a:lnTo>
                    <a:pt x="346" y="661"/>
                  </a:lnTo>
                  <a:lnTo>
                    <a:pt x="361" y="662"/>
                  </a:lnTo>
                  <a:lnTo>
                    <a:pt x="375" y="662"/>
                  </a:lnTo>
                  <a:lnTo>
                    <a:pt x="391" y="662"/>
                  </a:lnTo>
                  <a:lnTo>
                    <a:pt x="404" y="661"/>
                  </a:lnTo>
                  <a:lnTo>
                    <a:pt x="419" y="659"/>
                  </a:lnTo>
                  <a:lnTo>
                    <a:pt x="433" y="657"/>
                  </a:lnTo>
                  <a:lnTo>
                    <a:pt x="447" y="653"/>
                  </a:lnTo>
                  <a:lnTo>
                    <a:pt x="460" y="650"/>
                  </a:lnTo>
                  <a:lnTo>
                    <a:pt x="473" y="645"/>
                  </a:lnTo>
                  <a:lnTo>
                    <a:pt x="487" y="640"/>
                  </a:lnTo>
                  <a:lnTo>
                    <a:pt x="499" y="634"/>
                  </a:lnTo>
                  <a:lnTo>
                    <a:pt x="512" y="628"/>
                  </a:lnTo>
                  <a:lnTo>
                    <a:pt x="523" y="621"/>
                  </a:lnTo>
                  <a:lnTo>
                    <a:pt x="535" y="613"/>
                  </a:lnTo>
                  <a:lnTo>
                    <a:pt x="546" y="606"/>
                  </a:lnTo>
                  <a:lnTo>
                    <a:pt x="557" y="598"/>
                  </a:lnTo>
                  <a:lnTo>
                    <a:pt x="568" y="588"/>
                  </a:lnTo>
                  <a:lnTo>
                    <a:pt x="578" y="578"/>
                  </a:lnTo>
                  <a:lnTo>
                    <a:pt x="588" y="568"/>
                  </a:lnTo>
                  <a:lnTo>
                    <a:pt x="596" y="559"/>
                  </a:lnTo>
                  <a:lnTo>
                    <a:pt x="605" y="548"/>
                  </a:lnTo>
                  <a:lnTo>
                    <a:pt x="613" y="537"/>
                  </a:lnTo>
                  <a:lnTo>
                    <a:pt x="620" y="525"/>
                  </a:lnTo>
                  <a:lnTo>
                    <a:pt x="626" y="513"/>
                  </a:lnTo>
                  <a:lnTo>
                    <a:pt x="634" y="500"/>
                  </a:lnTo>
                  <a:lnTo>
                    <a:pt x="639" y="488"/>
                  </a:lnTo>
                  <a:lnTo>
                    <a:pt x="645" y="475"/>
                  </a:lnTo>
                  <a:lnTo>
                    <a:pt x="648" y="462"/>
                  </a:lnTo>
                  <a:lnTo>
                    <a:pt x="652" y="448"/>
                  </a:lnTo>
                  <a:lnTo>
                    <a:pt x="656" y="434"/>
                  </a:lnTo>
                  <a:lnTo>
                    <a:pt x="658" y="420"/>
                  </a:lnTo>
                  <a:lnTo>
                    <a:pt x="660" y="406"/>
                  </a:lnTo>
                  <a:lnTo>
                    <a:pt x="660" y="391"/>
                  </a:lnTo>
                  <a:lnTo>
                    <a:pt x="662" y="377"/>
                  </a:lnTo>
                  <a:lnTo>
                    <a:pt x="660" y="350"/>
                  </a:lnTo>
                  <a:lnTo>
                    <a:pt x="657" y="324"/>
                  </a:lnTo>
                  <a:lnTo>
                    <a:pt x="651" y="299"/>
                  </a:lnTo>
                  <a:lnTo>
                    <a:pt x="642" y="275"/>
                  </a:lnTo>
                  <a:lnTo>
                    <a:pt x="632" y="250"/>
                  </a:lnTo>
                  <a:lnTo>
                    <a:pt x="619" y="227"/>
                  </a:lnTo>
                  <a:lnTo>
                    <a:pt x="605" y="207"/>
                  </a:lnTo>
                  <a:lnTo>
                    <a:pt x="588" y="186"/>
                  </a:lnTo>
                  <a:lnTo>
                    <a:pt x="631" y="143"/>
                  </a:lnTo>
                  <a:lnTo>
                    <a:pt x="641" y="156"/>
                  </a:lnTo>
                  <a:lnTo>
                    <a:pt x="652" y="168"/>
                  </a:lnTo>
                  <a:lnTo>
                    <a:pt x="660" y="181"/>
                  </a:lnTo>
                  <a:lnTo>
                    <a:pt x="670" y="194"/>
                  </a:lnTo>
                  <a:lnTo>
                    <a:pt x="677" y="208"/>
                  </a:lnTo>
                  <a:lnTo>
                    <a:pt x="685" y="222"/>
                  </a:lnTo>
                  <a:lnTo>
                    <a:pt x="692" y="237"/>
                  </a:lnTo>
                  <a:lnTo>
                    <a:pt x="698" y="252"/>
                  </a:lnTo>
                  <a:lnTo>
                    <a:pt x="704" y="266"/>
                  </a:lnTo>
                  <a:lnTo>
                    <a:pt x="708" y="281"/>
                  </a:lnTo>
                  <a:lnTo>
                    <a:pt x="713" y="296"/>
                  </a:lnTo>
                  <a:lnTo>
                    <a:pt x="715" y="312"/>
                  </a:lnTo>
                  <a:lnTo>
                    <a:pt x="719" y="328"/>
                  </a:lnTo>
                  <a:lnTo>
                    <a:pt x="720" y="344"/>
                  </a:lnTo>
                  <a:lnTo>
                    <a:pt x="721" y="361"/>
                  </a:lnTo>
                  <a:lnTo>
                    <a:pt x="721" y="377"/>
                  </a:lnTo>
                  <a:lnTo>
                    <a:pt x="721" y="395"/>
                  </a:lnTo>
                  <a:lnTo>
                    <a:pt x="720" y="412"/>
                  </a:lnTo>
                  <a:lnTo>
                    <a:pt x="717" y="429"/>
                  </a:lnTo>
                  <a:lnTo>
                    <a:pt x="715" y="446"/>
                  </a:lnTo>
                  <a:lnTo>
                    <a:pt x="710" y="463"/>
                  </a:lnTo>
                  <a:lnTo>
                    <a:pt x="707" y="480"/>
                  </a:lnTo>
                  <a:lnTo>
                    <a:pt x="700" y="496"/>
                  </a:lnTo>
                  <a:lnTo>
                    <a:pt x="694" y="511"/>
                  </a:lnTo>
                  <a:lnTo>
                    <a:pt x="687" y="527"/>
                  </a:lnTo>
                  <a:lnTo>
                    <a:pt x="680" y="542"/>
                  </a:lnTo>
                  <a:lnTo>
                    <a:pt x="671" y="556"/>
                  </a:lnTo>
                  <a:lnTo>
                    <a:pt x="663" y="570"/>
                  </a:lnTo>
                  <a:lnTo>
                    <a:pt x="653" y="583"/>
                  </a:lnTo>
                  <a:lnTo>
                    <a:pt x="642" y="596"/>
                  </a:lnTo>
                  <a:lnTo>
                    <a:pt x="631" y="610"/>
                  </a:lnTo>
                  <a:lnTo>
                    <a:pt x="620" y="621"/>
                  </a:lnTo>
                  <a:lnTo>
                    <a:pt x="608" y="633"/>
                  </a:lnTo>
                  <a:lnTo>
                    <a:pt x="596" y="644"/>
                  </a:lnTo>
                  <a:lnTo>
                    <a:pt x="583" y="653"/>
                  </a:lnTo>
                  <a:lnTo>
                    <a:pt x="569" y="663"/>
                  </a:lnTo>
                  <a:lnTo>
                    <a:pt x="555" y="673"/>
                  </a:lnTo>
                  <a:lnTo>
                    <a:pt x="540" y="681"/>
                  </a:lnTo>
                  <a:lnTo>
                    <a:pt x="526" y="689"/>
                  </a:lnTo>
                  <a:lnTo>
                    <a:pt x="510" y="696"/>
                  </a:lnTo>
                  <a:lnTo>
                    <a:pt x="494" y="702"/>
                  </a:lnTo>
                  <a:lnTo>
                    <a:pt x="478" y="707"/>
                  </a:lnTo>
                  <a:lnTo>
                    <a:pt x="462" y="712"/>
                  </a:lnTo>
                  <a:lnTo>
                    <a:pt x="446" y="715"/>
                  </a:lnTo>
                  <a:lnTo>
                    <a:pt x="429" y="719"/>
                  </a:lnTo>
                  <a:lnTo>
                    <a:pt x="412" y="720"/>
                  </a:lnTo>
                  <a:lnTo>
                    <a:pt x="393" y="723"/>
                  </a:lnTo>
                  <a:lnTo>
                    <a:pt x="375" y="723"/>
                  </a:lnTo>
                  <a:close/>
                  <a:moveTo>
                    <a:pt x="301" y="422"/>
                  </a:moveTo>
                  <a:lnTo>
                    <a:pt x="300" y="434"/>
                  </a:lnTo>
                  <a:lnTo>
                    <a:pt x="296" y="445"/>
                  </a:lnTo>
                  <a:lnTo>
                    <a:pt x="290" y="455"/>
                  </a:lnTo>
                  <a:lnTo>
                    <a:pt x="283" y="464"/>
                  </a:lnTo>
                  <a:lnTo>
                    <a:pt x="274" y="471"/>
                  </a:lnTo>
                  <a:lnTo>
                    <a:pt x="263" y="477"/>
                  </a:lnTo>
                  <a:lnTo>
                    <a:pt x="252" y="481"/>
                  </a:lnTo>
                  <a:lnTo>
                    <a:pt x="240" y="482"/>
                  </a:lnTo>
                  <a:lnTo>
                    <a:pt x="228" y="481"/>
                  </a:lnTo>
                  <a:lnTo>
                    <a:pt x="217" y="477"/>
                  </a:lnTo>
                  <a:lnTo>
                    <a:pt x="206" y="471"/>
                  </a:lnTo>
                  <a:lnTo>
                    <a:pt x="198" y="464"/>
                  </a:lnTo>
                  <a:lnTo>
                    <a:pt x="191" y="455"/>
                  </a:lnTo>
                  <a:lnTo>
                    <a:pt x="184" y="445"/>
                  </a:lnTo>
                  <a:lnTo>
                    <a:pt x="181" y="434"/>
                  </a:lnTo>
                  <a:lnTo>
                    <a:pt x="180" y="422"/>
                  </a:lnTo>
                  <a:lnTo>
                    <a:pt x="181" y="409"/>
                  </a:lnTo>
                  <a:lnTo>
                    <a:pt x="184" y="398"/>
                  </a:lnTo>
                  <a:lnTo>
                    <a:pt x="191" y="389"/>
                  </a:lnTo>
                  <a:lnTo>
                    <a:pt x="198" y="379"/>
                  </a:lnTo>
                  <a:lnTo>
                    <a:pt x="206" y="372"/>
                  </a:lnTo>
                  <a:lnTo>
                    <a:pt x="217" y="367"/>
                  </a:lnTo>
                  <a:lnTo>
                    <a:pt x="228" y="363"/>
                  </a:lnTo>
                  <a:lnTo>
                    <a:pt x="240" y="362"/>
                  </a:lnTo>
                  <a:lnTo>
                    <a:pt x="252" y="363"/>
                  </a:lnTo>
                  <a:lnTo>
                    <a:pt x="263" y="367"/>
                  </a:lnTo>
                  <a:lnTo>
                    <a:pt x="274" y="372"/>
                  </a:lnTo>
                  <a:lnTo>
                    <a:pt x="283" y="379"/>
                  </a:lnTo>
                  <a:lnTo>
                    <a:pt x="290" y="389"/>
                  </a:lnTo>
                  <a:lnTo>
                    <a:pt x="296" y="398"/>
                  </a:lnTo>
                  <a:lnTo>
                    <a:pt x="300" y="409"/>
                  </a:lnTo>
                  <a:lnTo>
                    <a:pt x="301" y="422"/>
                  </a:lnTo>
                  <a:close/>
                  <a:moveTo>
                    <a:pt x="271" y="332"/>
                  </a:moveTo>
                  <a:lnTo>
                    <a:pt x="259" y="330"/>
                  </a:lnTo>
                  <a:lnTo>
                    <a:pt x="246" y="327"/>
                  </a:lnTo>
                  <a:lnTo>
                    <a:pt x="237" y="321"/>
                  </a:lnTo>
                  <a:lnTo>
                    <a:pt x="228" y="313"/>
                  </a:lnTo>
                  <a:lnTo>
                    <a:pt x="221" y="305"/>
                  </a:lnTo>
                  <a:lnTo>
                    <a:pt x="215" y="295"/>
                  </a:lnTo>
                  <a:lnTo>
                    <a:pt x="211" y="283"/>
                  </a:lnTo>
                  <a:lnTo>
                    <a:pt x="210" y="271"/>
                  </a:lnTo>
                  <a:lnTo>
                    <a:pt x="211" y="259"/>
                  </a:lnTo>
                  <a:lnTo>
                    <a:pt x="215" y="248"/>
                  </a:lnTo>
                  <a:lnTo>
                    <a:pt x="221" y="238"/>
                  </a:lnTo>
                  <a:lnTo>
                    <a:pt x="228" y="228"/>
                  </a:lnTo>
                  <a:lnTo>
                    <a:pt x="237" y="221"/>
                  </a:lnTo>
                  <a:lnTo>
                    <a:pt x="246" y="216"/>
                  </a:lnTo>
                  <a:lnTo>
                    <a:pt x="259" y="213"/>
                  </a:lnTo>
                  <a:lnTo>
                    <a:pt x="271" y="211"/>
                  </a:lnTo>
                  <a:lnTo>
                    <a:pt x="283" y="213"/>
                  </a:lnTo>
                  <a:lnTo>
                    <a:pt x="294" y="216"/>
                  </a:lnTo>
                  <a:lnTo>
                    <a:pt x="303" y="221"/>
                  </a:lnTo>
                  <a:lnTo>
                    <a:pt x="313" y="228"/>
                  </a:lnTo>
                  <a:lnTo>
                    <a:pt x="320" y="238"/>
                  </a:lnTo>
                  <a:lnTo>
                    <a:pt x="325" y="248"/>
                  </a:lnTo>
                  <a:lnTo>
                    <a:pt x="329" y="259"/>
                  </a:lnTo>
                  <a:lnTo>
                    <a:pt x="330" y="271"/>
                  </a:lnTo>
                  <a:lnTo>
                    <a:pt x="329" y="283"/>
                  </a:lnTo>
                  <a:lnTo>
                    <a:pt x="325" y="295"/>
                  </a:lnTo>
                  <a:lnTo>
                    <a:pt x="320" y="305"/>
                  </a:lnTo>
                  <a:lnTo>
                    <a:pt x="313" y="313"/>
                  </a:lnTo>
                  <a:lnTo>
                    <a:pt x="303" y="321"/>
                  </a:lnTo>
                  <a:lnTo>
                    <a:pt x="294" y="327"/>
                  </a:lnTo>
                  <a:lnTo>
                    <a:pt x="283" y="330"/>
                  </a:lnTo>
                  <a:lnTo>
                    <a:pt x="271" y="332"/>
                  </a:lnTo>
                  <a:close/>
                  <a:moveTo>
                    <a:pt x="391" y="482"/>
                  </a:moveTo>
                  <a:lnTo>
                    <a:pt x="403" y="483"/>
                  </a:lnTo>
                  <a:lnTo>
                    <a:pt x="414" y="487"/>
                  </a:lnTo>
                  <a:lnTo>
                    <a:pt x="425" y="492"/>
                  </a:lnTo>
                  <a:lnTo>
                    <a:pt x="433" y="499"/>
                  </a:lnTo>
                  <a:lnTo>
                    <a:pt x="441" y="509"/>
                  </a:lnTo>
                  <a:lnTo>
                    <a:pt x="446" y="519"/>
                  </a:lnTo>
                  <a:lnTo>
                    <a:pt x="449" y="530"/>
                  </a:lnTo>
                  <a:lnTo>
                    <a:pt x="450" y="542"/>
                  </a:lnTo>
                  <a:lnTo>
                    <a:pt x="449" y="554"/>
                  </a:lnTo>
                  <a:lnTo>
                    <a:pt x="447" y="566"/>
                  </a:lnTo>
                  <a:lnTo>
                    <a:pt x="441" y="576"/>
                  </a:lnTo>
                  <a:lnTo>
                    <a:pt x="433" y="584"/>
                  </a:lnTo>
                  <a:lnTo>
                    <a:pt x="425" y="591"/>
                  </a:lnTo>
                  <a:lnTo>
                    <a:pt x="414" y="598"/>
                  </a:lnTo>
                  <a:lnTo>
                    <a:pt x="403" y="601"/>
                  </a:lnTo>
                  <a:lnTo>
                    <a:pt x="391" y="602"/>
                  </a:lnTo>
                  <a:lnTo>
                    <a:pt x="379" y="601"/>
                  </a:lnTo>
                  <a:lnTo>
                    <a:pt x="368" y="598"/>
                  </a:lnTo>
                  <a:lnTo>
                    <a:pt x="357" y="591"/>
                  </a:lnTo>
                  <a:lnTo>
                    <a:pt x="348" y="584"/>
                  </a:lnTo>
                  <a:lnTo>
                    <a:pt x="341" y="576"/>
                  </a:lnTo>
                  <a:lnTo>
                    <a:pt x="335" y="566"/>
                  </a:lnTo>
                  <a:lnTo>
                    <a:pt x="331" y="554"/>
                  </a:lnTo>
                  <a:lnTo>
                    <a:pt x="330" y="542"/>
                  </a:lnTo>
                  <a:lnTo>
                    <a:pt x="331" y="530"/>
                  </a:lnTo>
                  <a:lnTo>
                    <a:pt x="335" y="519"/>
                  </a:lnTo>
                  <a:lnTo>
                    <a:pt x="341" y="509"/>
                  </a:lnTo>
                  <a:lnTo>
                    <a:pt x="348" y="499"/>
                  </a:lnTo>
                  <a:lnTo>
                    <a:pt x="357" y="492"/>
                  </a:lnTo>
                  <a:lnTo>
                    <a:pt x="368" y="487"/>
                  </a:lnTo>
                  <a:lnTo>
                    <a:pt x="379" y="483"/>
                  </a:lnTo>
                  <a:lnTo>
                    <a:pt x="391" y="482"/>
                  </a:lnTo>
                  <a:close/>
                  <a:moveTo>
                    <a:pt x="449" y="305"/>
                  </a:moveTo>
                  <a:lnTo>
                    <a:pt x="460" y="294"/>
                  </a:lnTo>
                  <a:lnTo>
                    <a:pt x="503" y="250"/>
                  </a:lnTo>
                  <a:lnTo>
                    <a:pt x="512" y="239"/>
                  </a:lnTo>
                  <a:lnTo>
                    <a:pt x="523" y="230"/>
                  </a:lnTo>
                  <a:lnTo>
                    <a:pt x="530" y="239"/>
                  </a:lnTo>
                  <a:lnTo>
                    <a:pt x="537" y="249"/>
                  </a:lnTo>
                  <a:lnTo>
                    <a:pt x="540" y="260"/>
                  </a:lnTo>
                  <a:lnTo>
                    <a:pt x="541" y="271"/>
                  </a:lnTo>
                  <a:lnTo>
                    <a:pt x="540" y="283"/>
                  </a:lnTo>
                  <a:lnTo>
                    <a:pt x="537" y="295"/>
                  </a:lnTo>
                  <a:lnTo>
                    <a:pt x="530" y="305"/>
                  </a:lnTo>
                  <a:lnTo>
                    <a:pt x="523" y="313"/>
                  </a:lnTo>
                  <a:lnTo>
                    <a:pt x="515" y="321"/>
                  </a:lnTo>
                  <a:lnTo>
                    <a:pt x="504" y="327"/>
                  </a:lnTo>
                  <a:lnTo>
                    <a:pt x="493" y="330"/>
                  </a:lnTo>
                  <a:lnTo>
                    <a:pt x="481" y="332"/>
                  </a:lnTo>
                  <a:lnTo>
                    <a:pt x="469" y="330"/>
                  </a:lnTo>
                  <a:lnTo>
                    <a:pt x="458" y="327"/>
                  </a:lnTo>
                  <a:lnTo>
                    <a:pt x="448" y="322"/>
                  </a:lnTo>
                  <a:lnTo>
                    <a:pt x="438" y="315"/>
                  </a:lnTo>
                  <a:lnTo>
                    <a:pt x="449" y="305"/>
                  </a:lnTo>
                  <a:close/>
                  <a:moveTo>
                    <a:pt x="571" y="422"/>
                  </a:moveTo>
                  <a:lnTo>
                    <a:pt x="569" y="434"/>
                  </a:lnTo>
                  <a:lnTo>
                    <a:pt x="567" y="445"/>
                  </a:lnTo>
                  <a:lnTo>
                    <a:pt x="561" y="455"/>
                  </a:lnTo>
                  <a:lnTo>
                    <a:pt x="554" y="464"/>
                  </a:lnTo>
                  <a:lnTo>
                    <a:pt x="545" y="471"/>
                  </a:lnTo>
                  <a:lnTo>
                    <a:pt x="534" y="477"/>
                  </a:lnTo>
                  <a:lnTo>
                    <a:pt x="523" y="481"/>
                  </a:lnTo>
                  <a:lnTo>
                    <a:pt x="511" y="482"/>
                  </a:lnTo>
                  <a:lnTo>
                    <a:pt x="499" y="481"/>
                  </a:lnTo>
                  <a:lnTo>
                    <a:pt x="488" y="477"/>
                  </a:lnTo>
                  <a:lnTo>
                    <a:pt x="477" y="471"/>
                  </a:lnTo>
                  <a:lnTo>
                    <a:pt x="469" y="464"/>
                  </a:lnTo>
                  <a:lnTo>
                    <a:pt x="461" y="455"/>
                  </a:lnTo>
                  <a:lnTo>
                    <a:pt x="455" y="445"/>
                  </a:lnTo>
                  <a:lnTo>
                    <a:pt x="452" y="434"/>
                  </a:lnTo>
                  <a:lnTo>
                    <a:pt x="450" y="422"/>
                  </a:lnTo>
                  <a:lnTo>
                    <a:pt x="452" y="409"/>
                  </a:lnTo>
                  <a:lnTo>
                    <a:pt x="455" y="398"/>
                  </a:lnTo>
                  <a:lnTo>
                    <a:pt x="461" y="389"/>
                  </a:lnTo>
                  <a:lnTo>
                    <a:pt x="469" y="379"/>
                  </a:lnTo>
                  <a:lnTo>
                    <a:pt x="477" y="372"/>
                  </a:lnTo>
                  <a:lnTo>
                    <a:pt x="488" y="367"/>
                  </a:lnTo>
                  <a:lnTo>
                    <a:pt x="499" y="363"/>
                  </a:lnTo>
                  <a:lnTo>
                    <a:pt x="511" y="362"/>
                  </a:lnTo>
                  <a:lnTo>
                    <a:pt x="523" y="363"/>
                  </a:lnTo>
                  <a:lnTo>
                    <a:pt x="534" y="367"/>
                  </a:lnTo>
                  <a:lnTo>
                    <a:pt x="545" y="372"/>
                  </a:lnTo>
                  <a:lnTo>
                    <a:pt x="554" y="379"/>
                  </a:lnTo>
                  <a:lnTo>
                    <a:pt x="561" y="389"/>
                  </a:lnTo>
                  <a:lnTo>
                    <a:pt x="567" y="398"/>
                  </a:lnTo>
                  <a:lnTo>
                    <a:pt x="569" y="409"/>
                  </a:lnTo>
                  <a:lnTo>
                    <a:pt x="571" y="422"/>
                  </a:lnTo>
                  <a:close/>
                  <a:moveTo>
                    <a:pt x="641" y="112"/>
                  </a:moveTo>
                  <a:lnTo>
                    <a:pt x="640" y="109"/>
                  </a:lnTo>
                  <a:lnTo>
                    <a:pt x="636" y="108"/>
                  </a:lnTo>
                  <a:lnTo>
                    <a:pt x="634" y="108"/>
                  </a:lnTo>
                  <a:lnTo>
                    <a:pt x="631" y="107"/>
                  </a:lnTo>
                  <a:lnTo>
                    <a:pt x="628" y="108"/>
                  </a:lnTo>
                  <a:lnTo>
                    <a:pt x="625" y="108"/>
                  </a:lnTo>
                  <a:lnTo>
                    <a:pt x="623" y="109"/>
                  </a:lnTo>
                  <a:lnTo>
                    <a:pt x="620" y="112"/>
                  </a:lnTo>
                  <a:lnTo>
                    <a:pt x="556" y="175"/>
                  </a:lnTo>
                  <a:lnTo>
                    <a:pt x="391" y="340"/>
                  </a:lnTo>
                  <a:lnTo>
                    <a:pt x="391" y="106"/>
                  </a:lnTo>
                  <a:lnTo>
                    <a:pt x="391" y="16"/>
                  </a:lnTo>
                  <a:lnTo>
                    <a:pt x="390" y="10"/>
                  </a:lnTo>
                  <a:lnTo>
                    <a:pt x="386" y="5"/>
                  </a:lnTo>
                  <a:lnTo>
                    <a:pt x="381" y="1"/>
                  </a:lnTo>
                  <a:lnTo>
                    <a:pt x="375" y="0"/>
                  </a:lnTo>
                  <a:lnTo>
                    <a:pt x="357" y="1"/>
                  </a:lnTo>
                  <a:lnTo>
                    <a:pt x="337" y="3"/>
                  </a:lnTo>
                  <a:lnTo>
                    <a:pt x="318" y="5"/>
                  </a:lnTo>
                  <a:lnTo>
                    <a:pt x="300" y="9"/>
                  </a:lnTo>
                  <a:lnTo>
                    <a:pt x="282" y="12"/>
                  </a:lnTo>
                  <a:lnTo>
                    <a:pt x="263" y="17"/>
                  </a:lnTo>
                  <a:lnTo>
                    <a:pt x="246" y="23"/>
                  </a:lnTo>
                  <a:lnTo>
                    <a:pt x="229" y="31"/>
                  </a:lnTo>
                  <a:lnTo>
                    <a:pt x="212" y="38"/>
                  </a:lnTo>
                  <a:lnTo>
                    <a:pt x="197" y="46"/>
                  </a:lnTo>
                  <a:lnTo>
                    <a:pt x="181" y="56"/>
                  </a:lnTo>
                  <a:lnTo>
                    <a:pt x="165" y="66"/>
                  </a:lnTo>
                  <a:lnTo>
                    <a:pt x="150" y="75"/>
                  </a:lnTo>
                  <a:lnTo>
                    <a:pt x="137" y="88"/>
                  </a:lnTo>
                  <a:lnTo>
                    <a:pt x="123" y="99"/>
                  </a:lnTo>
                  <a:lnTo>
                    <a:pt x="110" y="112"/>
                  </a:lnTo>
                  <a:lnTo>
                    <a:pt x="97" y="124"/>
                  </a:lnTo>
                  <a:lnTo>
                    <a:pt x="86" y="139"/>
                  </a:lnTo>
                  <a:lnTo>
                    <a:pt x="74" y="152"/>
                  </a:lnTo>
                  <a:lnTo>
                    <a:pt x="64" y="167"/>
                  </a:lnTo>
                  <a:lnTo>
                    <a:pt x="55" y="182"/>
                  </a:lnTo>
                  <a:lnTo>
                    <a:pt x="45" y="198"/>
                  </a:lnTo>
                  <a:lnTo>
                    <a:pt x="36" y="214"/>
                  </a:lnTo>
                  <a:lnTo>
                    <a:pt x="29" y="231"/>
                  </a:lnTo>
                  <a:lnTo>
                    <a:pt x="23" y="248"/>
                  </a:lnTo>
                  <a:lnTo>
                    <a:pt x="17" y="265"/>
                  </a:lnTo>
                  <a:lnTo>
                    <a:pt x="12" y="283"/>
                  </a:lnTo>
                  <a:lnTo>
                    <a:pt x="7" y="301"/>
                  </a:lnTo>
                  <a:lnTo>
                    <a:pt x="4" y="320"/>
                  </a:lnTo>
                  <a:lnTo>
                    <a:pt x="1" y="339"/>
                  </a:lnTo>
                  <a:lnTo>
                    <a:pt x="0" y="357"/>
                  </a:lnTo>
                  <a:lnTo>
                    <a:pt x="0" y="377"/>
                  </a:lnTo>
                  <a:lnTo>
                    <a:pt x="0" y="396"/>
                  </a:lnTo>
                  <a:lnTo>
                    <a:pt x="1" y="415"/>
                  </a:lnTo>
                  <a:lnTo>
                    <a:pt x="4" y="434"/>
                  </a:lnTo>
                  <a:lnTo>
                    <a:pt x="7" y="452"/>
                  </a:lnTo>
                  <a:lnTo>
                    <a:pt x="12" y="470"/>
                  </a:lnTo>
                  <a:lnTo>
                    <a:pt x="17" y="488"/>
                  </a:lnTo>
                  <a:lnTo>
                    <a:pt x="23" y="505"/>
                  </a:lnTo>
                  <a:lnTo>
                    <a:pt x="29" y="523"/>
                  </a:lnTo>
                  <a:lnTo>
                    <a:pt x="36" y="539"/>
                  </a:lnTo>
                  <a:lnTo>
                    <a:pt x="45" y="556"/>
                  </a:lnTo>
                  <a:lnTo>
                    <a:pt x="55" y="572"/>
                  </a:lnTo>
                  <a:lnTo>
                    <a:pt x="64" y="587"/>
                  </a:lnTo>
                  <a:lnTo>
                    <a:pt x="74" y="601"/>
                  </a:lnTo>
                  <a:lnTo>
                    <a:pt x="86" y="616"/>
                  </a:lnTo>
                  <a:lnTo>
                    <a:pt x="97" y="629"/>
                  </a:lnTo>
                  <a:lnTo>
                    <a:pt x="110" y="642"/>
                  </a:lnTo>
                  <a:lnTo>
                    <a:pt x="123" y="655"/>
                  </a:lnTo>
                  <a:lnTo>
                    <a:pt x="137" y="667"/>
                  </a:lnTo>
                  <a:lnTo>
                    <a:pt x="150" y="678"/>
                  </a:lnTo>
                  <a:lnTo>
                    <a:pt x="165" y="689"/>
                  </a:lnTo>
                  <a:lnTo>
                    <a:pt x="181" y="698"/>
                  </a:lnTo>
                  <a:lnTo>
                    <a:pt x="197" y="707"/>
                  </a:lnTo>
                  <a:lnTo>
                    <a:pt x="212" y="715"/>
                  </a:lnTo>
                  <a:lnTo>
                    <a:pt x="229" y="723"/>
                  </a:lnTo>
                  <a:lnTo>
                    <a:pt x="246" y="730"/>
                  </a:lnTo>
                  <a:lnTo>
                    <a:pt x="263" y="736"/>
                  </a:lnTo>
                  <a:lnTo>
                    <a:pt x="282" y="741"/>
                  </a:lnTo>
                  <a:lnTo>
                    <a:pt x="300" y="744"/>
                  </a:lnTo>
                  <a:lnTo>
                    <a:pt x="318" y="748"/>
                  </a:lnTo>
                  <a:lnTo>
                    <a:pt x="337" y="751"/>
                  </a:lnTo>
                  <a:lnTo>
                    <a:pt x="357" y="752"/>
                  </a:lnTo>
                  <a:lnTo>
                    <a:pt x="375" y="753"/>
                  </a:lnTo>
                  <a:lnTo>
                    <a:pt x="395" y="752"/>
                  </a:lnTo>
                  <a:lnTo>
                    <a:pt x="414" y="751"/>
                  </a:lnTo>
                  <a:lnTo>
                    <a:pt x="433" y="748"/>
                  </a:lnTo>
                  <a:lnTo>
                    <a:pt x="452" y="744"/>
                  </a:lnTo>
                  <a:lnTo>
                    <a:pt x="470" y="741"/>
                  </a:lnTo>
                  <a:lnTo>
                    <a:pt x="487" y="736"/>
                  </a:lnTo>
                  <a:lnTo>
                    <a:pt x="505" y="730"/>
                  </a:lnTo>
                  <a:lnTo>
                    <a:pt x="522" y="723"/>
                  </a:lnTo>
                  <a:lnTo>
                    <a:pt x="539" y="715"/>
                  </a:lnTo>
                  <a:lnTo>
                    <a:pt x="555" y="707"/>
                  </a:lnTo>
                  <a:lnTo>
                    <a:pt x="571" y="698"/>
                  </a:lnTo>
                  <a:lnTo>
                    <a:pt x="585" y="689"/>
                  </a:lnTo>
                  <a:lnTo>
                    <a:pt x="601" y="678"/>
                  </a:lnTo>
                  <a:lnTo>
                    <a:pt x="614" y="667"/>
                  </a:lnTo>
                  <a:lnTo>
                    <a:pt x="629" y="655"/>
                  </a:lnTo>
                  <a:lnTo>
                    <a:pt x="641" y="642"/>
                  </a:lnTo>
                  <a:lnTo>
                    <a:pt x="654" y="629"/>
                  </a:lnTo>
                  <a:lnTo>
                    <a:pt x="665" y="616"/>
                  </a:lnTo>
                  <a:lnTo>
                    <a:pt x="677" y="601"/>
                  </a:lnTo>
                  <a:lnTo>
                    <a:pt x="687" y="587"/>
                  </a:lnTo>
                  <a:lnTo>
                    <a:pt x="697" y="572"/>
                  </a:lnTo>
                  <a:lnTo>
                    <a:pt x="707" y="556"/>
                  </a:lnTo>
                  <a:lnTo>
                    <a:pt x="715" y="539"/>
                  </a:lnTo>
                  <a:lnTo>
                    <a:pt x="722" y="523"/>
                  </a:lnTo>
                  <a:lnTo>
                    <a:pt x="728" y="505"/>
                  </a:lnTo>
                  <a:lnTo>
                    <a:pt x="734" y="488"/>
                  </a:lnTo>
                  <a:lnTo>
                    <a:pt x="739" y="470"/>
                  </a:lnTo>
                  <a:lnTo>
                    <a:pt x="744" y="452"/>
                  </a:lnTo>
                  <a:lnTo>
                    <a:pt x="748" y="434"/>
                  </a:lnTo>
                  <a:lnTo>
                    <a:pt x="750" y="415"/>
                  </a:lnTo>
                  <a:lnTo>
                    <a:pt x="751" y="396"/>
                  </a:lnTo>
                  <a:lnTo>
                    <a:pt x="751" y="377"/>
                  </a:lnTo>
                  <a:lnTo>
                    <a:pt x="751" y="358"/>
                  </a:lnTo>
                  <a:lnTo>
                    <a:pt x="750" y="340"/>
                  </a:lnTo>
                  <a:lnTo>
                    <a:pt x="748" y="322"/>
                  </a:lnTo>
                  <a:lnTo>
                    <a:pt x="744" y="304"/>
                  </a:lnTo>
                  <a:lnTo>
                    <a:pt x="741" y="286"/>
                  </a:lnTo>
                  <a:lnTo>
                    <a:pt x="736" y="267"/>
                  </a:lnTo>
                  <a:lnTo>
                    <a:pt x="730" y="250"/>
                  </a:lnTo>
                  <a:lnTo>
                    <a:pt x="724" y="233"/>
                  </a:lnTo>
                  <a:lnTo>
                    <a:pt x="716" y="216"/>
                  </a:lnTo>
                  <a:lnTo>
                    <a:pt x="708" y="201"/>
                  </a:lnTo>
                  <a:lnTo>
                    <a:pt x="698" y="185"/>
                  </a:lnTo>
                  <a:lnTo>
                    <a:pt x="688" y="169"/>
                  </a:lnTo>
                  <a:lnTo>
                    <a:pt x="679" y="154"/>
                  </a:lnTo>
                  <a:lnTo>
                    <a:pt x="666" y="140"/>
                  </a:lnTo>
                  <a:lnTo>
                    <a:pt x="654" y="125"/>
                  </a:lnTo>
                  <a:lnTo>
                    <a:pt x="641"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8" name="Freeform 1296">
              <a:extLst>
                <a:ext uri="{FF2B5EF4-FFF2-40B4-BE49-F238E27FC236}">
                  <a16:creationId xmlns:a16="http://schemas.microsoft.com/office/drawing/2014/main" id="{BE5C6748-6E3F-4391-95AF-50196D90EF01}"/>
                </a:ext>
              </a:extLst>
            </p:cNvPr>
            <p:cNvSpPr>
              <a:spLocks noEditPoints="1"/>
            </p:cNvSpPr>
            <p:nvPr/>
          </p:nvSpPr>
          <p:spPr bwMode="auto">
            <a:xfrm>
              <a:off x="5600700" y="2500313"/>
              <a:ext cx="90488" cy="123825"/>
            </a:xfrm>
            <a:custGeom>
              <a:avLst/>
              <a:gdLst>
                <a:gd name="T0" fmla="*/ 45 w 286"/>
                <a:gd name="T1" fmla="*/ 31 h 391"/>
                <a:gd name="T2" fmla="*/ 75 w 286"/>
                <a:gd name="T3" fmla="*/ 35 h 391"/>
                <a:gd name="T4" fmla="*/ 105 w 286"/>
                <a:gd name="T5" fmla="*/ 42 h 391"/>
                <a:gd name="T6" fmla="*/ 134 w 286"/>
                <a:gd name="T7" fmla="*/ 51 h 391"/>
                <a:gd name="T8" fmla="*/ 162 w 286"/>
                <a:gd name="T9" fmla="*/ 62 h 391"/>
                <a:gd name="T10" fmla="*/ 188 w 286"/>
                <a:gd name="T11" fmla="*/ 76 h 391"/>
                <a:gd name="T12" fmla="*/ 214 w 286"/>
                <a:gd name="T13" fmla="*/ 92 h 391"/>
                <a:gd name="T14" fmla="*/ 237 w 286"/>
                <a:gd name="T15" fmla="*/ 110 h 391"/>
                <a:gd name="T16" fmla="*/ 205 w 286"/>
                <a:gd name="T17" fmla="*/ 164 h 391"/>
                <a:gd name="T18" fmla="*/ 167 w 286"/>
                <a:gd name="T19" fmla="*/ 133 h 391"/>
                <a:gd name="T20" fmla="*/ 124 w 286"/>
                <a:gd name="T21" fmla="*/ 112 h 391"/>
                <a:gd name="T22" fmla="*/ 78 w 286"/>
                <a:gd name="T23" fmla="*/ 97 h 391"/>
                <a:gd name="T24" fmla="*/ 29 w 286"/>
                <a:gd name="T25" fmla="*/ 91 h 391"/>
                <a:gd name="T26" fmla="*/ 152 w 286"/>
                <a:gd name="T27" fmla="*/ 238 h 391"/>
                <a:gd name="T28" fmla="*/ 100 w 286"/>
                <a:gd name="T29" fmla="*/ 292 h 391"/>
                <a:gd name="T30" fmla="*/ 78 w 286"/>
                <a:gd name="T31" fmla="*/ 313 h 391"/>
                <a:gd name="T32" fmla="*/ 65 w 286"/>
                <a:gd name="T33" fmla="*/ 294 h 391"/>
                <a:gd name="T34" fmla="*/ 61 w 286"/>
                <a:gd name="T35" fmla="*/ 269 h 391"/>
                <a:gd name="T36" fmla="*/ 65 w 286"/>
                <a:gd name="T37" fmla="*/ 246 h 391"/>
                <a:gd name="T38" fmla="*/ 78 w 286"/>
                <a:gd name="T39" fmla="*/ 227 h 391"/>
                <a:gd name="T40" fmla="*/ 97 w 286"/>
                <a:gd name="T41" fmla="*/ 215 h 391"/>
                <a:gd name="T42" fmla="*/ 120 w 286"/>
                <a:gd name="T43" fmla="*/ 210 h 391"/>
                <a:gd name="T44" fmla="*/ 133 w 286"/>
                <a:gd name="T45" fmla="*/ 211 h 391"/>
                <a:gd name="T46" fmla="*/ 143 w 286"/>
                <a:gd name="T47" fmla="*/ 215 h 391"/>
                <a:gd name="T48" fmla="*/ 163 w 286"/>
                <a:gd name="T49" fmla="*/ 228 h 391"/>
                <a:gd name="T50" fmla="*/ 9 w 286"/>
                <a:gd name="T51" fmla="*/ 391 h 391"/>
                <a:gd name="T52" fmla="*/ 15 w 286"/>
                <a:gd name="T53" fmla="*/ 391 h 391"/>
                <a:gd name="T54" fmla="*/ 26 w 286"/>
                <a:gd name="T55" fmla="*/ 386 h 391"/>
                <a:gd name="T56" fmla="*/ 218 w 286"/>
                <a:gd name="T57" fmla="*/ 195 h 391"/>
                <a:gd name="T58" fmla="*/ 218 w 286"/>
                <a:gd name="T59" fmla="*/ 193 h 391"/>
                <a:gd name="T60" fmla="*/ 283 w 286"/>
                <a:gd name="T61" fmla="*/ 129 h 391"/>
                <a:gd name="T62" fmla="*/ 286 w 286"/>
                <a:gd name="T63" fmla="*/ 123 h 391"/>
                <a:gd name="T64" fmla="*/ 284 w 286"/>
                <a:gd name="T65" fmla="*/ 114 h 391"/>
                <a:gd name="T66" fmla="*/ 267 w 286"/>
                <a:gd name="T67" fmla="*/ 96 h 391"/>
                <a:gd name="T68" fmla="*/ 239 w 286"/>
                <a:gd name="T69" fmla="*/ 73 h 391"/>
                <a:gd name="T70" fmla="*/ 208 w 286"/>
                <a:gd name="T71" fmla="*/ 52 h 391"/>
                <a:gd name="T72" fmla="*/ 176 w 286"/>
                <a:gd name="T73" fmla="*/ 35 h 391"/>
                <a:gd name="T74" fmla="*/ 142 w 286"/>
                <a:gd name="T75" fmla="*/ 21 h 391"/>
                <a:gd name="T76" fmla="*/ 107 w 286"/>
                <a:gd name="T77" fmla="*/ 11 h 391"/>
                <a:gd name="T78" fmla="*/ 71 w 286"/>
                <a:gd name="T79" fmla="*/ 4 h 391"/>
                <a:gd name="T80" fmla="*/ 34 w 286"/>
                <a:gd name="T81" fmla="*/ 0 h 391"/>
                <a:gd name="T82" fmla="*/ 9 w 286"/>
                <a:gd name="T83" fmla="*/ 1 h 391"/>
                <a:gd name="T84" fmla="*/ 1 w 286"/>
                <a:gd name="T85" fmla="*/ 8 h 391"/>
                <a:gd name="T86" fmla="*/ 0 w 286"/>
                <a:gd name="T87" fmla="*/ 104 h 391"/>
                <a:gd name="T88" fmla="*/ 0 w 286"/>
                <a:gd name="T89" fmla="*/ 380 h 391"/>
                <a:gd name="T90" fmla="*/ 5 w 286"/>
                <a:gd name="T91" fmla="*/ 387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6" h="391">
                  <a:moveTo>
                    <a:pt x="29" y="31"/>
                  </a:moveTo>
                  <a:lnTo>
                    <a:pt x="45" y="31"/>
                  </a:lnTo>
                  <a:lnTo>
                    <a:pt x="61" y="34"/>
                  </a:lnTo>
                  <a:lnTo>
                    <a:pt x="75" y="35"/>
                  </a:lnTo>
                  <a:lnTo>
                    <a:pt x="90" y="39"/>
                  </a:lnTo>
                  <a:lnTo>
                    <a:pt x="105" y="42"/>
                  </a:lnTo>
                  <a:lnTo>
                    <a:pt x="119" y="46"/>
                  </a:lnTo>
                  <a:lnTo>
                    <a:pt x="134" y="51"/>
                  </a:lnTo>
                  <a:lnTo>
                    <a:pt x="148" y="56"/>
                  </a:lnTo>
                  <a:lnTo>
                    <a:pt x="162" y="62"/>
                  </a:lnTo>
                  <a:lnTo>
                    <a:pt x="175" y="69"/>
                  </a:lnTo>
                  <a:lnTo>
                    <a:pt x="188" y="76"/>
                  </a:lnTo>
                  <a:lnTo>
                    <a:pt x="201" y="84"/>
                  </a:lnTo>
                  <a:lnTo>
                    <a:pt x="214" y="92"/>
                  </a:lnTo>
                  <a:lnTo>
                    <a:pt x="226" y="102"/>
                  </a:lnTo>
                  <a:lnTo>
                    <a:pt x="237" y="110"/>
                  </a:lnTo>
                  <a:lnTo>
                    <a:pt x="249" y="121"/>
                  </a:lnTo>
                  <a:lnTo>
                    <a:pt x="205" y="164"/>
                  </a:lnTo>
                  <a:lnTo>
                    <a:pt x="187" y="148"/>
                  </a:lnTo>
                  <a:lnTo>
                    <a:pt x="167" y="133"/>
                  </a:lnTo>
                  <a:lnTo>
                    <a:pt x="146" y="123"/>
                  </a:lnTo>
                  <a:lnTo>
                    <a:pt x="124" y="112"/>
                  </a:lnTo>
                  <a:lnTo>
                    <a:pt x="101" y="103"/>
                  </a:lnTo>
                  <a:lnTo>
                    <a:pt x="78" y="97"/>
                  </a:lnTo>
                  <a:lnTo>
                    <a:pt x="55" y="93"/>
                  </a:lnTo>
                  <a:lnTo>
                    <a:pt x="29" y="91"/>
                  </a:lnTo>
                  <a:lnTo>
                    <a:pt x="29" y="31"/>
                  </a:lnTo>
                  <a:close/>
                  <a:moveTo>
                    <a:pt x="152" y="238"/>
                  </a:moveTo>
                  <a:lnTo>
                    <a:pt x="142" y="249"/>
                  </a:lnTo>
                  <a:lnTo>
                    <a:pt x="100" y="292"/>
                  </a:lnTo>
                  <a:lnTo>
                    <a:pt x="89" y="303"/>
                  </a:lnTo>
                  <a:lnTo>
                    <a:pt x="78" y="313"/>
                  </a:lnTo>
                  <a:lnTo>
                    <a:pt x="71" y="303"/>
                  </a:lnTo>
                  <a:lnTo>
                    <a:pt x="65" y="294"/>
                  </a:lnTo>
                  <a:lnTo>
                    <a:pt x="61" y="282"/>
                  </a:lnTo>
                  <a:lnTo>
                    <a:pt x="61" y="269"/>
                  </a:lnTo>
                  <a:lnTo>
                    <a:pt x="62" y="258"/>
                  </a:lnTo>
                  <a:lnTo>
                    <a:pt x="65" y="246"/>
                  </a:lnTo>
                  <a:lnTo>
                    <a:pt x="71" y="237"/>
                  </a:lnTo>
                  <a:lnTo>
                    <a:pt x="78" y="227"/>
                  </a:lnTo>
                  <a:lnTo>
                    <a:pt x="86" y="220"/>
                  </a:lnTo>
                  <a:lnTo>
                    <a:pt x="97" y="215"/>
                  </a:lnTo>
                  <a:lnTo>
                    <a:pt x="108" y="211"/>
                  </a:lnTo>
                  <a:lnTo>
                    <a:pt x="120" y="210"/>
                  </a:lnTo>
                  <a:lnTo>
                    <a:pt x="126" y="210"/>
                  </a:lnTo>
                  <a:lnTo>
                    <a:pt x="133" y="211"/>
                  </a:lnTo>
                  <a:lnTo>
                    <a:pt x="139" y="212"/>
                  </a:lnTo>
                  <a:lnTo>
                    <a:pt x="143" y="215"/>
                  </a:lnTo>
                  <a:lnTo>
                    <a:pt x="154" y="221"/>
                  </a:lnTo>
                  <a:lnTo>
                    <a:pt x="163" y="228"/>
                  </a:lnTo>
                  <a:lnTo>
                    <a:pt x="152" y="238"/>
                  </a:lnTo>
                  <a:close/>
                  <a:moveTo>
                    <a:pt x="9" y="391"/>
                  </a:moveTo>
                  <a:lnTo>
                    <a:pt x="12" y="391"/>
                  </a:lnTo>
                  <a:lnTo>
                    <a:pt x="15" y="391"/>
                  </a:lnTo>
                  <a:lnTo>
                    <a:pt x="21" y="390"/>
                  </a:lnTo>
                  <a:lnTo>
                    <a:pt x="26" y="386"/>
                  </a:lnTo>
                  <a:lnTo>
                    <a:pt x="205" y="206"/>
                  </a:lnTo>
                  <a:lnTo>
                    <a:pt x="218" y="195"/>
                  </a:lnTo>
                  <a:lnTo>
                    <a:pt x="218" y="194"/>
                  </a:lnTo>
                  <a:lnTo>
                    <a:pt x="218" y="193"/>
                  </a:lnTo>
                  <a:lnTo>
                    <a:pt x="281" y="130"/>
                  </a:lnTo>
                  <a:lnTo>
                    <a:pt x="283" y="129"/>
                  </a:lnTo>
                  <a:lnTo>
                    <a:pt x="284" y="126"/>
                  </a:lnTo>
                  <a:lnTo>
                    <a:pt x="286" y="123"/>
                  </a:lnTo>
                  <a:lnTo>
                    <a:pt x="286" y="120"/>
                  </a:lnTo>
                  <a:lnTo>
                    <a:pt x="284" y="114"/>
                  </a:lnTo>
                  <a:lnTo>
                    <a:pt x="281" y="109"/>
                  </a:lnTo>
                  <a:lnTo>
                    <a:pt x="267" y="96"/>
                  </a:lnTo>
                  <a:lnTo>
                    <a:pt x="254" y="84"/>
                  </a:lnTo>
                  <a:lnTo>
                    <a:pt x="239" y="73"/>
                  </a:lnTo>
                  <a:lnTo>
                    <a:pt x="224" y="62"/>
                  </a:lnTo>
                  <a:lnTo>
                    <a:pt x="208" y="52"/>
                  </a:lnTo>
                  <a:lnTo>
                    <a:pt x="192" y="44"/>
                  </a:lnTo>
                  <a:lnTo>
                    <a:pt x="176" y="35"/>
                  </a:lnTo>
                  <a:lnTo>
                    <a:pt x="159" y="28"/>
                  </a:lnTo>
                  <a:lnTo>
                    <a:pt x="142" y="21"/>
                  </a:lnTo>
                  <a:lnTo>
                    <a:pt x="125" y="16"/>
                  </a:lnTo>
                  <a:lnTo>
                    <a:pt x="107" y="11"/>
                  </a:lnTo>
                  <a:lnTo>
                    <a:pt x="89" y="6"/>
                  </a:lnTo>
                  <a:lnTo>
                    <a:pt x="71" y="4"/>
                  </a:lnTo>
                  <a:lnTo>
                    <a:pt x="52" y="1"/>
                  </a:lnTo>
                  <a:lnTo>
                    <a:pt x="34" y="0"/>
                  </a:lnTo>
                  <a:lnTo>
                    <a:pt x="15" y="0"/>
                  </a:lnTo>
                  <a:lnTo>
                    <a:pt x="9" y="1"/>
                  </a:lnTo>
                  <a:lnTo>
                    <a:pt x="4" y="4"/>
                  </a:lnTo>
                  <a:lnTo>
                    <a:pt x="1" y="8"/>
                  </a:lnTo>
                  <a:lnTo>
                    <a:pt x="0" y="14"/>
                  </a:lnTo>
                  <a:lnTo>
                    <a:pt x="0" y="104"/>
                  </a:lnTo>
                  <a:lnTo>
                    <a:pt x="0" y="375"/>
                  </a:lnTo>
                  <a:lnTo>
                    <a:pt x="0" y="380"/>
                  </a:lnTo>
                  <a:lnTo>
                    <a:pt x="3" y="384"/>
                  </a:lnTo>
                  <a:lnTo>
                    <a:pt x="5" y="387"/>
                  </a:lnTo>
                  <a:lnTo>
                    <a:pt x="9" y="3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99" name="Group 98">
            <a:extLst>
              <a:ext uri="{FF2B5EF4-FFF2-40B4-BE49-F238E27FC236}">
                <a16:creationId xmlns:a16="http://schemas.microsoft.com/office/drawing/2014/main" id="{7C868EC3-B095-4165-ACF1-D5918D820AC1}"/>
              </a:ext>
            </a:extLst>
          </p:cNvPr>
          <p:cNvGrpSpPr/>
          <p:nvPr/>
        </p:nvGrpSpPr>
        <p:grpSpPr>
          <a:xfrm>
            <a:off x="1424131" y="5175904"/>
            <a:ext cx="4038600" cy="969497"/>
            <a:chOff x="1927100" y="2998910"/>
            <a:chExt cx="4168900" cy="969497"/>
          </a:xfrm>
        </p:grpSpPr>
        <p:sp>
          <p:nvSpPr>
            <p:cNvPr id="100" name="TextBox 99">
              <a:extLst>
                <a:ext uri="{FF2B5EF4-FFF2-40B4-BE49-F238E27FC236}">
                  <a16:creationId xmlns:a16="http://schemas.microsoft.com/office/drawing/2014/main" id="{05D2269D-459A-4C4F-A392-6A018233A13B}"/>
                </a:ext>
              </a:extLst>
            </p:cNvPr>
            <p:cNvSpPr txBox="1"/>
            <p:nvPr/>
          </p:nvSpPr>
          <p:spPr>
            <a:xfrm>
              <a:off x="1927100" y="3322076"/>
              <a:ext cx="4168900" cy="646331"/>
            </a:xfrm>
            <a:prstGeom prst="rect">
              <a:avLst/>
            </a:prstGeom>
            <a:noFill/>
          </p:spPr>
          <p:txBody>
            <a:bodyPr wrap="square" lIns="0" tIns="0" rIns="0" bIns="0" rtlCol="0" anchor="t">
              <a:spAutoFit/>
            </a:bodyPr>
            <a:lstStyle/>
            <a:p>
              <a:pPr>
                <a:spcAft>
                  <a:spcPts val="600"/>
                </a:spcAft>
              </a:pPr>
              <a:r>
                <a:rPr lang="en-US" sz="1400" dirty="0"/>
                <a:t>The average number of pizzas sold per order, calculated by dividing the total number of pizzas sold by the total number of orders </a:t>
              </a:r>
            </a:p>
          </p:txBody>
        </p:sp>
        <p:sp>
          <p:nvSpPr>
            <p:cNvPr id="101" name="TextBox 100">
              <a:extLst>
                <a:ext uri="{FF2B5EF4-FFF2-40B4-BE49-F238E27FC236}">
                  <a16:creationId xmlns:a16="http://schemas.microsoft.com/office/drawing/2014/main" id="{6CB070D8-44F3-482E-8865-7D7554ACF0DA}"/>
                </a:ext>
              </a:extLst>
            </p:cNvPr>
            <p:cNvSpPr txBox="1"/>
            <p:nvPr/>
          </p:nvSpPr>
          <p:spPr>
            <a:xfrm>
              <a:off x="1927100" y="2998910"/>
              <a:ext cx="4168900" cy="276999"/>
            </a:xfrm>
            <a:prstGeom prst="rect">
              <a:avLst/>
            </a:prstGeom>
            <a:noFill/>
          </p:spPr>
          <p:txBody>
            <a:bodyPr wrap="square" lIns="0" tIns="0" rIns="0" bIns="0" rtlCol="0" anchor="t">
              <a:spAutoFit/>
            </a:bodyPr>
            <a:lstStyle/>
            <a:p>
              <a:pPr>
                <a:spcAft>
                  <a:spcPts val="600"/>
                </a:spcAft>
              </a:pPr>
              <a:r>
                <a:rPr lang="en-US" b="1" dirty="0"/>
                <a:t>Average Pizza Order </a:t>
              </a:r>
            </a:p>
          </p:txBody>
        </p:sp>
      </p:grpSp>
    </p:spTree>
    <p:extLst>
      <p:ext uri="{BB962C8B-B14F-4D97-AF65-F5344CB8AC3E}">
        <p14:creationId xmlns:p14="http://schemas.microsoft.com/office/powerpoint/2010/main" val="341557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E7F4F24-2B08-4F42-9901-DA04E37DC8F4}"/>
              </a:ext>
            </a:extLst>
          </p:cNvPr>
          <p:cNvGrpSpPr/>
          <p:nvPr/>
        </p:nvGrpSpPr>
        <p:grpSpPr>
          <a:xfrm>
            <a:off x="31376" y="4003846"/>
            <a:ext cx="12192000" cy="2854153"/>
            <a:chOff x="0" y="4948862"/>
            <a:chExt cx="12192000" cy="1909138"/>
          </a:xfrm>
          <a:blipFill>
            <a:blip r:embed="rId3"/>
            <a:stretch>
              <a:fillRect/>
            </a:stretch>
          </a:blipFill>
        </p:grpSpPr>
        <p:sp>
          <p:nvSpPr>
            <p:cNvPr id="3" name="Freeform: Shape 2">
              <a:extLst>
                <a:ext uri="{FF2B5EF4-FFF2-40B4-BE49-F238E27FC236}">
                  <a16:creationId xmlns:a16="http://schemas.microsoft.com/office/drawing/2014/main" id="{2AF377C7-0263-42C0-AFA0-6D7BCD7E8318}"/>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Freeform: Shape 3">
              <a:extLst>
                <a:ext uri="{FF2B5EF4-FFF2-40B4-BE49-F238E27FC236}">
                  <a16:creationId xmlns:a16="http://schemas.microsoft.com/office/drawing/2014/main" id="{977E6CD1-22A9-4827-A13D-55D558EFC5B6}"/>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7" name="TextBox 56">
            <a:extLst>
              <a:ext uri="{FF2B5EF4-FFF2-40B4-BE49-F238E27FC236}">
                <a16:creationId xmlns:a16="http://schemas.microsoft.com/office/drawing/2014/main" id="{D923B7E7-EDFC-4442-A048-5B05514097BB}"/>
              </a:ext>
            </a:extLst>
          </p:cNvPr>
          <p:cNvSpPr txBox="1"/>
          <p:nvPr/>
        </p:nvSpPr>
        <p:spPr>
          <a:xfrm>
            <a:off x="3853306" y="675199"/>
            <a:ext cx="3348318" cy="646331"/>
          </a:xfrm>
          <a:prstGeom prst="rect">
            <a:avLst/>
          </a:prstGeom>
          <a:noFill/>
        </p:spPr>
        <p:txBody>
          <a:bodyPr wrap="square">
            <a:spAutoFit/>
          </a:bodyPr>
          <a:lstStyle/>
          <a:p>
            <a:pPr algn="ctr"/>
            <a:r>
              <a:rPr lang="en-US" sz="3600" b="1" dirty="0">
                <a:solidFill>
                  <a:srgbClr val="FF0000"/>
                </a:solidFill>
                <a:latin typeface="+mj-lt"/>
                <a:ea typeface="맑은 고딕" pitchFamily="50" charset="-127"/>
              </a:rPr>
              <a:t>Objectives</a:t>
            </a:r>
            <a:endParaRPr lang="en-US" sz="3600" dirty="0"/>
          </a:p>
        </p:txBody>
      </p:sp>
      <p:grpSp>
        <p:nvGrpSpPr>
          <p:cNvPr id="58" name="Group 57">
            <a:extLst>
              <a:ext uri="{FF2B5EF4-FFF2-40B4-BE49-F238E27FC236}">
                <a16:creationId xmlns:a16="http://schemas.microsoft.com/office/drawing/2014/main" id="{89308A73-C7B4-4746-BA21-3B2DCE4AB58F}"/>
              </a:ext>
            </a:extLst>
          </p:cNvPr>
          <p:cNvGrpSpPr/>
          <p:nvPr/>
        </p:nvGrpSpPr>
        <p:grpSpPr>
          <a:xfrm>
            <a:off x="1416422" y="2560150"/>
            <a:ext cx="272303" cy="362396"/>
            <a:chOff x="5467350" y="2500313"/>
            <a:chExt cx="238125" cy="285750"/>
          </a:xfrm>
          <a:solidFill>
            <a:srgbClr val="C00000"/>
          </a:solidFill>
        </p:grpSpPr>
        <p:sp>
          <p:nvSpPr>
            <p:cNvPr id="59" name="Freeform 1295">
              <a:extLst>
                <a:ext uri="{FF2B5EF4-FFF2-40B4-BE49-F238E27FC236}">
                  <a16:creationId xmlns:a16="http://schemas.microsoft.com/office/drawing/2014/main" id="{165B1C32-B0AE-4BA2-9C15-B63BC1579EF9}"/>
                </a:ext>
              </a:extLst>
            </p:cNvPr>
            <p:cNvSpPr>
              <a:spLocks noEditPoints="1"/>
            </p:cNvSpPr>
            <p:nvPr/>
          </p:nvSpPr>
          <p:spPr bwMode="auto">
            <a:xfrm>
              <a:off x="5467350" y="2547938"/>
              <a:ext cx="238125" cy="238125"/>
            </a:xfrm>
            <a:custGeom>
              <a:avLst/>
              <a:gdLst>
                <a:gd name="T0" fmla="*/ 257 w 751"/>
                <a:gd name="T1" fmla="*/ 702 h 753"/>
                <a:gd name="T2" fmla="*/ 143 w 751"/>
                <a:gd name="T3" fmla="*/ 633 h 753"/>
                <a:gd name="T4" fmla="*/ 64 w 751"/>
                <a:gd name="T5" fmla="*/ 527 h 753"/>
                <a:gd name="T6" fmla="*/ 30 w 751"/>
                <a:gd name="T7" fmla="*/ 395 h 753"/>
                <a:gd name="T8" fmla="*/ 50 w 751"/>
                <a:gd name="T9" fmla="*/ 261 h 753"/>
                <a:gd name="T10" fmla="*/ 115 w 751"/>
                <a:gd name="T11" fmla="*/ 150 h 753"/>
                <a:gd name="T12" fmla="*/ 217 w 751"/>
                <a:gd name="T13" fmla="*/ 71 h 753"/>
                <a:gd name="T14" fmla="*/ 344 w 751"/>
                <a:gd name="T15" fmla="*/ 33 h 753"/>
                <a:gd name="T16" fmla="*/ 279 w 751"/>
                <a:gd name="T17" fmla="*/ 108 h 753"/>
                <a:gd name="T18" fmla="*/ 188 w 751"/>
                <a:gd name="T19" fmla="*/ 162 h 753"/>
                <a:gd name="T20" fmla="*/ 123 w 751"/>
                <a:gd name="T21" fmla="*/ 245 h 753"/>
                <a:gd name="T22" fmla="*/ 91 w 751"/>
                <a:gd name="T23" fmla="*/ 349 h 753"/>
                <a:gd name="T24" fmla="*/ 103 w 751"/>
                <a:gd name="T25" fmla="*/ 462 h 753"/>
                <a:gd name="T26" fmla="*/ 155 w 751"/>
                <a:gd name="T27" fmla="*/ 559 h 753"/>
                <a:gd name="T28" fmla="*/ 239 w 751"/>
                <a:gd name="T29" fmla="*/ 628 h 753"/>
                <a:gd name="T30" fmla="*/ 346 w 751"/>
                <a:gd name="T31" fmla="*/ 661 h 753"/>
                <a:gd name="T32" fmla="*/ 460 w 751"/>
                <a:gd name="T33" fmla="*/ 650 h 753"/>
                <a:gd name="T34" fmla="*/ 557 w 751"/>
                <a:gd name="T35" fmla="*/ 598 h 753"/>
                <a:gd name="T36" fmla="*/ 626 w 751"/>
                <a:gd name="T37" fmla="*/ 513 h 753"/>
                <a:gd name="T38" fmla="*/ 660 w 751"/>
                <a:gd name="T39" fmla="*/ 406 h 753"/>
                <a:gd name="T40" fmla="*/ 619 w 751"/>
                <a:gd name="T41" fmla="*/ 227 h 753"/>
                <a:gd name="T42" fmla="*/ 677 w 751"/>
                <a:gd name="T43" fmla="*/ 208 h 753"/>
                <a:gd name="T44" fmla="*/ 719 w 751"/>
                <a:gd name="T45" fmla="*/ 328 h 753"/>
                <a:gd name="T46" fmla="*/ 710 w 751"/>
                <a:gd name="T47" fmla="*/ 463 h 753"/>
                <a:gd name="T48" fmla="*/ 653 w 751"/>
                <a:gd name="T49" fmla="*/ 583 h 753"/>
                <a:gd name="T50" fmla="*/ 555 w 751"/>
                <a:gd name="T51" fmla="*/ 673 h 753"/>
                <a:gd name="T52" fmla="*/ 429 w 751"/>
                <a:gd name="T53" fmla="*/ 719 h 753"/>
                <a:gd name="T54" fmla="*/ 283 w 751"/>
                <a:gd name="T55" fmla="*/ 464 h 753"/>
                <a:gd name="T56" fmla="*/ 198 w 751"/>
                <a:gd name="T57" fmla="*/ 464 h 753"/>
                <a:gd name="T58" fmla="*/ 198 w 751"/>
                <a:gd name="T59" fmla="*/ 379 h 753"/>
                <a:gd name="T60" fmla="*/ 283 w 751"/>
                <a:gd name="T61" fmla="*/ 379 h 753"/>
                <a:gd name="T62" fmla="*/ 237 w 751"/>
                <a:gd name="T63" fmla="*/ 321 h 753"/>
                <a:gd name="T64" fmla="*/ 221 w 751"/>
                <a:gd name="T65" fmla="*/ 238 h 753"/>
                <a:gd name="T66" fmla="*/ 303 w 751"/>
                <a:gd name="T67" fmla="*/ 221 h 753"/>
                <a:gd name="T68" fmla="*/ 320 w 751"/>
                <a:gd name="T69" fmla="*/ 305 h 753"/>
                <a:gd name="T70" fmla="*/ 414 w 751"/>
                <a:gd name="T71" fmla="*/ 487 h 753"/>
                <a:gd name="T72" fmla="*/ 447 w 751"/>
                <a:gd name="T73" fmla="*/ 566 h 753"/>
                <a:gd name="T74" fmla="*/ 368 w 751"/>
                <a:gd name="T75" fmla="*/ 598 h 753"/>
                <a:gd name="T76" fmla="*/ 335 w 751"/>
                <a:gd name="T77" fmla="*/ 519 h 753"/>
                <a:gd name="T78" fmla="*/ 460 w 751"/>
                <a:gd name="T79" fmla="*/ 294 h 753"/>
                <a:gd name="T80" fmla="*/ 540 w 751"/>
                <a:gd name="T81" fmla="*/ 283 h 753"/>
                <a:gd name="T82" fmla="*/ 469 w 751"/>
                <a:gd name="T83" fmla="*/ 330 h 753"/>
                <a:gd name="T84" fmla="*/ 561 w 751"/>
                <a:gd name="T85" fmla="*/ 455 h 753"/>
                <a:gd name="T86" fmla="*/ 477 w 751"/>
                <a:gd name="T87" fmla="*/ 471 h 753"/>
                <a:gd name="T88" fmla="*/ 461 w 751"/>
                <a:gd name="T89" fmla="*/ 389 h 753"/>
                <a:gd name="T90" fmla="*/ 545 w 751"/>
                <a:gd name="T91" fmla="*/ 372 h 753"/>
                <a:gd name="T92" fmla="*/ 636 w 751"/>
                <a:gd name="T93" fmla="*/ 108 h 753"/>
                <a:gd name="T94" fmla="*/ 391 w 751"/>
                <a:gd name="T95" fmla="*/ 340 h 753"/>
                <a:gd name="T96" fmla="*/ 337 w 751"/>
                <a:gd name="T97" fmla="*/ 3 h 753"/>
                <a:gd name="T98" fmla="*/ 197 w 751"/>
                <a:gd name="T99" fmla="*/ 46 h 753"/>
                <a:gd name="T100" fmla="*/ 86 w 751"/>
                <a:gd name="T101" fmla="*/ 139 h 753"/>
                <a:gd name="T102" fmla="*/ 17 w 751"/>
                <a:gd name="T103" fmla="*/ 265 h 753"/>
                <a:gd name="T104" fmla="*/ 1 w 751"/>
                <a:gd name="T105" fmla="*/ 415 h 753"/>
                <a:gd name="T106" fmla="*/ 45 w 751"/>
                <a:gd name="T107" fmla="*/ 556 h 753"/>
                <a:gd name="T108" fmla="*/ 137 w 751"/>
                <a:gd name="T109" fmla="*/ 667 h 753"/>
                <a:gd name="T110" fmla="*/ 263 w 751"/>
                <a:gd name="T111" fmla="*/ 736 h 753"/>
                <a:gd name="T112" fmla="*/ 414 w 751"/>
                <a:gd name="T113" fmla="*/ 751 h 753"/>
                <a:gd name="T114" fmla="*/ 555 w 751"/>
                <a:gd name="T115" fmla="*/ 707 h 753"/>
                <a:gd name="T116" fmla="*/ 665 w 751"/>
                <a:gd name="T117" fmla="*/ 616 h 753"/>
                <a:gd name="T118" fmla="*/ 734 w 751"/>
                <a:gd name="T119" fmla="*/ 488 h 753"/>
                <a:gd name="T120" fmla="*/ 750 w 751"/>
                <a:gd name="T121" fmla="*/ 340 h 753"/>
                <a:gd name="T122" fmla="*/ 708 w 751"/>
                <a:gd name="T123" fmla="*/ 201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1" h="753">
                  <a:moveTo>
                    <a:pt x="375" y="723"/>
                  </a:moveTo>
                  <a:lnTo>
                    <a:pt x="358" y="723"/>
                  </a:lnTo>
                  <a:lnTo>
                    <a:pt x="340" y="720"/>
                  </a:lnTo>
                  <a:lnTo>
                    <a:pt x="323" y="719"/>
                  </a:lnTo>
                  <a:lnTo>
                    <a:pt x="306" y="715"/>
                  </a:lnTo>
                  <a:lnTo>
                    <a:pt x="289" y="712"/>
                  </a:lnTo>
                  <a:lnTo>
                    <a:pt x="273" y="707"/>
                  </a:lnTo>
                  <a:lnTo>
                    <a:pt x="257" y="702"/>
                  </a:lnTo>
                  <a:lnTo>
                    <a:pt x="242" y="696"/>
                  </a:lnTo>
                  <a:lnTo>
                    <a:pt x="226" y="689"/>
                  </a:lnTo>
                  <a:lnTo>
                    <a:pt x="211" y="681"/>
                  </a:lnTo>
                  <a:lnTo>
                    <a:pt x="197" y="673"/>
                  </a:lnTo>
                  <a:lnTo>
                    <a:pt x="182" y="663"/>
                  </a:lnTo>
                  <a:lnTo>
                    <a:pt x="169" y="653"/>
                  </a:lnTo>
                  <a:lnTo>
                    <a:pt x="155" y="644"/>
                  </a:lnTo>
                  <a:lnTo>
                    <a:pt x="143" y="633"/>
                  </a:lnTo>
                  <a:lnTo>
                    <a:pt x="131" y="621"/>
                  </a:lnTo>
                  <a:lnTo>
                    <a:pt x="120" y="610"/>
                  </a:lnTo>
                  <a:lnTo>
                    <a:pt x="109" y="596"/>
                  </a:lnTo>
                  <a:lnTo>
                    <a:pt x="98" y="583"/>
                  </a:lnTo>
                  <a:lnTo>
                    <a:pt x="89" y="570"/>
                  </a:lnTo>
                  <a:lnTo>
                    <a:pt x="80" y="556"/>
                  </a:lnTo>
                  <a:lnTo>
                    <a:pt x="72" y="542"/>
                  </a:lnTo>
                  <a:lnTo>
                    <a:pt x="64" y="527"/>
                  </a:lnTo>
                  <a:lnTo>
                    <a:pt x="57" y="511"/>
                  </a:lnTo>
                  <a:lnTo>
                    <a:pt x="51" y="496"/>
                  </a:lnTo>
                  <a:lnTo>
                    <a:pt x="45" y="480"/>
                  </a:lnTo>
                  <a:lnTo>
                    <a:pt x="41" y="463"/>
                  </a:lnTo>
                  <a:lnTo>
                    <a:pt x="36" y="446"/>
                  </a:lnTo>
                  <a:lnTo>
                    <a:pt x="34" y="429"/>
                  </a:lnTo>
                  <a:lnTo>
                    <a:pt x="31" y="412"/>
                  </a:lnTo>
                  <a:lnTo>
                    <a:pt x="30" y="395"/>
                  </a:lnTo>
                  <a:lnTo>
                    <a:pt x="30" y="377"/>
                  </a:lnTo>
                  <a:lnTo>
                    <a:pt x="30" y="360"/>
                  </a:lnTo>
                  <a:lnTo>
                    <a:pt x="31" y="343"/>
                  </a:lnTo>
                  <a:lnTo>
                    <a:pt x="34" y="326"/>
                  </a:lnTo>
                  <a:lnTo>
                    <a:pt x="36" y="309"/>
                  </a:lnTo>
                  <a:lnTo>
                    <a:pt x="40" y="293"/>
                  </a:lnTo>
                  <a:lnTo>
                    <a:pt x="45" y="277"/>
                  </a:lnTo>
                  <a:lnTo>
                    <a:pt x="50" y="261"/>
                  </a:lnTo>
                  <a:lnTo>
                    <a:pt x="56" y="245"/>
                  </a:lnTo>
                  <a:lnTo>
                    <a:pt x="62" y="231"/>
                  </a:lnTo>
                  <a:lnTo>
                    <a:pt x="69" y="216"/>
                  </a:lnTo>
                  <a:lnTo>
                    <a:pt x="78" y="202"/>
                  </a:lnTo>
                  <a:lnTo>
                    <a:pt x="86" y="188"/>
                  </a:lnTo>
                  <a:lnTo>
                    <a:pt x="95" y="175"/>
                  </a:lnTo>
                  <a:lnTo>
                    <a:pt x="106" y="162"/>
                  </a:lnTo>
                  <a:lnTo>
                    <a:pt x="115" y="150"/>
                  </a:lnTo>
                  <a:lnTo>
                    <a:pt x="126" y="137"/>
                  </a:lnTo>
                  <a:lnTo>
                    <a:pt x="137" y="126"/>
                  </a:lnTo>
                  <a:lnTo>
                    <a:pt x="149" y="116"/>
                  </a:lnTo>
                  <a:lnTo>
                    <a:pt x="163" y="106"/>
                  </a:lnTo>
                  <a:lnTo>
                    <a:pt x="175" y="96"/>
                  </a:lnTo>
                  <a:lnTo>
                    <a:pt x="188" y="86"/>
                  </a:lnTo>
                  <a:lnTo>
                    <a:pt x="203" y="78"/>
                  </a:lnTo>
                  <a:lnTo>
                    <a:pt x="217" y="71"/>
                  </a:lnTo>
                  <a:lnTo>
                    <a:pt x="232" y="63"/>
                  </a:lnTo>
                  <a:lnTo>
                    <a:pt x="246" y="57"/>
                  </a:lnTo>
                  <a:lnTo>
                    <a:pt x="262" y="51"/>
                  </a:lnTo>
                  <a:lnTo>
                    <a:pt x="278" y="46"/>
                  </a:lnTo>
                  <a:lnTo>
                    <a:pt x="294" y="42"/>
                  </a:lnTo>
                  <a:lnTo>
                    <a:pt x="310" y="38"/>
                  </a:lnTo>
                  <a:lnTo>
                    <a:pt x="327" y="35"/>
                  </a:lnTo>
                  <a:lnTo>
                    <a:pt x="344" y="33"/>
                  </a:lnTo>
                  <a:lnTo>
                    <a:pt x="361" y="32"/>
                  </a:lnTo>
                  <a:lnTo>
                    <a:pt x="361" y="92"/>
                  </a:lnTo>
                  <a:lnTo>
                    <a:pt x="347" y="94"/>
                  </a:lnTo>
                  <a:lnTo>
                    <a:pt x="333" y="95"/>
                  </a:lnTo>
                  <a:lnTo>
                    <a:pt x="319" y="97"/>
                  </a:lnTo>
                  <a:lnTo>
                    <a:pt x="306" y="101"/>
                  </a:lnTo>
                  <a:lnTo>
                    <a:pt x="293" y="105"/>
                  </a:lnTo>
                  <a:lnTo>
                    <a:pt x="279" y="108"/>
                  </a:lnTo>
                  <a:lnTo>
                    <a:pt x="267" y="113"/>
                  </a:lnTo>
                  <a:lnTo>
                    <a:pt x="255" y="119"/>
                  </a:lnTo>
                  <a:lnTo>
                    <a:pt x="243" y="124"/>
                  </a:lnTo>
                  <a:lnTo>
                    <a:pt x="231" y="131"/>
                  </a:lnTo>
                  <a:lnTo>
                    <a:pt x="220" y="139"/>
                  </a:lnTo>
                  <a:lnTo>
                    <a:pt x="209" y="146"/>
                  </a:lnTo>
                  <a:lnTo>
                    <a:pt x="198" y="153"/>
                  </a:lnTo>
                  <a:lnTo>
                    <a:pt x="188" y="162"/>
                  </a:lnTo>
                  <a:lnTo>
                    <a:pt x="178" y="171"/>
                  </a:lnTo>
                  <a:lnTo>
                    <a:pt x="169" y="180"/>
                  </a:lnTo>
                  <a:lnTo>
                    <a:pt x="160" y="190"/>
                  </a:lnTo>
                  <a:lnTo>
                    <a:pt x="152" y="201"/>
                  </a:lnTo>
                  <a:lnTo>
                    <a:pt x="143" y="211"/>
                  </a:lnTo>
                  <a:lnTo>
                    <a:pt x="136" y="222"/>
                  </a:lnTo>
                  <a:lnTo>
                    <a:pt x="129" y="233"/>
                  </a:lnTo>
                  <a:lnTo>
                    <a:pt x="123" y="245"/>
                  </a:lnTo>
                  <a:lnTo>
                    <a:pt x="116" y="256"/>
                  </a:lnTo>
                  <a:lnTo>
                    <a:pt x="112" y="270"/>
                  </a:lnTo>
                  <a:lnTo>
                    <a:pt x="107" y="282"/>
                  </a:lnTo>
                  <a:lnTo>
                    <a:pt x="102" y="295"/>
                  </a:lnTo>
                  <a:lnTo>
                    <a:pt x="98" y="307"/>
                  </a:lnTo>
                  <a:lnTo>
                    <a:pt x="96" y="321"/>
                  </a:lnTo>
                  <a:lnTo>
                    <a:pt x="93" y="334"/>
                  </a:lnTo>
                  <a:lnTo>
                    <a:pt x="91" y="349"/>
                  </a:lnTo>
                  <a:lnTo>
                    <a:pt x="90" y="362"/>
                  </a:lnTo>
                  <a:lnTo>
                    <a:pt x="90" y="377"/>
                  </a:lnTo>
                  <a:lnTo>
                    <a:pt x="90" y="391"/>
                  </a:lnTo>
                  <a:lnTo>
                    <a:pt x="91" y="406"/>
                  </a:lnTo>
                  <a:lnTo>
                    <a:pt x="93" y="420"/>
                  </a:lnTo>
                  <a:lnTo>
                    <a:pt x="96" y="434"/>
                  </a:lnTo>
                  <a:lnTo>
                    <a:pt x="99" y="448"/>
                  </a:lnTo>
                  <a:lnTo>
                    <a:pt x="103" y="462"/>
                  </a:lnTo>
                  <a:lnTo>
                    <a:pt x="107" y="475"/>
                  </a:lnTo>
                  <a:lnTo>
                    <a:pt x="113" y="488"/>
                  </a:lnTo>
                  <a:lnTo>
                    <a:pt x="118" y="500"/>
                  </a:lnTo>
                  <a:lnTo>
                    <a:pt x="125" y="513"/>
                  </a:lnTo>
                  <a:lnTo>
                    <a:pt x="131" y="525"/>
                  </a:lnTo>
                  <a:lnTo>
                    <a:pt x="138" y="537"/>
                  </a:lnTo>
                  <a:lnTo>
                    <a:pt x="147" y="548"/>
                  </a:lnTo>
                  <a:lnTo>
                    <a:pt x="155" y="559"/>
                  </a:lnTo>
                  <a:lnTo>
                    <a:pt x="164" y="568"/>
                  </a:lnTo>
                  <a:lnTo>
                    <a:pt x="174" y="578"/>
                  </a:lnTo>
                  <a:lnTo>
                    <a:pt x="183" y="588"/>
                  </a:lnTo>
                  <a:lnTo>
                    <a:pt x="194" y="598"/>
                  </a:lnTo>
                  <a:lnTo>
                    <a:pt x="205" y="606"/>
                  </a:lnTo>
                  <a:lnTo>
                    <a:pt x="216" y="613"/>
                  </a:lnTo>
                  <a:lnTo>
                    <a:pt x="227" y="621"/>
                  </a:lnTo>
                  <a:lnTo>
                    <a:pt x="239" y="628"/>
                  </a:lnTo>
                  <a:lnTo>
                    <a:pt x="251" y="634"/>
                  </a:lnTo>
                  <a:lnTo>
                    <a:pt x="265" y="640"/>
                  </a:lnTo>
                  <a:lnTo>
                    <a:pt x="278" y="645"/>
                  </a:lnTo>
                  <a:lnTo>
                    <a:pt x="291" y="650"/>
                  </a:lnTo>
                  <a:lnTo>
                    <a:pt x="305" y="653"/>
                  </a:lnTo>
                  <a:lnTo>
                    <a:pt x="318" y="657"/>
                  </a:lnTo>
                  <a:lnTo>
                    <a:pt x="333" y="659"/>
                  </a:lnTo>
                  <a:lnTo>
                    <a:pt x="346" y="661"/>
                  </a:lnTo>
                  <a:lnTo>
                    <a:pt x="361" y="662"/>
                  </a:lnTo>
                  <a:lnTo>
                    <a:pt x="375" y="662"/>
                  </a:lnTo>
                  <a:lnTo>
                    <a:pt x="391" y="662"/>
                  </a:lnTo>
                  <a:lnTo>
                    <a:pt x="404" y="661"/>
                  </a:lnTo>
                  <a:lnTo>
                    <a:pt x="419" y="659"/>
                  </a:lnTo>
                  <a:lnTo>
                    <a:pt x="433" y="657"/>
                  </a:lnTo>
                  <a:lnTo>
                    <a:pt x="447" y="653"/>
                  </a:lnTo>
                  <a:lnTo>
                    <a:pt x="460" y="650"/>
                  </a:lnTo>
                  <a:lnTo>
                    <a:pt x="473" y="645"/>
                  </a:lnTo>
                  <a:lnTo>
                    <a:pt x="487" y="640"/>
                  </a:lnTo>
                  <a:lnTo>
                    <a:pt x="499" y="634"/>
                  </a:lnTo>
                  <a:lnTo>
                    <a:pt x="512" y="628"/>
                  </a:lnTo>
                  <a:lnTo>
                    <a:pt x="523" y="621"/>
                  </a:lnTo>
                  <a:lnTo>
                    <a:pt x="535" y="613"/>
                  </a:lnTo>
                  <a:lnTo>
                    <a:pt x="546" y="606"/>
                  </a:lnTo>
                  <a:lnTo>
                    <a:pt x="557" y="598"/>
                  </a:lnTo>
                  <a:lnTo>
                    <a:pt x="568" y="588"/>
                  </a:lnTo>
                  <a:lnTo>
                    <a:pt x="578" y="578"/>
                  </a:lnTo>
                  <a:lnTo>
                    <a:pt x="588" y="568"/>
                  </a:lnTo>
                  <a:lnTo>
                    <a:pt x="596" y="559"/>
                  </a:lnTo>
                  <a:lnTo>
                    <a:pt x="605" y="548"/>
                  </a:lnTo>
                  <a:lnTo>
                    <a:pt x="613" y="537"/>
                  </a:lnTo>
                  <a:lnTo>
                    <a:pt x="620" y="525"/>
                  </a:lnTo>
                  <a:lnTo>
                    <a:pt x="626" y="513"/>
                  </a:lnTo>
                  <a:lnTo>
                    <a:pt x="634" y="500"/>
                  </a:lnTo>
                  <a:lnTo>
                    <a:pt x="639" y="488"/>
                  </a:lnTo>
                  <a:lnTo>
                    <a:pt x="645" y="475"/>
                  </a:lnTo>
                  <a:lnTo>
                    <a:pt x="648" y="462"/>
                  </a:lnTo>
                  <a:lnTo>
                    <a:pt x="652" y="448"/>
                  </a:lnTo>
                  <a:lnTo>
                    <a:pt x="656" y="434"/>
                  </a:lnTo>
                  <a:lnTo>
                    <a:pt x="658" y="420"/>
                  </a:lnTo>
                  <a:lnTo>
                    <a:pt x="660" y="406"/>
                  </a:lnTo>
                  <a:lnTo>
                    <a:pt x="660" y="391"/>
                  </a:lnTo>
                  <a:lnTo>
                    <a:pt x="662" y="377"/>
                  </a:lnTo>
                  <a:lnTo>
                    <a:pt x="660" y="350"/>
                  </a:lnTo>
                  <a:lnTo>
                    <a:pt x="657" y="324"/>
                  </a:lnTo>
                  <a:lnTo>
                    <a:pt x="651" y="299"/>
                  </a:lnTo>
                  <a:lnTo>
                    <a:pt x="642" y="275"/>
                  </a:lnTo>
                  <a:lnTo>
                    <a:pt x="632" y="250"/>
                  </a:lnTo>
                  <a:lnTo>
                    <a:pt x="619" y="227"/>
                  </a:lnTo>
                  <a:lnTo>
                    <a:pt x="605" y="207"/>
                  </a:lnTo>
                  <a:lnTo>
                    <a:pt x="588" y="186"/>
                  </a:lnTo>
                  <a:lnTo>
                    <a:pt x="631" y="143"/>
                  </a:lnTo>
                  <a:lnTo>
                    <a:pt x="641" y="156"/>
                  </a:lnTo>
                  <a:lnTo>
                    <a:pt x="652" y="168"/>
                  </a:lnTo>
                  <a:lnTo>
                    <a:pt x="660" y="181"/>
                  </a:lnTo>
                  <a:lnTo>
                    <a:pt x="670" y="194"/>
                  </a:lnTo>
                  <a:lnTo>
                    <a:pt x="677" y="208"/>
                  </a:lnTo>
                  <a:lnTo>
                    <a:pt x="685" y="222"/>
                  </a:lnTo>
                  <a:lnTo>
                    <a:pt x="692" y="237"/>
                  </a:lnTo>
                  <a:lnTo>
                    <a:pt x="698" y="252"/>
                  </a:lnTo>
                  <a:lnTo>
                    <a:pt x="704" y="266"/>
                  </a:lnTo>
                  <a:lnTo>
                    <a:pt x="708" y="281"/>
                  </a:lnTo>
                  <a:lnTo>
                    <a:pt x="713" y="296"/>
                  </a:lnTo>
                  <a:lnTo>
                    <a:pt x="715" y="312"/>
                  </a:lnTo>
                  <a:lnTo>
                    <a:pt x="719" y="328"/>
                  </a:lnTo>
                  <a:lnTo>
                    <a:pt x="720" y="344"/>
                  </a:lnTo>
                  <a:lnTo>
                    <a:pt x="721" y="361"/>
                  </a:lnTo>
                  <a:lnTo>
                    <a:pt x="721" y="377"/>
                  </a:lnTo>
                  <a:lnTo>
                    <a:pt x="721" y="395"/>
                  </a:lnTo>
                  <a:lnTo>
                    <a:pt x="720" y="412"/>
                  </a:lnTo>
                  <a:lnTo>
                    <a:pt x="717" y="429"/>
                  </a:lnTo>
                  <a:lnTo>
                    <a:pt x="715" y="446"/>
                  </a:lnTo>
                  <a:lnTo>
                    <a:pt x="710" y="463"/>
                  </a:lnTo>
                  <a:lnTo>
                    <a:pt x="707" y="480"/>
                  </a:lnTo>
                  <a:lnTo>
                    <a:pt x="700" y="496"/>
                  </a:lnTo>
                  <a:lnTo>
                    <a:pt x="694" y="511"/>
                  </a:lnTo>
                  <a:lnTo>
                    <a:pt x="687" y="527"/>
                  </a:lnTo>
                  <a:lnTo>
                    <a:pt x="680" y="542"/>
                  </a:lnTo>
                  <a:lnTo>
                    <a:pt x="671" y="556"/>
                  </a:lnTo>
                  <a:lnTo>
                    <a:pt x="663" y="570"/>
                  </a:lnTo>
                  <a:lnTo>
                    <a:pt x="653" y="583"/>
                  </a:lnTo>
                  <a:lnTo>
                    <a:pt x="642" y="596"/>
                  </a:lnTo>
                  <a:lnTo>
                    <a:pt x="631" y="610"/>
                  </a:lnTo>
                  <a:lnTo>
                    <a:pt x="620" y="621"/>
                  </a:lnTo>
                  <a:lnTo>
                    <a:pt x="608" y="633"/>
                  </a:lnTo>
                  <a:lnTo>
                    <a:pt x="596" y="644"/>
                  </a:lnTo>
                  <a:lnTo>
                    <a:pt x="583" y="653"/>
                  </a:lnTo>
                  <a:lnTo>
                    <a:pt x="569" y="663"/>
                  </a:lnTo>
                  <a:lnTo>
                    <a:pt x="555" y="673"/>
                  </a:lnTo>
                  <a:lnTo>
                    <a:pt x="540" y="681"/>
                  </a:lnTo>
                  <a:lnTo>
                    <a:pt x="526" y="689"/>
                  </a:lnTo>
                  <a:lnTo>
                    <a:pt x="510" y="696"/>
                  </a:lnTo>
                  <a:lnTo>
                    <a:pt x="494" y="702"/>
                  </a:lnTo>
                  <a:lnTo>
                    <a:pt x="478" y="707"/>
                  </a:lnTo>
                  <a:lnTo>
                    <a:pt x="462" y="712"/>
                  </a:lnTo>
                  <a:lnTo>
                    <a:pt x="446" y="715"/>
                  </a:lnTo>
                  <a:lnTo>
                    <a:pt x="429" y="719"/>
                  </a:lnTo>
                  <a:lnTo>
                    <a:pt x="412" y="720"/>
                  </a:lnTo>
                  <a:lnTo>
                    <a:pt x="393" y="723"/>
                  </a:lnTo>
                  <a:lnTo>
                    <a:pt x="375" y="723"/>
                  </a:lnTo>
                  <a:close/>
                  <a:moveTo>
                    <a:pt x="301" y="422"/>
                  </a:moveTo>
                  <a:lnTo>
                    <a:pt x="300" y="434"/>
                  </a:lnTo>
                  <a:lnTo>
                    <a:pt x="296" y="445"/>
                  </a:lnTo>
                  <a:lnTo>
                    <a:pt x="290" y="455"/>
                  </a:lnTo>
                  <a:lnTo>
                    <a:pt x="283" y="464"/>
                  </a:lnTo>
                  <a:lnTo>
                    <a:pt x="274" y="471"/>
                  </a:lnTo>
                  <a:lnTo>
                    <a:pt x="263" y="477"/>
                  </a:lnTo>
                  <a:lnTo>
                    <a:pt x="252" y="481"/>
                  </a:lnTo>
                  <a:lnTo>
                    <a:pt x="240" y="482"/>
                  </a:lnTo>
                  <a:lnTo>
                    <a:pt x="228" y="481"/>
                  </a:lnTo>
                  <a:lnTo>
                    <a:pt x="217" y="477"/>
                  </a:lnTo>
                  <a:lnTo>
                    <a:pt x="206" y="471"/>
                  </a:lnTo>
                  <a:lnTo>
                    <a:pt x="198" y="464"/>
                  </a:lnTo>
                  <a:lnTo>
                    <a:pt x="191" y="455"/>
                  </a:lnTo>
                  <a:lnTo>
                    <a:pt x="184" y="445"/>
                  </a:lnTo>
                  <a:lnTo>
                    <a:pt x="181" y="434"/>
                  </a:lnTo>
                  <a:lnTo>
                    <a:pt x="180" y="422"/>
                  </a:lnTo>
                  <a:lnTo>
                    <a:pt x="181" y="409"/>
                  </a:lnTo>
                  <a:lnTo>
                    <a:pt x="184" y="398"/>
                  </a:lnTo>
                  <a:lnTo>
                    <a:pt x="191" y="389"/>
                  </a:lnTo>
                  <a:lnTo>
                    <a:pt x="198" y="379"/>
                  </a:lnTo>
                  <a:lnTo>
                    <a:pt x="206" y="372"/>
                  </a:lnTo>
                  <a:lnTo>
                    <a:pt x="217" y="367"/>
                  </a:lnTo>
                  <a:lnTo>
                    <a:pt x="228" y="363"/>
                  </a:lnTo>
                  <a:lnTo>
                    <a:pt x="240" y="362"/>
                  </a:lnTo>
                  <a:lnTo>
                    <a:pt x="252" y="363"/>
                  </a:lnTo>
                  <a:lnTo>
                    <a:pt x="263" y="367"/>
                  </a:lnTo>
                  <a:lnTo>
                    <a:pt x="274" y="372"/>
                  </a:lnTo>
                  <a:lnTo>
                    <a:pt x="283" y="379"/>
                  </a:lnTo>
                  <a:lnTo>
                    <a:pt x="290" y="389"/>
                  </a:lnTo>
                  <a:lnTo>
                    <a:pt x="296" y="398"/>
                  </a:lnTo>
                  <a:lnTo>
                    <a:pt x="300" y="409"/>
                  </a:lnTo>
                  <a:lnTo>
                    <a:pt x="301" y="422"/>
                  </a:lnTo>
                  <a:close/>
                  <a:moveTo>
                    <a:pt x="271" y="332"/>
                  </a:moveTo>
                  <a:lnTo>
                    <a:pt x="259" y="330"/>
                  </a:lnTo>
                  <a:lnTo>
                    <a:pt x="246" y="327"/>
                  </a:lnTo>
                  <a:lnTo>
                    <a:pt x="237" y="321"/>
                  </a:lnTo>
                  <a:lnTo>
                    <a:pt x="228" y="313"/>
                  </a:lnTo>
                  <a:lnTo>
                    <a:pt x="221" y="305"/>
                  </a:lnTo>
                  <a:lnTo>
                    <a:pt x="215" y="295"/>
                  </a:lnTo>
                  <a:lnTo>
                    <a:pt x="211" y="283"/>
                  </a:lnTo>
                  <a:lnTo>
                    <a:pt x="210" y="271"/>
                  </a:lnTo>
                  <a:lnTo>
                    <a:pt x="211" y="259"/>
                  </a:lnTo>
                  <a:lnTo>
                    <a:pt x="215" y="248"/>
                  </a:lnTo>
                  <a:lnTo>
                    <a:pt x="221" y="238"/>
                  </a:lnTo>
                  <a:lnTo>
                    <a:pt x="228" y="228"/>
                  </a:lnTo>
                  <a:lnTo>
                    <a:pt x="237" y="221"/>
                  </a:lnTo>
                  <a:lnTo>
                    <a:pt x="246" y="216"/>
                  </a:lnTo>
                  <a:lnTo>
                    <a:pt x="259" y="213"/>
                  </a:lnTo>
                  <a:lnTo>
                    <a:pt x="271" y="211"/>
                  </a:lnTo>
                  <a:lnTo>
                    <a:pt x="283" y="213"/>
                  </a:lnTo>
                  <a:lnTo>
                    <a:pt x="294" y="216"/>
                  </a:lnTo>
                  <a:lnTo>
                    <a:pt x="303" y="221"/>
                  </a:lnTo>
                  <a:lnTo>
                    <a:pt x="313" y="228"/>
                  </a:lnTo>
                  <a:lnTo>
                    <a:pt x="320" y="238"/>
                  </a:lnTo>
                  <a:lnTo>
                    <a:pt x="325" y="248"/>
                  </a:lnTo>
                  <a:lnTo>
                    <a:pt x="329" y="259"/>
                  </a:lnTo>
                  <a:lnTo>
                    <a:pt x="330" y="271"/>
                  </a:lnTo>
                  <a:lnTo>
                    <a:pt x="329" y="283"/>
                  </a:lnTo>
                  <a:lnTo>
                    <a:pt x="325" y="295"/>
                  </a:lnTo>
                  <a:lnTo>
                    <a:pt x="320" y="305"/>
                  </a:lnTo>
                  <a:lnTo>
                    <a:pt x="313" y="313"/>
                  </a:lnTo>
                  <a:lnTo>
                    <a:pt x="303" y="321"/>
                  </a:lnTo>
                  <a:lnTo>
                    <a:pt x="294" y="327"/>
                  </a:lnTo>
                  <a:lnTo>
                    <a:pt x="283" y="330"/>
                  </a:lnTo>
                  <a:lnTo>
                    <a:pt x="271" y="332"/>
                  </a:lnTo>
                  <a:close/>
                  <a:moveTo>
                    <a:pt x="391" y="482"/>
                  </a:moveTo>
                  <a:lnTo>
                    <a:pt x="403" y="483"/>
                  </a:lnTo>
                  <a:lnTo>
                    <a:pt x="414" y="487"/>
                  </a:lnTo>
                  <a:lnTo>
                    <a:pt x="425" y="492"/>
                  </a:lnTo>
                  <a:lnTo>
                    <a:pt x="433" y="499"/>
                  </a:lnTo>
                  <a:lnTo>
                    <a:pt x="441" y="509"/>
                  </a:lnTo>
                  <a:lnTo>
                    <a:pt x="446" y="519"/>
                  </a:lnTo>
                  <a:lnTo>
                    <a:pt x="449" y="530"/>
                  </a:lnTo>
                  <a:lnTo>
                    <a:pt x="450" y="542"/>
                  </a:lnTo>
                  <a:lnTo>
                    <a:pt x="449" y="554"/>
                  </a:lnTo>
                  <a:lnTo>
                    <a:pt x="447" y="566"/>
                  </a:lnTo>
                  <a:lnTo>
                    <a:pt x="441" y="576"/>
                  </a:lnTo>
                  <a:lnTo>
                    <a:pt x="433" y="584"/>
                  </a:lnTo>
                  <a:lnTo>
                    <a:pt x="425" y="591"/>
                  </a:lnTo>
                  <a:lnTo>
                    <a:pt x="414" y="598"/>
                  </a:lnTo>
                  <a:lnTo>
                    <a:pt x="403" y="601"/>
                  </a:lnTo>
                  <a:lnTo>
                    <a:pt x="391" y="602"/>
                  </a:lnTo>
                  <a:lnTo>
                    <a:pt x="379" y="601"/>
                  </a:lnTo>
                  <a:lnTo>
                    <a:pt x="368" y="598"/>
                  </a:lnTo>
                  <a:lnTo>
                    <a:pt x="357" y="591"/>
                  </a:lnTo>
                  <a:lnTo>
                    <a:pt x="348" y="584"/>
                  </a:lnTo>
                  <a:lnTo>
                    <a:pt x="341" y="576"/>
                  </a:lnTo>
                  <a:lnTo>
                    <a:pt x="335" y="566"/>
                  </a:lnTo>
                  <a:lnTo>
                    <a:pt x="331" y="554"/>
                  </a:lnTo>
                  <a:lnTo>
                    <a:pt x="330" y="542"/>
                  </a:lnTo>
                  <a:lnTo>
                    <a:pt x="331" y="530"/>
                  </a:lnTo>
                  <a:lnTo>
                    <a:pt x="335" y="519"/>
                  </a:lnTo>
                  <a:lnTo>
                    <a:pt x="341" y="509"/>
                  </a:lnTo>
                  <a:lnTo>
                    <a:pt x="348" y="499"/>
                  </a:lnTo>
                  <a:lnTo>
                    <a:pt x="357" y="492"/>
                  </a:lnTo>
                  <a:lnTo>
                    <a:pt x="368" y="487"/>
                  </a:lnTo>
                  <a:lnTo>
                    <a:pt x="379" y="483"/>
                  </a:lnTo>
                  <a:lnTo>
                    <a:pt x="391" y="482"/>
                  </a:lnTo>
                  <a:close/>
                  <a:moveTo>
                    <a:pt x="449" y="305"/>
                  </a:moveTo>
                  <a:lnTo>
                    <a:pt x="460" y="294"/>
                  </a:lnTo>
                  <a:lnTo>
                    <a:pt x="503" y="250"/>
                  </a:lnTo>
                  <a:lnTo>
                    <a:pt x="512" y="239"/>
                  </a:lnTo>
                  <a:lnTo>
                    <a:pt x="523" y="230"/>
                  </a:lnTo>
                  <a:lnTo>
                    <a:pt x="530" y="239"/>
                  </a:lnTo>
                  <a:lnTo>
                    <a:pt x="537" y="249"/>
                  </a:lnTo>
                  <a:lnTo>
                    <a:pt x="540" y="260"/>
                  </a:lnTo>
                  <a:lnTo>
                    <a:pt x="541" y="271"/>
                  </a:lnTo>
                  <a:lnTo>
                    <a:pt x="540" y="283"/>
                  </a:lnTo>
                  <a:lnTo>
                    <a:pt x="537" y="295"/>
                  </a:lnTo>
                  <a:lnTo>
                    <a:pt x="530" y="305"/>
                  </a:lnTo>
                  <a:lnTo>
                    <a:pt x="523" y="313"/>
                  </a:lnTo>
                  <a:lnTo>
                    <a:pt x="515" y="321"/>
                  </a:lnTo>
                  <a:lnTo>
                    <a:pt x="504" y="327"/>
                  </a:lnTo>
                  <a:lnTo>
                    <a:pt x="493" y="330"/>
                  </a:lnTo>
                  <a:lnTo>
                    <a:pt x="481" y="332"/>
                  </a:lnTo>
                  <a:lnTo>
                    <a:pt x="469" y="330"/>
                  </a:lnTo>
                  <a:lnTo>
                    <a:pt x="458" y="327"/>
                  </a:lnTo>
                  <a:lnTo>
                    <a:pt x="448" y="322"/>
                  </a:lnTo>
                  <a:lnTo>
                    <a:pt x="438" y="315"/>
                  </a:lnTo>
                  <a:lnTo>
                    <a:pt x="449" y="305"/>
                  </a:lnTo>
                  <a:close/>
                  <a:moveTo>
                    <a:pt x="571" y="422"/>
                  </a:moveTo>
                  <a:lnTo>
                    <a:pt x="569" y="434"/>
                  </a:lnTo>
                  <a:lnTo>
                    <a:pt x="567" y="445"/>
                  </a:lnTo>
                  <a:lnTo>
                    <a:pt x="561" y="455"/>
                  </a:lnTo>
                  <a:lnTo>
                    <a:pt x="554" y="464"/>
                  </a:lnTo>
                  <a:lnTo>
                    <a:pt x="545" y="471"/>
                  </a:lnTo>
                  <a:lnTo>
                    <a:pt x="534" y="477"/>
                  </a:lnTo>
                  <a:lnTo>
                    <a:pt x="523" y="481"/>
                  </a:lnTo>
                  <a:lnTo>
                    <a:pt x="511" y="482"/>
                  </a:lnTo>
                  <a:lnTo>
                    <a:pt x="499" y="481"/>
                  </a:lnTo>
                  <a:lnTo>
                    <a:pt x="488" y="477"/>
                  </a:lnTo>
                  <a:lnTo>
                    <a:pt x="477" y="471"/>
                  </a:lnTo>
                  <a:lnTo>
                    <a:pt x="469" y="464"/>
                  </a:lnTo>
                  <a:lnTo>
                    <a:pt x="461" y="455"/>
                  </a:lnTo>
                  <a:lnTo>
                    <a:pt x="455" y="445"/>
                  </a:lnTo>
                  <a:lnTo>
                    <a:pt x="452" y="434"/>
                  </a:lnTo>
                  <a:lnTo>
                    <a:pt x="450" y="422"/>
                  </a:lnTo>
                  <a:lnTo>
                    <a:pt x="452" y="409"/>
                  </a:lnTo>
                  <a:lnTo>
                    <a:pt x="455" y="398"/>
                  </a:lnTo>
                  <a:lnTo>
                    <a:pt x="461" y="389"/>
                  </a:lnTo>
                  <a:lnTo>
                    <a:pt x="469" y="379"/>
                  </a:lnTo>
                  <a:lnTo>
                    <a:pt x="477" y="372"/>
                  </a:lnTo>
                  <a:lnTo>
                    <a:pt x="488" y="367"/>
                  </a:lnTo>
                  <a:lnTo>
                    <a:pt x="499" y="363"/>
                  </a:lnTo>
                  <a:lnTo>
                    <a:pt x="511" y="362"/>
                  </a:lnTo>
                  <a:lnTo>
                    <a:pt x="523" y="363"/>
                  </a:lnTo>
                  <a:lnTo>
                    <a:pt x="534" y="367"/>
                  </a:lnTo>
                  <a:lnTo>
                    <a:pt x="545" y="372"/>
                  </a:lnTo>
                  <a:lnTo>
                    <a:pt x="554" y="379"/>
                  </a:lnTo>
                  <a:lnTo>
                    <a:pt x="561" y="389"/>
                  </a:lnTo>
                  <a:lnTo>
                    <a:pt x="567" y="398"/>
                  </a:lnTo>
                  <a:lnTo>
                    <a:pt x="569" y="409"/>
                  </a:lnTo>
                  <a:lnTo>
                    <a:pt x="571" y="422"/>
                  </a:lnTo>
                  <a:close/>
                  <a:moveTo>
                    <a:pt x="641" y="112"/>
                  </a:moveTo>
                  <a:lnTo>
                    <a:pt x="640" y="109"/>
                  </a:lnTo>
                  <a:lnTo>
                    <a:pt x="636" y="108"/>
                  </a:lnTo>
                  <a:lnTo>
                    <a:pt x="634" y="108"/>
                  </a:lnTo>
                  <a:lnTo>
                    <a:pt x="631" y="107"/>
                  </a:lnTo>
                  <a:lnTo>
                    <a:pt x="628" y="108"/>
                  </a:lnTo>
                  <a:lnTo>
                    <a:pt x="625" y="108"/>
                  </a:lnTo>
                  <a:lnTo>
                    <a:pt x="623" y="109"/>
                  </a:lnTo>
                  <a:lnTo>
                    <a:pt x="620" y="112"/>
                  </a:lnTo>
                  <a:lnTo>
                    <a:pt x="556" y="175"/>
                  </a:lnTo>
                  <a:lnTo>
                    <a:pt x="391" y="340"/>
                  </a:lnTo>
                  <a:lnTo>
                    <a:pt x="391" y="106"/>
                  </a:lnTo>
                  <a:lnTo>
                    <a:pt x="391" y="16"/>
                  </a:lnTo>
                  <a:lnTo>
                    <a:pt x="390" y="10"/>
                  </a:lnTo>
                  <a:lnTo>
                    <a:pt x="386" y="5"/>
                  </a:lnTo>
                  <a:lnTo>
                    <a:pt x="381" y="1"/>
                  </a:lnTo>
                  <a:lnTo>
                    <a:pt x="375" y="0"/>
                  </a:lnTo>
                  <a:lnTo>
                    <a:pt x="357" y="1"/>
                  </a:lnTo>
                  <a:lnTo>
                    <a:pt x="337" y="3"/>
                  </a:lnTo>
                  <a:lnTo>
                    <a:pt x="318" y="5"/>
                  </a:lnTo>
                  <a:lnTo>
                    <a:pt x="300" y="9"/>
                  </a:lnTo>
                  <a:lnTo>
                    <a:pt x="282" y="12"/>
                  </a:lnTo>
                  <a:lnTo>
                    <a:pt x="263" y="17"/>
                  </a:lnTo>
                  <a:lnTo>
                    <a:pt x="246" y="23"/>
                  </a:lnTo>
                  <a:lnTo>
                    <a:pt x="229" y="31"/>
                  </a:lnTo>
                  <a:lnTo>
                    <a:pt x="212" y="38"/>
                  </a:lnTo>
                  <a:lnTo>
                    <a:pt x="197" y="46"/>
                  </a:lnTo>
                  <a:lnTo>
                    <a:pt x="181" y="56"/>
                  </a:lnTo>
                  <a:lnTo>
                    <a:pt x="165" y="66"/>
                  </a:lnTo>
                  <a:lnTo>
                    <a:pt x="150" y="75"/>
                  </a:lnTo>
                  <a:lnTo>
                    <a:pt x="137" y="88"/>
                  </a:lnTo>
                  <a:lnTo>
                    <a:pt x="123" y="99"/>
                  </a:lnTo>
                  <a:lnTo>
                    <a:pt x="110" y="112"/>
                  </a:lnTo>
                  <a:lnTo>
                    <a:pt x="97" y="124"/>
                  </a:lnTo>
                  <a:lnTo>
                    <a:pt x="86" y="139"/>
                  </a:lnTo>
                  <a:lnTo>
                    <a:pt x="74" y="152"/>
                  </a:lnTo>
                  <a:lnTo>
                    <a:pt x="64" y="167"/>
                  </a:lnTo>
                  <a:lnTo>
                    <a:pt x="55" y="182"/>
                  </a:lnTo>
                  <a:lnTo>
                    <a:pt x="45" y="198"/>
                  </a:lnTo>
                  <a:lnTo>
                    <a:pt x="36" y="214"/>
                  </a:lnTo>
                  <a:lnTo>
                    <a:pt x="29" y="231"/>
                  </a:lnTo>
                  <a:lnTo>
                    <a:pt x="23" y="248"/>
                  </a:lnTo>
                  <a:lnTo>
                    <a:pt x="17" y="265"/>
                  </a:lnTo>
                  <a:lnTo>
                    <a:pt x="12" y="283"/>
                  </a:lnTo>
                  <a:lnTo>
                    <a:pt x="7" y="301"/>
                  </a:lnTo>
                  <a:lnTo>
                    <a:pt x="4" y="320"/>
                  </a:lnTo>
                  <a:lnTo>
                    <a:pt x="1" y="339"/>
                  </a:lnTo>
                  <a:lnTo>
                    <a:pt x="0" y="357"/>
                  </a:lnTo>
                  <a:lnTo>
                    <a:pt x="0" y="377"/>
                  </a:lnTo>
                  <a:lnTo>
                    <a:pt x="0" y="396"/>
                  </a:lnTo>
                  <a:lnTo>
                    <a:pt x="1" y="415"/>
                  </a:lnTo>
                  <a:lnTo>
                    <a:pt x="4" y="434"/>
                  </a:lnTo>
                  <a:lnTo>
                    <a:pt x="7" y="452"/>
                  </a:lnTo>
                  <a:lnTo>
                    <a:pt x="12" y="470"/>
                  </a:lnTo>
                  <a:lnTo>
                    <a:pt x="17" y="488"/>
                  </a:lnTo>
                  <a:lnTo>
                    <a:pt x="23" y="505"/>
                  </a:lnTo>
                  <a:lnTo>
                    <a:pt x="29" y="523"/>
                  </a:lnTo>
                  <a:lnTo>
                    <a:pt x="36" y="539"/>
                  </a:lnTo>
                  <a:lnTo>
                    <a:pt x="45" y="556"/>
                  </a:lnTo>
                  <a:lnTo>
                    <a:pt x="55" y="572"/>
                  </a:lnTo>
                  <a:lnTo>
                    <a:pt x="64" y="587"/>
                  </a:lnTo>
                  <a:lnTo>
                    <a:pt x="74" y="601"/>
                  </a:lnTo>
                  <a:lnTo>
                    <a:pt x="86" y="616"/>
                  </a:lnTo>
                  <a:lnTo>
                    <a:pt x="97" y="629"/>
                  </a:lnTo>
                  <a:lnTo>
                    <a:pt x="110" y="642"/>
                  </a:lnTo>
                  <a:lnTo>
                    <a:pt x="123" y="655"/>
                  </a:lnTo>
                  <a:lnTo>
                    <a:pt x="137" y="667"/>
                  </a:lnTo>
                  <a:lnTo>
                    <a:pt x="150" y="678"/>
                  </a:lnTo>
                  <a:lnTo>
                    <a:pt x="165" y="689"/>
                  </a:lnTo>
                  <a:lnTo>
                    <a:pt x="181" y="698"/>
                  </a:lnTo>
                  <a:lnTo>
                    <a:pt x="197" y="707"/>
                  </a:lnTo>
                  <a:lnTo>
                    <a:pt x="212" y="715"/>
                  </a:lnTo>
                  <a:lnTo>
                    <a:pt x="229" y="723"/>
                  </a:lnTo>
                  <a:lnTo>
                    <a:pt x="246" y="730"/>
                  </a:lnTo>
                  <a:lnTo>
                    <a:pt x="263" y="736"/>
                  </a:lnTo>
                  <a:lnTo>
                    <a:pt x="282" y="741"/>
                  </a:lnTo>
                  <a:lnTo>
                    <a:pt x="300" y="744"/>
                  </a:lnTo>
                  <a:lnTo>
                    <a:pt x="318" y="748"/>
                  </a:lnTo>
                  <a:lnTo>
                    <a:pt x="337" y="751"/>
                  </a:lnTo>
                  <a:lnTo>
                    <a:pt x="357" y="752"/>
                  </a:lnTo>
                  <a:lnTo>
                    <a:pt x="375" y="753"/>
                  </a:lnTo>
                  <a:lnTo>
                    <a:pt x="395" y="752"/>
                  </a:lnTo>
                  <a:lnTo>
                    <a:pt x="414" y="751"/>
                  </a:lnTo>
                  <a:lnTo>
                    <a:pt x="433" y="748"/>
                  </a:lnTo>
                  <a:lnTo>
                    <a:pt x="452" y="744"/>
                  </a:lnTo>
                  <a:lnTo>
                    <a:pt x="470" y="741"/>
                  </a:lnTo>
                  <a:lnTo>
                    <a:pt x="487" y="736"/>
                  </a:lnTo>
                  <a:lnTo>
                    <a:pt x="505" y="730"/>
                  </a:lnTo>
                  <a:lnTo>
                    <a:pt x="522" y="723"/>
                  </a:lnTo>
                  <a:lnTo>
                    <a:pt x="539" y="715"/>
                  </a:lnTo>
                  <a:lnTo>
                    <a:pt x="555" y="707"/>
                  </a:lnTo>
                  <a:lnTo>
                    <a:pt x="571" y="698"/>
                  </a:lnTo>
                  <a:lnTo>
                    <a:pt x="585" y="689"/>
                  </a:lnTo>
                  <a:lnTo>
                    <a:pt x="601" y="678"/>
                  </a:lnTo>
                  <a:lnTo>
                    <a:pt x="614" y="667"/>
                  </a:lnTo>
                  <a:lnTo>
                    <a:pt x="629" y="655"/>
                  </a:lnTo>
                  <a:lnTo>
                    <a:pt x="641" y="642"/>
                  </a:lnTo>
                  <a:lnTo>
                    <a:pt x="654" y="629"/>
                  </a:lnTo>
                  <a:lnTo>
                    <a:pt x="665" y="616"/>
                  </a:lnTo>
                  <a:lnTo>
                    <a:pt x="677" y="601"/>
                  </a:lnTo>
                  <a:lnTo>
                    <a:pt x="687" y="587"/>
                  </a:lnTo>
                  <a:lnTo>
                    <a:pt x="697" y="572"/>
                  </a:lnTo>
                  <a:lnTo>
                    <a:pt x="707" y="556"/>
                  </a:lnTo>
                  <a:lnTo>
                    <a:pt x="715" y="539"/>
                  </a:lnTo>
                  <a:lnTo>
                    <a:pt x="722" y="523"/>
                  </a:lnTo>
                  <a:lnTo>
                    <a:pt x="728" y="505"/>
                  </a:lnTo>
                  <a:lnTo>
                    <a:pt x="734" y="488"/>
                  </a:lnTo>
                  <a:lnTo>
                    <a:pt x="739" y="470"/>
                  </a:lnTo>
                  <a:lnTo>
                    <a:pt x="744" y="452"/>
                  </a:lnTo>
                  <a:lnTo>
                    <a:pt x="748" y="434"/>
                  </a:lnTo>
                  <a:lnTo>
                    <a:pt x="750" y="415"/>
                  </a:lnTo>
                  <a:lnTo>
                    <a:pt x="751" y="396"/>
                  </a:lnTo>
                  <a:lnTo>
                    <a:pt x="751" y="377"/>
                  </a:lnTo>
                  <a:lnTo>
                    <a:pt x="751" y="358"/>
                  </a:lnTo>
                  <a:lnTo>
                    <a:pt x="750" y="340"/>
                  </a:lnTo>
                  <a:lnTo>
                    <a:pt x="748" y="322"/>
                  </a:lnTo>
                  <a:lnTo>
                    <a:pt x="744" y="304"/>
                  </a:lnTo>
                  <a:lnTo>
                    <a:pt x="741" y="286"/>
                  </a:lnTo>
                  <a:lnTo>
                    <a:pt x="736" y="267"/>
                  </a:lnTo>
                  <a:lnTo>
                    <a:pt x="730" y="250"/>
                  </a:lnTo>
                  <a:lnTo>
                    <a:pt x="724" y="233"/>
                  </a:lnTo>
                  <a:lnTo>
                    <a:pt x="716" y="216"/>
                  </a:lnTo>
                  <a:lnTo>
                    <a:pt x="708" y="201"/>
                  </a:lnTo>
                  <a:lnTo>
                    <a:pt x="698" y="185"/>
                  </a:lnTo>
                  <a:lnTo>
                    <a:pt x="688" y="169"/>
                  </a:lnTo>
                  <a:lnTo>
                    <a:pt x="679" y="154"/>
                  </a:lnTo>
                  <a:lnTo>
                    <a:pt x="666" y="140"/>
                  </a:lnTo>
                  <a:lnTo>
                    <a:pt x="654" y="125"/>
                  </a:lnTo>
                  <a:lnTo>
                    <a:pt x="641"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296">
              <a:extLst>
                <a:ext uri="{FF2B5EF4-FFF2-40B4-BE49-F238E27FC236}">
                  <a16:creationId xmlns:a16="http://schemas.microsoft.com/office/drawing/2014/main" id="{11999E81-F9C7-40DB-BDF3-B1A944E4FFFE}"/>
                </a:ext>
              </a:extLst>
            </p:cNvPr>
            <p:cNvSpPr>
              <a:spLocks noEditPoints="1"/>
            </p:cNvSpPr>
            <p:nvPr/>
          </p:nvSpPr>
          <p:spPr bwMode="auto">
            <a:xfrm>
              <a:off x="5600700" y="2500313"/>
              <a:ext cx="90488" cy="123825"/>
            </a:xfrm>
            <a:custGeom>
              <a:avLst/>
              <a:gdLst>
                <a:gd name="T0" fmla="*/ 45 w 286"/>
                <a:gd name="T1" fmla="*/ 31 h 391"/>
                <a:gd name="T2" fmla="*/ 75 w 286"/>
                <a:gd name="T3" fmla="*/ 35 h 391"/>
                <a:gd name="T4" fmla="*/ 105 w 286"/>
                <a:gd name="T5" fmla="*/ 42 h 391"/>
                <a:gd name="T6" fmla="*/ 134 w 286"/>
                <a:gd name="T7" fmla="*/ 51 h 391"/>
                <a:gd name="T8" fmla="*/ 162 w 286"/>
                <a:gd name="T9" fmla="*/ 62 h 391"/>
                <a:gd name="T10" fmla="*/ 188 w 286"/>
                <a:gd name="T11" fmla="*/ 76 h 391"/>
                <a:gd name="T12" fmla="*/ 214 w 286"/>
                <a:gd name="T13" fmla="*/ 92 h 391"/>
                <a:gd name="T14" fmla="*/ 237 w 286"/>
                <a:gd name="T15" fmla="*/ 110 h 391"/>
                <a:gd name="T16" fmla="*/ 205 w 286"/>
                <a:gd name="T17" fmla="*/ 164 h 391"/>
                <a:gd name="T18" fmla="*/ 167 w 286"/>
                <a:gd name="T19" fmla="*/ 133 h 391"/>
                <a:gd name="T20" fmla="*/ 124 w 286"/>
                <a:gd name="T21" fmla="*/ 112 h 391"/>
                <a:gd name="T22" fmla="*/ 78 w 286"/>
                <a:gd name="T23" fmla="*/ 97 h 391"/>
                <a:gd name="T24" fmla="*/ 29 w 286"/>
                <a:gd name="T25" fmla="*/ 91 h 391"/>
                <a:gd name="T26" fmla="*/ 152 w 286"/>
                <a:gd name="T27" fmla="*/ 238 h 391"/>
                <a:gd name="T28" fmla="*/ 100 w 286"/>
                <a:gd name="T29" fmla="*/ 292 h 391"/>
                <a:gd name="T30" fmla="*/ 78 w 286"/>
                <a:gd name="T31" fmla="*/ 313 h 391"/>
                <a:gd name="T32" fmla="*/ 65 w 286"/>
                <a:gd name="T33" fmla="*/ 294 h 391"/>
                <a:gd name="T34" fmla="*/ 61 w 286"/>
                <a:gd name="T35" fmla="*/ 269 h 391"/>
                <a:gd name="T36" fmla="*/ 65 w 286"/>
                <a:gd name="T37" fmla="*/ 246 h 391"/>
                <a:gd name="T38" fmla="*/ 78 w 286"/>
                <a:gd name="T39" fmla="*/ 227 h 391"/>
                <a:gd name="T40" fmla="*/ 97 w 286"/>
                <a:gd name="T41" fmla="*/ 215 h 391"/>
                <a:gd name="T42" fmla="*/ 120 w 286"/>
                <a:gd name="T43" fmla="*/ 210 h 391"/>
                <a:gd name="T44" fmla="*/ 133 w 286"/>
                <a:gd name="T45" fmla="*/ 211 h 391"/>
                <a:gd name="T46" fmla="*/ 143 w 286"/>
                <a:gd name="T47" fmla="*/ 215 h 391"/>
                <a:gd name="T48" fmla="*/ 163 w 286"/>
                <a:gd name="T49" fmla="*/ 228 h 391"/>
                <a:gd name="T50" fmla="*/ 9 w 286"/>
                <a:gd name="T51" fmla="*/ 391 h 391"/>
                <a:gd name="T52" fmla="*/ 15 w 286"/>
                <a:gd name="T53" fmla="*/ 391 h 391"/>
                <a:gd name="T54" fmla="*/ 26 w 286"/>
                <a:gd name="T55" fmla="*/ 386 h 391"/>
                <a:gd name="T56" fmla="*/ 218 w 286"/>
                <a:gd name="T57" fmla="*/ 195 h 391"/>
                <a:gd name="T58" fmla="*/ 218 w 286"/>
                <a:gd name="T59" fmla="*/ 193 h 391"/>
                <a:gd name="T60" fmla="*/ 283 w 286"/>
                <a:gd name="T61" fmla="*/ 129 h 391"/>
                <a:gd name="T62" fmla="*/ 286 w 286"/>
                <a:gd name="T63" fmla="*/ 123 h 391"/>
                <a:gd name="T64" fmla="*/ 284 w 286"/>
                <a:gd name="T65" fmla="*/ 114 h 391"/>
                <a:gd name="T66" fmla="*/ 267 w 286"/>
                <a:gd name="T67" fmla="*/ 96 h 391"/>
                <a:gd name="T68" fmla="*/ 239 w 286"/>
                <a:gd name="T69" fmla="*/ 73 h 391"/>
                <a:gd name="T70" fmla="*/ 208 w 286"/>
                <a:gd name="T71" fmla="*/ 52 h 391"/>
                <a:gd name="T72" fmla="*/ 176 w 286"/>
                <a:gd name="T73" fmla="*/ 35 h 391"/>
                <a:gd name="T74" fmla="*/ 142 w 286"/>
                <a:gd name="T75" fmla="*/ 21 h 391"/>
                <a:gd name="T76" fmla="*/ 107 w 286"/>
                <a:gd name="T77" fmla="*/ 11 h 391"/>
                <a:gd name="T78" fmla="*/ 71 w 286"/>
                <a:gd name="T79" fmla="*/ 4 h 391"/>
                <a:gd name="T80" fmla="*/ 34 w 286"/>
                <a:gd name="T81" fmla="*/ 0 h 391"/>
                <a:gd name="T82" fmla="*/ 9 w 286"/>
                <a:gd name="T83" fmla="*/ 1 h 391"/>
                <a:gd name="T84" fmla="*/ 1 w 286"/>
                <a:gd name="T85" fmla="*/ 8 h 391"/>
                <a:gd name="T86" fmla="*/ 0 w 286"/>
                <a:gd name="T87" fmla="*/ 104 h 391"/>
                <a:gd name="T88" fmla="*/ 0 w 286"/>
                <a:gd name="T89" fmla="*/ 380 h 391"/>
                <a:gd name="T90" fmla="*/ 5 w 286"/>
                <a:gd name="T91" fmla="*/ 387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6" h="391">
                  <a:moveTo>
                    <a:pt x="29" y="31"/>
                  </a:moveTo>
                  <a:lnTo>
                    <a:pt x="45" y="31"/>
                  </a:lnTo>
                  <a:lnTo>
                    <a:pt x="61" y="34"/>
                  </a:lnTo>
                  <a:lnTo>
                    <a:pt x="75" y="35"/>
                  </a:lnTo>
                  <a:lnTo>
                    <a:pt x="90" y="39"/>
                  </a:lnTo>
                  <a:lnTo>
                    <a:pt x="105" y="42"/>
                  </a:lnTo>
                  <a:lnTo>
                    <a:pt x="119" y="46"/>
                  </a:lnTo>
                  <a:lnTo>
                    <a:pt x="134" y="51"/>
                  </a:lnTo>
                  <a:lnTo>
                    <a:pt x="148" y="56"/>
                  </a:lnTo>
                  <a:lnTo>
                    <a:pt x="162" y="62"/>
                  </a:lnTo>
                  <a:lnTo>
                    <a:pt x="175" y="69"/>
                  </a:lnTo>
                  <a:lnTo>
                    <a:pt x="188" y="76"/>
                  </a:lnTo>
                  <a:lnTo>
                    <a:pt x="201" y="84"/>
                  </a:lnTo>
                  <a:lnTo>
                    <a:pt x="214" y="92"/>
                  </a:lnTo>
                  <a:lnTo>
                    <a:pt x="226" y="102"/>
                  </a:lnTo>
                  <a:lnTo>
                    <a:pt x="237" y="110"/>
                  </a:lnTo>
                  <a:lnTo>
                    <a:pt x="249" y="121"/>
                  </a:lnTo>
                  <a:lnTo>
                    <a:pt x="205" y="164"/>
                  </a:lnTo>
                  <a:lnTo>
                    <a:pt x="187" y="148"/>
                  </a:lnTo>
                  <a:lnTo>
                    <a:pt x="167" y="133"/>
                  </a:lnTo>
                  <a:lnTo>
                    <a:pt x="146" y="123"/>
                  </a:lnTo>
                  <a:lnTo>
                    <a:pt x="124" y="112"/>
                  </a:lnTo>
                  <a:lnTo>
                    <a:pt x="101" y="103"/>
                  </a:lnTo>
                  <a:lnTo>
                    <a:pt x="78" y="97"/>
                  </a:lnTo>
                  <a:lnTo>
                    <a:pt x="55" y="93"/>
                  </a:lnTo>
                  <a:lnTo>
                    <a:pt x="29" y="91"/>
                  </a:lnTo>
                  <a:lnTo>
                    <a:pt x="29" y="31"/>
                  </a:lnTo>
                  <a:close/>
                  <a:moveTo>
                    <a:pt x="152" y="238"/>
                  </a:moveTo>
                  <a:lnTo>
                    <a:pt x="142" y="249"/>
                  </a:lnTo>
                  <a:lnTo>
                    <a:pt x="100" y="292"/>
                  </a:lnTo>
                  <a:lnTo>
                    <a:pt x="89" y="303"/>
                  </a:lnTo>
                  <a:lnTo>
                    <a:pt x="78" y="313"/>
                  </a:lnTo>
                  <a:lnTo>
                    <a:pt x="71" y="303"/>
                  </a:lnTo>
                  <a:lnTo>
                    <a:pt x="65" y="294"/>
                  </a:lnTo>
                  <a:lnTo>
                    <a:pt x="61" y="282"/>
                  </a:lnTo>
                  <a:lnTo>
                    <a:pt x="61" y="269"/>
                  </a:lnTo>
                  <a:lnTo>
                    <a:pt x="62" y="258"/>
                  </a:lnTo>
                  <a:lnTo>
                    <a:pt x="65" y="246"/>
                  </a:lnTo>
                  <a:lnTo>
                    <a:pt x="71" y="237"/>
                  </a:lnTo>
                  <a:lnTo>
                    <a:pt x="78" y="227"/>
                  </a:lnTo>
                  <a:lnTo>
                    <a:pt x="86" y="220"/>
                  </a:lnTo>
                  <a:lnTo>
                    <a:pt x="97" y="215"/>
                  </a:lnTo>
                  <a:lnTo>
                    <a:pt x="108" y="211"/>
                  </a:lnTo>
                  <a:lnTo>
                    <a:pt x="120" y="210"/>
                  </a:lnTo>
                  <a:lnTo>
                    <a:pt x="126" y="210"/>
                  </a:lnTo>
                  <a:lnTo>
                    <a:pt x="133" y="211"/>
                  </a:lnTo>
                  <a:lnTo>
                    <a:pt x="139" y="212"/>
                  </a:lnTo>
                  <a:lnTo>
                    <a:pt x="143" y="215"/>
                  </a:lnTo>
                  <a:lnTo>
                    <a:pt x="154" y="221"/>
                  </a:lnTo>
                  <a:lnTo>
                    <a:pt x="163" y="228"/>
                  </a:lnTo>
                  <a:lnTo>
                    <a:pt x="152" y="238"/>
                  </a:lnTo>
                  <a:close/>
                  <a:moveTo>
                    <a:pt x="9" y="391"/>
                  </a:moveTo>
                  <a:lnTo>
                    <a:pt x="12" y="391"/>
                  </a:lnTo>
                  <a:lnTo>
                    <a:pt x="15" y="391"/>
                  </a:lnTo>
                  <a:lnTo>
                    <a:pt x="21" y="390"/>
                  </a:lnTo>
                  <a:lnTo>
                    <a:pt x="26" y="386"/>
                  </a:lnTo>
                  <a:lnTo>
                    <a:pt x="205" y="206"/>
                  </a:lnTo>
                  <a:lnTo>
                    <a:pt x="218" y="195"/>
                  </a:lnTo>
                  <a:lnTo>
                    <a:pt x="218" y="194"/>
                  </a:lnTo>
                  <a:lnTo>
                    <a:pt x="218" y="193"/>
                  </a:lnTo>
                  <a:lnTo>
                    <a:pt x="281" y="130"/>
                  </a:lnTo>
                  <a:lnTo>
                    <a:pt x="283" y="129"/>
                  </a:lnTo>
                  <a:lnTo>
                    <a:pt x="284" y="126"/>
                  </a:lnTo>
                  <a:lnTo>
                    <a:pt x="286" y="123"/>
                  </a:lnTo>
                  <a:lnTo>
                    <a:pt x="286" y="120"/>
                  </a:lnTo>
                  <a:lnTo>
                    <a:pt x="284" y="114"/>
                  </a:lnTo>
                  <a:lnTo>
                    <a:pt x="281" y="109"/>
                  </a:lnTo>
                  <a:lnTo>
                    <a:pt x="267" y="96"/>
                  </a:lnTo>
                  <a:lnTo>
                    <a:pt x="254" y="84"/>
                  </a:lnTo>
                  <a:lnTo>
                    <a:pt x="239" y="73"/>
                  </a:lnTo>
                  <a:lnTo>
                    <a:pt x="224" y="62"/>
                  </a:lnTo>
                  <a:lnTo>
                    <a:pt x="208" y="52"/>
                  </a:lnTo>
                  <a:lnTo>
                    <a:pt x="192" y="44"/>
                  </a:lnTo>
                  <a:lnTo>
                    <a:pt x="176" y="35"/>
                  </a:lnTo>
                  <a:lnTo>
                    <a:pt x="159" y="28"/>
                  </a:lnTo>
                  <a:lnTo>
                    <a:pt x="142" y="21"/>
                  </a:lnTo>
                  <a:lnTo>
                    <a:pt x="125" y="16"/>
                  </a:lnTo>
                  <a:lnTo>
                    <a:pt x="107" y="11"/>
                  </a:lnTo>
                  <a:lnTo>
                    <a:pt x="89" y="6"/>
                  </a:lnTo>
                  <a:lnTo>
                    <a:pt x="71" y="4"/>
                  </a:lnTo>
                  <a:lnTo>
                    <a:pt x="52" y="1"/>
                  </a:lnTo>
                  <a:lnTo>
                    <a:pt x="34" y="0"/>
                  </a:lnTo>
                  <a:lnTo>
                    <a:pt x="15" y="0"/>
                  </a:lnTo>
                  <a:lnTo>
                    <a:pt x="9" y="1"/>
                  </a:lnTo>
                  <a:lnTo>
                    <a:pt x="4" y="4"/>
                  </a:lnTo>
                  <a:lnTo>
                    <a:pt x="1" y="8"/>
                  </a:lnTo>
                  <a:lnTo>
                    <a:pt x="0" y="14"/>
                  </a:lnTo>
                  <a:lnTo>
                    <a:pt x="0" y="104"/>
                  </a:lnTo>
                  <a:lnTo>
                    <a:pt x="0" y="375"/>
                  </a:lnTo>
                  <a:lnTo>
                    <a:pt x="0" y="380"/>
                  </a:lnTo>
                  <a:lnTo>
                    <a:pt x="3" y="384"/>
                  </a:lnTo>
                  <a:lnTo>
                    <a:pt x="5" y="387"/>
                  </a:lnTo>
                  <a:lnTo>
                    <a:pt x="9" y="3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1" name="Group 60">
            <a:extLst>
              <a:ext uri="{FF2B5EF4-FFF2-40B4-BE49-F238E27FC236}">
                <a16:creationId xmlns:a16="http://schemas.microsoft.com/office/drawing/2014/main" id="{8AC7F056-F27E-44F5-A796-50D293C7C278}"/>
              </a:ext>
            </a:extLst>
          </p:cNvPr>
          <p:cNvGrpSpPr/>
          <p:nvPr/>
        </p:nvGrpSpPr>
        <p:grpSpPr>
          <a:xfrm>
            <a:off x="1416423" y="1900518"/>
            <a:ext cx="272303" cy="362396"/>
            <a:chOff x="5467350" y="2500313"/>
            <a:chExt cx="238125" cy="285750"/>
          </a:xfrm>
          <a:solidFill>
            <a:srgbClr val="C00000"/>
          </a:solidFill>
        </p:grpSpPr>
        <p:sp>
          <p:nvSpPr>
            <p:cNvPr id="62" name="Freeform 1295">
              <a:extLst>
                <a:ext uri="{FF2B5EF4-FFF2-40B4-BE49-F238E27FC236}">
                  <a16:creationId xmlns:a16="http://schemas.microsoft.com/office/drawing/2014/main" id="{A429475D-EA7A-4961-A593-8CA41DC5342C}"/>
                </a:ext>
              </a:extLst>
            </p:cNvPr>
            <p:cNvSpPr>
              <a:spLocks noEditPoints="1"/>
            </p:cNvSpPr>
            <p:nvPr/>
          </p:nvSpPr>
          <p:spPr bwMode="auto">
            <a:xfrm>
              <a:off x="5467350" y="2547938"/>
              <a:ext cx="238125" cy="238125"/>
            </a:xfrm>
            <a:custGeom>
              <a:avLst/>
              <a:gdLst>
                <a:gd name="T0" fmla="*/ 257 w 751"/>
                <a:gd name="T1" fmla="*/ 702 h 753"/>
                <a:gd name="T2" fmla="*/ 143 w 751"/>
                <a:gd name="T3" fmla="*/ 633 h 753"/>
                <a:gd name="T4" fmla="*/ 64 w 751"/>
                <a:gd name="T5" fmla="*/ 527 h 753"/>
                <a:gd name="T6" fmla="*/ 30 w 751"/>
                <a:gd name="T7" fmla="*/ 395 h 753"/>
                <a:gd name="T8" fmla="*/ 50 w 751"/>
                <a:gd name="T9" fmla="*/ 261 h 753"/>
                <a:gd name="T10" fmla="*/ 115 w 751"/>
                <a:gd name="T11" fmla="*/ 150 h 753"/>
                <a:gd name="T12" fmla="*/ 217 w 751"/>
                <a:gd name="T13" fmla="*/ 71 h 753"/>
                <a:gd name="T14" fmla="*/ 344 w 751"/>
                <a:gd name="T15" fmla="*/ 33 h 753"/>
                <a:gd name="T16" fmla="*/ 279 w 751"/>
                <a:gd name="T17" fmla="*/ 108 h 753"/>
                <a:gd name="T18" fmla="*/ 188 w 751"/>
                <a:gd name="T19" fmla="*/ 162 h 753"/>
                <a:gd name="T20" fmla="*/ 123 w 751"/>
                <a:gd name="T21" fmla="*/ 245 h 753"/>
                <a:gd name="T22" fmla="*/ 91 w 751"/>
                <a:gd name="T23" fmla="*/ 349 h 753"/>
                <a:gd name="T24" fmla="*/ 103 w 751"/>
                <a:gd name="T25" fmla="*/ 462 h 753"/>
                <a:gd name="T26" fmla="*/ 155 w 751"/>
                <a:gd name="T27" fmla="*/ 559 h 753"/>
                <a:gd name="T28" fmla="*/ 239 w 751"/>
                <a:gd name="T29" fmla="*/ 628 h 753"/>
                <a:gd name="T30" fmla="*/ 346 w 751"/>
                <a:gd name="T31" fmla="*/ 661 h 753"/>
                <a:gd name="T32" fmla="*/ 460 w 751"/>
                <a:gd name="T33" fmla="*/ 650 h 753"/>
                <a:gd name="T34" fmla="*/ 557 w 751"/>
                <a:gd name="T35" fmla="*/ 598 h 753"/>
                <a:gd name="T36" fmla="*/ 626 w 751"/>
                <a:gd name="T37" fmla="*/ 513 h 753"/>
                <a:gd name="T38" fmla="*/ 660 w 751"/>
                <a:gd name="T39" fmla="*/ 406 h 753"/>
                <a:gd name="T40" fmla="*/ 619 w 751"/>
                <a:gd name="T41" fmla="*/ 227 h 753"/>
                <a:gd name="T42" fmla="*/ 677 w 751"/>
                <a:gd name="T43" fmla="*/ 208 h 753"/>
                <a:gd name="T44" fmla="*/ 719 w 751"/>
                <a:gd name="T45" fmla="*/ 328 h 753"/>
                <a:gd name="T46" fmla="*/ 710 w 751"/>
                <a:gd name="T47" fmla="*/ 463 h 753"/>
                <a:gd name="T48" fmla="*/ 653 w 751"/>
                <a:gd name="T49" fmla="*/ 583 h 753"/>
                <a:gd name="T50" fmla="*/ 555 w 751"/>
                <a:gd name="T51" fmla="*/ 673 h 753"/>
                <a:gd name="T52" fmla="*/ 429 w 751"/>
                <a:gd name="T53" fmla="*/ 719 h 753"/>
                <a:gd name="T54" fmla="*/ 283 w 751"/>
                <a:gd name="T55" fmla="*/ 464 h 753"/>
                <a:gd name="T56" fmla="*/ 198 w 751"/>
                <a:gd name="T57" fmla="*/ 464 h 753"/>
                <a:gd name="T58" fmla="*/ 198 w 751"/>
                <a:gd name="T59" fmla="*/ 379 h 753"/>
                <a:gd name="T60" fmla="*/ 283 w 751"/>
                <a:gd name="T61" fmla="*/ 379 h 753"/>
                <a:gd name="T62" fmla="*/ 237 w 751"/>
                <a:gd name="T63" fmla="*/ 321 h 753"/>
                <a:gd name="T64" fmla="*/ 221 w 751"/>
                <a:gd name="T65" fmla="*/ 238 h 753"/>
                <a:gd name="T66" fmla="*/ 303 w 751"/>
                <a:gd name="T67" fmla="*/ 221 h 753"/>
                <a:gd name="T68" fmla="*/ 320 w 751"/>
                <a:gd name="T69" fmla="*/ 305 h 753"/>
                <a:gd name="T70" fmla="*/ 414 w 751"/>
                <a:gd name="T71" fmla="*/ 487 h 753"/>
                <a:gd name="T72" fmla="*/ 447 w 751"/>
                <a:gd name="T73" fmla="*/ 566 h 753"/>
                <a:gd name="T74" fmla="*/ 368 w 751"/>
                <a:gd name="T75" fmla="*/ 598 h 753"/>
                <a:gd name="T76" fmla="*/ 335 w 751"/>
                <a:gd name="T77" fmla="*/ 519 h 753"/>
                <a:gd name="T78" fmla="*/ 460 w 751"/>
                <a:gd name="T79" fmla="*/ 294 h 753"/>
                <a:gd name="T80" fmla="*/ 540 w 751"/>
                <a:gd name="T81" fmla="*/ 283 h 753"/>
                <a:gd name="T82" fmla="*/ 469 w 751"/>
                <a:gd name="T83" fmla="*/ 330 h 753"/>
                <a:gd name="T84" fmla="*/ 561 w 751"/>
                <a:gd name="T85" fmla="*/ 455 h 753"/>
                <a:gd name="T86" fmla="*/ 477 w 751"/>
                <a:gd name="T87" fmla="*/ 471 h 753"/>
                <a:gd name="T88" fmla="*/ 461 w 751"/>
                <a:gd name="T89" fmla="*/ 389 h 753"/>
                <a:gd name="T90" fmla="*/ 545 w 751"/>
                <a:gd name="T91" fmla="*/ 372 h 753"/>
                <a:gd name="T92" fmla="*/ 636 w 751"/>
                <a:gd name="T93" fmla="*/ 108 h 753"/>
                <a:gd name="T94" fmla="*/ 391 w 751"/>
                <a:gd name="T95" fmla="*/ 340 h 753"/>
                <a:gd name="T96" fmla="*/ 337 w 751"/>
                <a:gd name="T97" fmla="*/ 3 h 753"/>
                <a:gd name="T98" fmla="*/ 197 w 751"/>
                <a:gd name="T99" fmla="*/ 46 h 753"/>
                <a:gd name="T100" fmla="*/ 86 w 751"/>
                <a:gd name="T101" fmla="*/ 139 h 753"/>
                <a:gd name="T102" fmla="*/ 17 w 751"/>
                <a:gd name="T103" fmla="*/ 265 h 753"/>
                <a:gd name="T104" fmla="*/ 1 w 751"/>
                <a:gd name="T105" fmla="*/ 415 h 753"/>
                <a:gd name="T106" fmla="*/ 45 w 751"/>
                <a:gd name="T107" fmla="*/ 556 h 753"/>
                <a:gd name="T108" fmla="*/ 137 w 751"/>
                <a:gd name="T109" fmla="*/ 667 h 753"/>
                <a:gd name="T110" fmla="*/ 263 w 751"/>
                <a:gd name="T111" fmla="*/ 736 h 753"/>
                <a:gd name="T112" fmla="*/ 414 w 751"/>
                <a:gd name="T113" fmla="*/ 751 h 753"/>
                <a:gd name="T114" fmla="*/ 555 w 751"/>
                <a:gd name="T115" fmla="*/ 707 h 753"/>
                <a:gd name="T116" fmla="*/ 665 w 751"/>
                <a:gd name="T117" fmla="*/ 616 h 753"/>
                <a:gd name="T118" fmla="*/ 734 w 751"/>
                <a:gd name="T119" fmla="*/ 488 h 753"/>
                <a:gd name="T120" fmla="*/ 750 w 751"/>
                <a:gd name="T121" fmla="*/ 340 h 753"/>
                <a:gd name="T122" fmla="*/ 708 w 751"/>
                <a:gd name="T123" fmla="*/ 201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1" h="753">
                  <a:moveTo>
                    <a:pt x="375" y="723"/>
                  </a:moveTo>
                  <a:lnTo>
                    <a:pt x="358" y="723"/>
                  </a:lnTo>
                  <a:lnTo>
                    <a:pt x="340" y="720"/>
                  </a:lnTo>
                  <a:lnTo>
                    <a:pt x="323" y="719"/>
                  </a:lnTo>
                  <a:lnTo>
                    <a:pt x="306" y="715"/>
                  </a:lnTo>
                  <a:lnTo>
                    <a:pt x="289" y="712"/>
                  </a:lnTo>
                  <a:lnTo>
                    <a:pt x="273" y="707"/>
                  </a:lnTo>
                  <a:lnTo>
                    <a:pt x="257" y="702"/>
                  </a:lnTo>
                  <a:lnTo>
                    <a:pt x="242" y="696"/>
                  </a:lnTo>
                  <a:lnTo>
                    <a:pt x="226" y="689"/>
                  </a:lnTo>
                  <a:lnTo>
                    <a:pt x="211" y="681"/>
                  </a:lnTo>
                  <a:lnTo>
                    <a:pt x="197" y="673"/>
                  </a:lnTo>
                  <a:lnTo>
                    <a:pt x="182" y="663"/>
                  </a:lnTo>
                  <a:lnTo>
                    <a:pt x="169" y="653"/>
                  </a:lnTo>
                  <a:lnTo>
                    <a:pt x="155" y="644"/>
                  </a:lnTo>
                  <a:lnTo>
                    <a:pt x="143" y="633"/>
                  </a:lnTo>
                  <a:lnTo>
                    <a:pt x="131" y="621"/>
                  </a:lnTo>
                  <a:lnTo>
                    <a:pt x="120" y="610"/>
                  </a:lnTo>
                  <a:lnTo>
                    <a:pt x="109" y="596"/>
                  </a:lnTo>
                  <a:lnTo>
                    <a:pt x="98" y="583"/>
                  </a:lnTo>
                  <a:lnTo>
                    <a:pt x="89" y="570"/>
                  </a:lnTo>
                  <a:lnTo>
                    <a:pt x="80" y="556"/>
                  </a:lnTo>
                  <a:lnTo>
                    <a:pt x="72" y="542"/>
                  </a:lnTo>
                  <a:lnTo>
                    <a:pt x="64" y="527"/>
                  </a:lnTo>
                  <a:lnTo>
                    <a:pt x="57" y="511"/>
                  </a:lnTo>
                  <a:lnTo>
                    <a:pt x="51" y="496"/>
                  </a:lnTo>
                  <a:lnTo>
                    <a:pt x="45" y="480"/>
                  </a:lnTo>
                  <a:lnTo>
                    <a:pt x="41" y="463"/>
                  </a:lnTo>
                  <a:lnTo>
                    <a:pt x="36" y="446"/>
                  </a:lnTo>
                  <a:lnTo>
                    <a:pt x="34" y="429"/>
                  </a:lnTo>
                  <a:lnTo>
                    <a:pt x="31" y="412"/>
                  </a:lnTo>
                  <a:lnTo>
                    <a:pt x="30" y="395"/>
                  </a:lnTo>
                  <a:lnTo>
                    <a:pt x="30" y="377"/>
                  </a:lnTo>
                  <a:lnTo>
                    <a:pt x="30" y="360"/>
                  </a:lnTo>
                  <a:lnTo>
                    <a:pt x="31" y="343"/>
                  </a:lnTo>
                  <a:lnTo>
                    <a:pt x="34" y="326"/>
                  </a:lnTo>
                  <a:lnTo>
                    <a:pt x="36" y="309"/>
                  </a:lnTo>
                  <a:lnTo>
                    <a:pt x="40" y="293"/>
                  </a:lnTo>
                  <a:lnTo>
                    <a:pt x="45" y="277"/>
                  </a:lnTo>
                  <a:lnTo>
                    <a:pt x="50" y="261"/>
                  </a:lnTo>
                  <a:lnTo>
                    <a:pt x="56" y="245"/>
                  </a:lnTo>
                  <a:lnTo>
                    <a:pt x="62" y="231"/>
                  </a:lnTo>
                  <a:lnTo>
                    <a:pt x="69" y="216"/>
                  </a:lnTo>
                  <a:lnTo>
                    <a:pt x="78" y="202"/>
                  </a:lnTo>
                  <a:lnTo>
                    <a:pt x="86" y="188"/>
                  </a:lnTo>
                  <a:lnTo>
                    <a:pt x="95" y="175"/>
                  </a:lnTo>
                  <a:lnTo>
                    <a:pt x="106" y="162"/>
                  </a:lnTo>
                  <a:lnTo>
                    <a:pt x="115" y="150"/>
                  </a:lnTo>
                  <a:lnTo>
                    <a:pt x="126" y="137"/>
                  </a:lnTo>
                  <a:lnTo>
                    <a:pt x="137" y="126"/>
                  </a:lnTo>
                  <a:lnTo>
                    <a:pt x="149" y="116"/>
                  </a:lnTo>
                  <a:lnTo>
                    <a:pt x="163" y="106"/>
                  </a:lnTo>
                  <a:lnTo>
                    <a:pt x="175" y="96"/>
                  </a:lnTo>
                  <a:lnTo>
                    <a:pt x="188" y="86"/>
                  </a:lnTo>
                  <a:lnTo>
                    <a:pt x="203" y="78"/>
                  </a:lnTo>
                  <a:lnTo>
                    <a:pt x="217" y="71"/>
                  </a:lnTo>
                  <a:lnTo>
                    <a:pt x="232" y="63"/>
                  </a:lnTo>
                  <a:lnTo>
                    <a:pt x="246" y="57"/>
                  </a:lnTo>
                  <a:lnTo>
                    <a:pt x="262" y="51"/>
                  </a:lnTo>
                  <a:lnTo>
                    <a:pt x="278" y="46"/>
                  </a:lnTo>
                  <a:lnTo>
                    <a:pt x="294" y="42"/>
                  </a:lnTo>
                  <a:lnTo>
                    <a:pt x="310" y="38"/>
                  </a:lnTo>
                  <a:lnTo>
                    <a:pt x="327" y="35"/>
                  </a:lnTo>
                  <a:lnTo>
                    <a:pt x="344" y="33"/>
                  </a:lnTo>
                  <a:lnTo>
                    <a:pt x="361" y="32"/>
                  </a:lnTo>
                  <a:lnTo>
                    <a:pt x="361" y="92"/>
                  </a:lnTo>
                  <a:lnTo>
                    <a:pt x="347" y="94"/>
                  </a:lnTo>
                  <a:lnTo>
                    <a:pt x="333" y="95"/>
                  </a:lnTo>
                  <a:lnTo>
                    <a:pt x="319" y="97"/>
                  </a:lnTo>
                  <a:lnTo>
                    <a:pt x="306" y="101"/>
                  </a:lnTo>
                  <a:lnTo>
                    <a:pt x="293" y="105"/>
                  </a:lnTo>
                  <a:lnTo>
                    <a:pt x="279" y="108"/>
                  </a:lnTo>
                  <a:lnTo>
                    <a:pt x="267" y="113"/>
                  </a:lnTo>
                  <a:lnTo>
                    <a:pt x="255" y="119"/>
                  </a:lnTo>
                  <a:lnTo>
                    <a:pt x="243" y="124"/>
                  </a:lnTo>
                  <a:lnTo>
                    <a:pt x="231" y="131"/>
                  </a:lnTo>
                  <a:lnTo>
                    <a:pt x="220" y="139"/>
                  </a:lnTo>
                  <a:lnTo>
                    <a:pt x="209" y="146"/>
                  </a:lnTo>
                  <a:lnTo>
                    <a:pt x="198" y="153"/>
                  </a:lnTo>
                  <a:lnTo>
                    <a:pt x="188" y="162"/>
                  </a:lnTo>
                  <a:lnTo>
                    <a:pt x="178" y="171"/>
                  </a:lnTo>
                  <a:lnTo>
                    <a:pt x="169" y="180"/>
                  </a:lnTo>
                  <a:lnTo>
                    <a:pt x="160" y="190"/>
                  </a:lnTo>
                  <a:lnTo>
                    <a:pt x="152" y="201"/>
                  </a:lnTo>
                  <a:lnTo>
                    <a:pt x="143" y="211"/>
                  </a:lnTo>
                  <a:lnTo>
                    <a:pt x="136" y="222"/>
                  </a:lnTo>
                  <a:lnTo>
                    <a:pt x="129" y="233"/>
                  </a:lnTo>
                  <a:lnTo>
                    <a:pt x="123" y="245"/>
                  </a:lnTo>
                  <a:lnTo>
                    <a:pt x="116" y="256"/>
                  </a:lnTo>
                  <a:lnTo>
                    <a:pt x="112" y="270"/>
                  </a:lnTo>
                  <a:lnTo>
                    <a:pt x="107" y="282"/>
                  </a:lnTo>
                  <a:lnTo>
                    <a:pt x="102" y="295"/>
                  </a:lnTo>
                  <a:lnTo>
                    <a:pt x="98" y="307"/>
                  </a:lnTo>
                  <a:lnTo>
                    <a:pt x="96" y="321"/>
                  </a:lnTo>
                  <a:lnTo>
                    <a:pt x="93" y="334"/>
                  </a:lnTo>
                  <a:lnTo>
                    <a:pt x="91" y="349"/>
                  </a:lnTo>
                  <a:lnTo>
                    <a:pt x="90" y="362"/>
                  </a:lnTo>
                  <a:lnTo>
                    <a:pt x="90" y="377"/>
                  </a:lnTo>
                  <a:lnTo>
                    <a:pt x="90" y="391"/>
                  </a:lnTo>
                  <a:lnTo>
                    <a:pt x="91" y="406"/>
                  </a:lnTo>
                  <a:lnTo>
                    <a:pt x="93" y="420"/>
                  </a:lnTo>
                  <a:lnTo>
                    <a:pt x="96" y="434"/>
                  </a:lnTo>
                  <a:lnTo>
                    <a:pt x="99" y="448"/>
                  </a:lnTo>
                  <a:lnTo>
                    <a:pt x="103" y="462"/>
                  </a:lnTo>
                  <a:lnTo>
                    <a:pt x="107" y="475"/>
                  </a:lnTo>
                  <a:lnTo>
                    <a:pt x="113" y="488"/>
                  </a:lnTo>
                  <a:lnTo>
                    <a:pt x="118" y="500"/>
                  </a:lnTo>
                  <a:lnTo>
                    <a:pt x="125" y="513"/>
                  </a:lnTo>
                  <a:lnTo>
                    <a:pt x="131" y="525"/>
                  </a:lnTo>
                  <a:lnTo>
                    <a:pt x="138" y="537"/>
                  </a:lnTo>
                  <a:lnTo>
                    <a:pt x="147" y="548"/>
                  </a:lnTo>
                  <a:lnTo>
                    <a:pt x="155" y="559"/>
                  </a:lnTo>
                  <a:lnTo>
                    <a:pt x="164" y="568"/>
                  </a:lnTo>
                  <a:lnTo>
                    <a:pt x="174" y="578"/>
                  </a:lnTo>
                  <a:lnTo>
                    <a:pt x="183" y="588"/>
                  </a:lnTo>
                  <a:lnTo>
                    <a:pt x="194" y="598"/>
                  </a:lnTo>
                  <a:lnTo>
                    <a:pt x="205" y="606"/>
                  </a:lnTo>
                  <a:lnTo>
                    <a:pt x="216" y="613"/>
                  </a:lnTo>
                  <a:lnTo>
                    <a:pt x="227" y="621"/>
                  </a:lnTo>
                  <a:lnTo>
                    <a:pt x="239" y="628"/>
                  </a:lnTo>
                  <a:lnTo>
                    <a:pt x="251" y="634"/>
                  </a:lnTo>
                  <a:lnTo>
                    <a:pt x="265" y="640"/>
                  </a:lnTo>
                  <a:lnTo>
                    <a:pt x="278" y="645"/>
                  </a:lnTo>
                  <a:lnTo>
                    <a:pt x="291" y="650"/>
                  </a:lnTo>
                  <a:lnTo>
                    <a:pt x="305" y="653"/>
                  </a:lnTo>
                  <a:lnTo>
                    <a:pt x="318" y="657"/>
                  </a:lnTo>
                  <a:lnTo>
                    <a:pt x="333" y="659"/>
                  </a:lnTo>
                  <a:lnTo>
                    <a:pt x="346" y="661"/>
                  </a:lnTo>
                  <a:lnTo>
                    <a:pt x="361" y="662"/>
                  </a:lnTo>
                  <a:lnTo>
                    <a:pt x="375" y="662"/>
                  </a:lnTo>
                  <a:lnTo>
                    <a:pt x="391" y="662"/>
                  </a:lnTo>
                  <a:lnTo>
                    <a:pt x="404" y="661"/>
                  </a:lnTo>
                  <a:lnTo>
                    <a:pt x="419" y="659"/>
                  </a:lnTo>
                  <a:lnTo>
                    <a:pt x="433" y="657"/>
                  </a:lnTo>
                  <a:lnTo>
                    <a:pt x="447" y="653"/>
                  </a:lnTo>
                  <a:lnTo>
                    <a:pt x="460" y="650"/>
                  </a:lnTo>
                  <a:lnTo>
                    <a:pt x="473" y="645"/>
                  </a:lnTo>
                  <a:lnTo>
                    <a:pt x="487" y="640"/>
                  </a:lnTo>
                  <a:lnTo>
                    <a:pt x="499" y="634"/>
                  </a:lnTo>
                  <a:lnTo>
                    <a:pt x="512" y="628"/>
                  </a:lnTo>
                  <a:lnTo>
                    <a:pt x="523" y="621"/>
                  </a:lnTo>
                  <a:lnTo>
                    <a:pt x="535" y="613"/>
                  </a:lnTo>
                  <a:lnTo>
                    <a:pt x="546" y="606"/>
                  </a:lnTo>
                  <a:lnTo>
                    <a:pt x="557" y="598"/>
                  </a:lnTo>
                  <a:lnTo>
                    <a:pt x="568" y="588"/>
                  </a:lnTo>
                  <a:lnTo>
                    <a:pt x="578" y="578"/>
                  </a:lnTo>
                  <a:lnTo>
                    <a:pt x="588" y="568"/>
                  </a:lnTo>
                  <a:lnTo>
                    <a:pt x="596" y="559"/>
                  </a:lnTo>
                  <a:lnTo>
                    <a:pt x="605" y="548"/>
                  </a:lnTo>
                  <a:lnTo>
                    <a:pt x="613" y="537"/>
                  </a:lnTo>
                  <a:lnTo>
                    <a:pt x="620" y="525"/>
                  </a:lnTo>
                  <a:lnTo>
                    <a:pt x="626" y="513"/>
                  </a:lnTo>
                  <a:lnTo>
                    <a:pt x="634" y="500"/>
                  </a:lnTo>
                  <a:lnTo>
                    <a:pt x="639" y="488"/>
                  </a:lnTo>
                  <a:lnTo>
                    <a:pt x="645" y="475"/>
                  </a:lnTo>
                  <a:lnTo>
                    <a:pt x="648" y="462"/>
                  </a:lnTo>
                  <a:lnTo>
                    <a:pt x="652" y="448"/>
                  </a:lnTo>
                  <a:lnTo>
                    <a:pt x="656" y="434"/>
                  </a:lnTo>
                  <a:lnTo>
                    <a:pt x="658" y="420"/>
                  </a:lnTo>
                  <a:lnTo>
                    <a:pt x="660" y="406"/>
                  </a:lnTo>
                  <a:lnTo>
                    <a:pt x="660" y="391"/>
                  </a:lnTo>
                  <a:lnTo>
                    <a:pt x="662" y="377"/>
                  </a:lnTo>
                  <a:lnTo>
                    <a:pt x="660" y="350"/>
                  </a:lnTo>
                  <a:lnTo>
                    <a:pt x="657" y="324"/>
                  </a:lnTo>
                  <a:lnTo>
                    <a:pt x="651" y="299"/>
                  </a:lnTo>
                  <a:lnTo>
                    <a:pt x="642" y="275"/>
                  </a:lnTo>
                  <a:lnTo>
                    <a:pt x="632" y="250"/>
                  </a:lnTo>
                  <a:lnTo>
                    <a:pt x="619" y="227"/>
                  </a:lnTo>
                  <a:lnTo>
                    <a:pt x="605" y="207"/>
                  </a:lnTo>
                  <a:lnTo>
                    <a:pt x="588" y="186"/>
                  </a:lnTo>
                  <a:lnTo>
                    <a:pt x="631" y="143"/>
                  </a:lnTo>
                  <a:lnTo>
                    <a:pt x="641" y="156"/>
                  </a:lnTo>
                  <a:lnTo>
                    <a:pt x="652" y="168"/>
                  </a:lnTo>
                  <a:lnTo>
                    <a:pt x="660" y="181"/>
                  </a:lnTo>
                  <a:lnTo>
                    <a:pt x="670" y="194"/>
                  </a:lnTo>
                  <a:lnTo>
                    <a:pt x="677" y="208"/>
                  </a:lnTo>
                  <a:lnTo>
                    <a:pt x="685" y="222"/>
                  </a:lnTo>
                  <a:lnTo>
                    <a:pt x="692" y="237"/>
                  </a:lnTo>
                  <a:lnTo>
                    <a:pt x="698" y="252"/>
                  </a:lnTo>
                  <a:lnTo>
                    <a:pt x="704" y="266"/>
                  </a:lnTo>
                  <a:lnTo>
                    <a:pt x="708" y="281"/>
                  </a:lnTo>
                  <a:lnTo>
                    <a:pt x="713" y="296"/>
                  </a:lnTo>
                  <a:lnTo>
                    <a:pt x="715" y="312"/>
                  </a:lnTo>
                  <a:lnTo>
                    <a:pt x="719" y="328"/>
                  </a:lnTo>
                  <a:lnTo>
                    <a:pt x="720" y="344"/>
                  </a:lnTo>
                  <a:lnTo>
                    <a:pt x="721" y="361"/>
                  </a:lnTo>
                  <a:lnTo>
                    <a:pt x="721" y="377"/>
                  </a:lnTo>
                  <a:lnTo>
                    <a:pt x="721" y="395"/>
                  </a:lnTo>
                  <a:lnTo>
                    <a:pt x="720" y="412"/>
                  </a:lnTo>
                  <a:lnTo>
                    <a:pt x="717" y="429"/>
                  </a:lnTo>
                  <a:lnTo>
                    <a:pt x="715" y="446"/>
                  </a:lnTo>
                  <a:lnTo>
                    <a:pt x="710" y="463"/>
                  </a:lnTo>
                  <a:lnTo>
                    <a:pt x="707" y="480"/>
                  </a:lnTo>
                  <a:lnTo>
                    <a:pt x="700" y="496"/>
                  </a:lnTo>
                  <a:lnTo>
                    <a:pt x="694" y="511"/>
                  </a:lnTo>
                  <a:lnTo>
                    <a:pt x="687" y="527"/>
                  </a:lnTo>
                  <a:lnTo>
                    <a:pt x="680" y="542"/>
                  </a:lnTo>
                  <a:lnTo>
                    <a:pt x="671" y="556"/>
                  </a:lnTo>
                  <a:lnTo>
                    <a:pt x="663" y="570"/>
                  </a:lnTo>
                  <a:lnTo>
                    <a:pt x="653" y="583"/>
                  </a:lnTo>
                  <a:lnTo>
                    <a:pt x="642" y="596"/>
                  </a:lnTo>
                  <a:lnTo>
                    <a:pt x="631" y="610"/>
                  </a:lnTo>
                  <a:lnTo>
                    <a:pt x="620" y="621"/>
                  </a:lnTo>
                  <a:lnTo>
                    <a:pt x="608" y="633"/>
                  </a:lnTo>
                  <a:lnTo>
                    <a:pt x="596" y="644"/>
                  </a:lnTo>
                  <a:lnTo>
                    <a:pt x="583" y="653"/>
                  </a:lnTo>
                  <a:lnTo>
                    <a:pt x="569" y="663"/>
                  </a:lnTo>
                  <a:lnTo>
                    <a:pt x="555" y="673"/>
                  </a:lnTo>
                  <a:lnTo>
                    <a:pt x="540" y="681"/>
                  </a:lnTo>
                  <a:lnTo>
                    <a:pt x="526" y="689"/>
                  </a:lnTo>
                  <a:lnTo>
                    <a:pt x="510" y="696"/>
                  </a:lnTo>
                  <a:lnTo>
                    <a:pt x="494" y="702"/>
                  </a:lnTo>
                  <a:lnTo>
                    <a:pt x="478" y="707"/>
                  </a:lnTo>
                  <a:lnTo>
                    <a:pt x="462" y="712"/>
                  </a:lnTo>
                  <a:lnTo>
                    <a:pt x="446" y="715"/>
                  </a:lnTo>
                  <a:lnTo>
                    <a:pt x="429" y="719"/>
                  </a:lnTo>
                  <a:lnTo>
                    <a:pt x="412" y="720"/>
                  </a:lnTo>
                  <a:lnTo>
                    <a:pt x="393" y="723"/>
                  </a:lnTo>
                  <a:lnTo>
                    <a:pt x="375" y="723"/>
                  </a:lnTo>
                  <a:close/>
                  <a:moveTo>
                    <a:pt x="301" y="422"/>
                  </a:moveTo>
                  <a:lnTo>
                    <a:pt x="300" y="434"/>
                  </a:lnTo>
                  <a:lnTo>
                    <a:pt x="296" y="445"/>
                  </a:lnTo>
                  <a:lnTo>
                    <a:pt x="290" y="455"/>
                  </a:lnTo>
                  <a:lnTo>
                    <a:pt x="283" y="464"/>
                  </a:lnTo>
                  <a:lnTo>
                    <a:pt x="274" y="471"/>
                  </a:lnTo>
                  <a:lnTo>
                    <a:pt x="263" y="477"/>
                  </a:lnTo>
                  <a:lnTo>
                    <a:pt x="252" y="481"/>
                  </a:lnTo>
                  <a:lnTo>
                    <a:pt x="240" y="482"/>
                  </a:lnTo>
                  <a:lnTo>
                    <a:pt x="228" y="481"/>
                  </a:lnTo>
                  <a:lnTo>
                    <a:pt x="217" y="477"/>
                  </a:lnTo>
                  <a:lnTo>
                    <a:pt x="206" y="471"/>
                  </a:lnTo>
                  <a:lnTo>
                    <a:pt x="198" y="464"/>
                  </a:lnTo>
                  <a:lnTo>
                    <a:pt x="191" y="455"/>
                  </a:lnTo>
                  <a:lnTo>
                    <a:pt x="184" y="445"/>
                  </a:lnTo>
                  <a:lnTo>
                    <a:pt x="181" y="434"/>
                  </a:lnTo>
                  <a:lnTo>
                    <a:pt x="180" y="422"/>
                  </a:lnTo>
                  <a:lnTo>
                    <a:pt x="181" y="409"/>
                  </a:lnTo>
                  <a:lnTo>
                    <a:pt x="184" y="398"/>
                  </a:lnTo>
                  <a:lnTo>
                    <a:pt x="191" y="389"/>
                  </a:lnTo>
                  <a:lnTo>
                    <a:pt x="198" y="379"/>
                  </a:lnTo>
                  <a:lnTo>
                    <a:pt x="206" y="372"/>
                  </a:lnTo>
                  <a:lnTo>
                    <a:pt x="217" y="367"/>
                  </a:lnTo>
                  <a:lnTo>
                    <a:pt x="228" y="363"/>
                  </a:lnTo>
                  <a:lnTo>
                    <a:pt x="240" y="362"/>
                  </a:lnTo>
                  <a:lnTo>
                    <a:pt x="252" y="363"/>
                  </a:lnTo>
                  <a:lnTo>
                    <a:pt x="263" y="367"/>
                  </a:lnTo>
                  <a:lnTo>
                    <a:pt x="274" y="372"/>
                  </a:lnTo>
                  <a:lnTo>
                    <a:pt x="283" y="379"/>
                  </a:lnTo>
                  <a:lnTo>
                    <a:pt x="290" y="389"/>
                  </a:lnTo>
                  <a:lnTo>
                    <a:pt x="296" y="398"/>
                  </a:lnTo>
                  <a:lnTo>
                    <a:pt x="300" y="409"/>
                  </a:lnTo>
                  <a:lnTo>
                    <a:pt x="301" y="422"/>
                  </a:lnTo>
                  <a:close/>
                  <a:moveTo>
                    <a:pt x="271" y="332"/>
                  </a:moveTo>
                  <a:lnTo>
                    <a:pt x="259" y="330"/>
                  </a:lnTo>
                  <a:lnTo>
                    <a:pt x="246" y="327"/>
                  </a:lnTo>
                  <a:lnTo>
                    <a:pt x="237" y="321"/>
                  </a:lnTo>
                  <a:lnTo>
                    <a:pt x="228" y="313"/>
                  </a:lnTo>
                  <a:lnTo>
                    <a:pt x="221" y="305"/>
                  </a:lnTo>
                  <a:lnTo>
                    <a:pt x="215" y="295"/>
                  </a:lnTo>
                  <a:lnTo>
                    <a:pt x="211" y="283"/>
                  </a:lnTo>
                  <a:lnTo>
                    <a:pt x="210" y="271"/>
                  </a:lnTo>
                  <a:lnTo>
                    <a:pt x="211" y="259"/>
                  </a:lnTo>
                  <a:lnTo>
                    <a:pt x="215" y="248"/>
                  </a:lnTo>
                  <a:lnTo>
                    <a:pt x="221" y="238"/>
                  </a:lnTo>
                  <a:lnTo>
                    <a:pt x="228" y="228"/>
                  </a:lnTo>
                  <a:lnTo>
                    <a:pt x="237" y="221"/>
                  </a:lnTo>
                  <a:lnTo>
                    <a:pt x="246" y="216"/>
                  </a:lnTo>
                  <a:lnTo>
                    <a:pt x="259" y="213"/>
                  </a:lnTo>
                  <a:lnTo>
                    <a:pt x="271" y="211"/>
                  </a:lnTo>
                  <a:lnTo>
                    <a:pt x="283" y="213"/>
                  </a:lnTo>
                  <a:lnTo>
                    <a:pt x="294" y="216"/>
                  </a:lnTo>
                  <a:lnTo>
                    <a:pt x="303" y="221"/>
                  </a:lnTo>
                  <a:lnTo>
                    <a:pt x="313" y="228"/>
                  </a:lnTo>
                  <a:lnTo>
                    <a:pt x="320" y="238"/>
                  </a:lnTo>
                  <a:lnTo>
                    <a:pt x="325" y="248"/>
                  </a:lnTo>
                  <a:lnTo>
                    <a:pt x="329" y="259"/>
                  </a:lnTo>
                  <a:lnTo>
                    <a:pt x="330" y="271"/>
                  </a:lnTo>
                  <a:lnTo>
                    <a:pt x="329" y="283"/>
                  </a:lnTo>
                  <a:lnTo>
                    <a:pt x="325" y="295"/>
                  </a:lnTo>
                  <a:lnTo>
                    <a:pt x="320" y="305"/>
                  </a:lnTo>
                  <a:lnTo>
                    <a:pt x="313" y="313"/>
                  </a:lnTo>
                  <a:lnTo>
                    <a:pt x="303" y="321"/>
                  </a:lnTo>
                  <a:lnTo>
                    <a:pt x="294" y="327"/>
                  </a:lnTo>
                  <a:lnTo>
                    <a:pt x="283" y="330"/>
                  </a:lnTo>
                  <a:lnTo>
                    <a:pt x="271" y="332"/>
                  </a:lnTo>
                  <a:close/>
                  <a:moveTo>
                    <a:pt x="391" y="482"/>
                  </a:moveTo>
                  <a:lnTo>
                    <a:pt x="403" y="483"/>
                  </a:lnTo>
                  <a:lnTo>
                    <a:pt x="414" y="487"/>
                  </a:lnTo>
                  <a:lnTo>
                    <a:pt x="425" y="492"/>
                  </a:lnTo>
                  <a:lnTo>
                    <a:pt x="433" y="499"/>
                  </a:lnTo>
                  <a:lnTo>
                    <a:pt x="441" y="509"/>
                  </a:lnTo>
                  <a:lnTo>
                    <a:pt x="446" y="519"/>
                  </a:lnTo>
                  <a:lnTo>
                    <a:pt x="449" y="530"/>
                  </a:lnTo>
                  <a:lnTo>
                    <a:pt x="450" y="542"/>
                  </a:lnTo>
                  <a:lnTo>
                    <a:pt x="449" y="554"/>
                  </a:lnTo>
                  <a:lnTo>
                    <a:pt x="447" y="566"/>
                  </a:lnTo>
                  <a:lnTo>
                    <a:pt x="441" y="576"/>
                  </a:lnTo>
                  <a:lnTo>
                    <a:pt x="433" y="584"/>
                  </a:lnTo>
                  <a:lnTo>
                    <a:pt x="425" y="591"/>
                  </a:lnTo>
                  <a:lnTo>
                    <a:pt x="414" y="598"/>
                  </a:lnTo>
                  <a:lnTo>
                    <a:pt x="403" y="601"/>
                  </a:lnTo>
                  <a:lnTo>
                    <a:pt x="391" y="602"/>
                  </a:lnTo>
                  <a:lnTo>
                    <a:pt x="379" y="601"/>
                  </a:lnTo>
                  <a:lnTo>
                    <a:pt x="368" y="598"/>
                  </a:lnTo>
                  <a:lnTo>
                    <a:pt x="357" y="591"/>
                  </a:lnTo>
                  <a:lnTo>
                    <a:pt x="348" y="584"/>
                  </a:lnTo>
                  <a:lnTo>
                    <a:pt x="341" y="576"/>
                  </a:lnTo>
                  <a:lnTo>
                    <a:pt x="335" y="566"/>
                  </a:lnTo>
                  <a:lnTo>
                    <a:pt x="331" y="554"/>
                  </a:lnTo>
                  <a:lnTo>
                    <a:pt x="330" y="542"/>
                  </a:lnTo>
                  <a:lnTo>
                    <a:pt x="331" y="530"/>
                  </a:lnTo>
                  <a:lnTo>
                    <a:pt x="335" y="519"/>
                  </a:lnTo>
                  <a:lnTo>
                    <a:pt x="341" y="509"/>
                  </a:lnTo>
                  <a:lnTo>
                    <a:pt x="348" y="499"/>
                  </a:lnTo>
                  <a:lnTo>
                    <a:pt x="357" y="492"/>
                  </a:lnTo>
                  <a:lnTo>
                    <a:pt x="368" y="487"/>
                  </a:lnTo>
                  <a:lnTo>
                    <a:pt x="379" y="483"/>
                  </a:lnTo>
                  <a:lnTo>
                    <a:pt x="391" y="482"/>
                  </a:lnTo>
                  <a:close/>
                  <a:moveTo>
                    <a:pt x="449" y="305"/>
                  </a:moveTo>
                  <a:lnTo>
                    <a:pt x="460" y="294"/>
                  </a:lnTo>
                  <a:lnTo>
                    <a:pt x="503" y="250"/>
                  </a:lnTo>
                  <a:lnTo>
                    <a:pt x="512" y="239"/>
                  </a:lnTo>
                  <a:lnTo>
                    <a:pt x="523" y="230"/>
                  </a:lnTo>
                  <a:lnTo>
                    <a:pt x="530" y="239"/>
                  </a:lnTo>
                  <a:lnTo>
                    <a:pt x="537" y="249"/>
                  </a:lnTo>
                  <a:lnTo>
                    <a:pt x="540" y="260"/>
                  </a:lnTo>
                  <a:lnTo>
                    <a:pt x="541" y="271"/>
                  </a:lnTo>
                  <a:lnTo>
                    <a:pt x="540" y="283"/>
                  </a:lnTo>
                  <a:lnTo>
                    <a:pt x="537" y="295"/>
                  </a:lnTo>
                  <a:lnTo>
                    <a:pt x="530" y="305"/>
                  </a:lnTo>
                  <a:lnTo>
                    <a:pt x="523" y="313"/>
                  </a:lnTo>
                  <a:lnTo>
                    <a:pt x="515" y="321"/>
                  </a:lnTo>
                  <a:lnTo>
                    <a:pt x="504" y="327"/>
                  </a:lnTo>
                  <a:lnTo>
                    <a:pt x="493" y="330"/>
                  </a:lnTo>
                  <a:lnTo>
                    <a:pt x="481" y="332"/>
                  </a:lnTo>
                  <a:lnTo>
                    <a:pt x="469" y="330"/>
                  </a:lnTo>
                  <a:lnTo>
                    <a:pt x="458" y="327"/>
                  </a:lnTo>
                  <a:lnTo>
                    <a:pt x="448" y="322"/>
                  </a:lnTo>
                  <a:lnTo>
                    <a:pt x="438" y="315"/>
                  </a:lnTo>
                  <a:lnTo>
                    <a:pt x="449" y="305"/>
                  </a:lnTo>
                  <a:close/>
                  <a:moveTo>
                    <a:pt x="571" y="422"/>
                  </a:moveTo>
                  <a:lnTo>
                    <a:pt x="569" y="434"/>
                  </a:lnTo>
                  <a:lnTo>
                    <a:pt x="567" y="445"/>
                  </a:lnTo>
                  <a:lnTo>
                    <a:pt x="561" y="455"/>
                  </a:lnTo>
                  <a:lnTo>
                    <a:pt x="554" y="464"/>
                  </a:lnTo>
                  <a:lnTo>
                    <a:pt x="545" y="471"/>
                  </a:lnTo>
                  <a:lnTo>
                    <a:pt x="534" y="477"/>
                  </a:lnTo>
                  <a:lnTo>
                    <a:pt x="523" y="481"/>
                  </a:lnTo>
                  <a:lnTo>
                    <a:pt x="511" y="482"/>
                  </a:lnTo>
                  <a:lnTo>
                    <a:pt x="499" y="481"/>
                  </a:lnTo>
                  <a:lnTo>
                    <a:pt x="488" y="477"/>
                  </a:lnTo>
                  <a:lnTo>
                    <a:pt x="477" y="471"/>
                  </a:lnTo>
                  <a:lnTo>
                    <a:pt x="469" y="464"/>
                  </a:lnTo>
                  <a:lnTo>
                    <a:pt x="461" y="455"/>
                  </a:lnTo>
                  <a:lnTo>
                    <a:pt x="455" y="445"/>
                  </a:lnTo>
                  <a:lnTo>
                    <a:pt x="452" y="434"/>
                  </a:lnTo>
                  <a:lnTo>
                    <a:pt x="450" y="422"/>
                  </a:lnTo>
                  <a:lnTo>
                    <a:pt x="452" y="409"/>
                  </a:lnTo>
                  <a:lnTo>
                    <a:pt x="455" y="398"/>
                  </a:lnTo>
                  <a:lnTo>
                    <a:pt x="461" y="389"/>
                  </a:lnTo>
                  <a:lnTo>
                    <a:pt x="469" y="379"/>
                  </a:lnTo>
                  <a:lnTo>
                    <a:pt x="477" y="372"/>
                  </a:lnTo>
                  <a:lnTo>
                    <a:pt x="488" y="367"/>
                  </a:lnTo>
                  <a:lnTo>
                    <a:pt x="499" y="363"/>
                  </a:lnTo>
                  <a:lnTo>
                    <a:pt x="511" y="362"/>
                  </a:lnTo>
                  <a:lnTo>
                    <a:pt x="523" y="363"/>
                  </a:lnTo>
                  <a:lnTo>
                    <a:pt x="534" y="367"/>
                  </a:lnTo>
                  <a:lnTo>
                    <a:pt x="545" y="372"/>
                  </a:lnTo>
                  <a:lnTo>
                    <a:pt x="554" y="379"/>
                  </a:lnTo>
                  <a:lnTo>
                    <a:pt x="561" y="389"/>
                  </a:lnTo>
                  <a:lnTo>
                    <a:pt x="567" y="398"/>
                  </a:lnTo>
                  <a:lnTo>
                    <a:pt x="569" y="409"/>
                  </a:lnTo>
                  <a:lnTo>
                    <a:pt x="571" y="422"/>
                  </a:lnTo>
                  <a:close/>
                  <a:moveTo>
                    <a:pt x="641" y="112"/>
                  </a:moveTo>
                  <a:lnTo>
                    <a:pt x="640" y="109"/>
                  </a:lnTo>
                  <a:lnTo>
                    <a:pt x="636" y="108"/>
                  </a:lnTo>
                  <a:lnTo>
                    <a:pt x="634" y="108"/>
                  </a:lnTo>
                  <a:lnTo>
                    <a:pt x="631" y="107"/>
                  </a:lnTo>
                  <a:lnTo>
                    <a:pt x="628" y="108"/>
                  </a:lnTo>
                  <a:lnTo>
                    <a:pt x="625" y="108"/>
                  </a:lnTo>
                  <a:lnTo>
                    <a:pt x="623" y="109"/>
                  </a:lnTo>
                  <a:lnTo>
                    <a:pt x="620" y="112"/>
                  </a:lnTo>
                  <a:lnTo>
                    <a:pt x="556" y="175"/>
                  </a:lnTo>
                  <a:lnTo>
                    <a:pt x="391" y="340"/>
                  </a:lnTo>
                  <a:lnTo>
                    <a:pt x="391" y="106"/>
                  </a:lnTo>
                  <a:lnTo>
                    <a:pt x="391" y="16"/>
                  </a:lnTo>
                  <a:lnTo>
                    <a:pt x="390" y="10"/>
                  </a:lnTo>
                  <a:lnTo>
                    <a:pt x="386" y="5"/>
                  </a:lnTo>
                  <a:lnTo>
                    <a:pt x="381" y="1"/>
                  </a:lnTo>
                  <a:lnTo>
                    <a:pt x="375" y="0"/>
                  </a:lnTo>
                  <a:lnTo>
                    <a:pt x="357" y="1"/>
                  </a:lnTo>
                  <a:lnTo>
                    <a:pt x="337" y="3"/>
                  </a:lnTo>
                  <a:lnTo>
                    <a:pt x="318" y="5"/>
                  </a:lnTo>
                  <a:lnTo>
                    <a:pt x="300" y="9"/>
                  </a:lnTo>
                  <a:lnTo>
                    <a:pt x="282" y="12"/>
                  </a:lnTo>
                  <a:lnTo>
                    <a:pt x="263" y="17"/>
                  </a:lnTo>
                  <a:lnTo>
                    <a:pt x="246" y="23"/>
                  </a:lnTo>
                  <a:lnTo>
                    <a:pt x="229" y="31"/>
                  </a:lnTo>
                  <a:lnTo>
                    <a:pt x="212" y="38"/>
                  </a:lnTo>
                  <a:lnTo>
                    <a:pt x="197" y="46"/>
                  </a:lnTo>
                  <a:lnTo>
                    <a:pt x="181" y="56"/>
                  </a:lnTo>
                  <a:lnTo>
                    <a:pt x="165" y="66"/>
                  </a:lnTo>
                  <a:lnTo>
                    <a:pt x="150" y="75"/>
                  </a:lnTo>
                  <a:lnTo>
                    <a:pt x="137" y="88"/>
                  </a:lnTo>
                  <a:lnTo>
                    <a:pt x="123" y="99"/>
                  </a:lnTo>
                  <a:lnTo>
                    <a:pt x="110" y="112"/>
                  </a:lnTo>
                  <a:lnTo>
                    <a:pt x="97" y="124"/>
                  </a:lnTo>
                  <a:lnTo>
                    <a:pt x="86" y="139"/>
                  </a:lnTo>
                  <a:lnTo>
                    <a:pt x="74" y="152"/>
                  </a:lnTo>
                  <a:lnTo>
                    <a:pt x="64" y="167"/>
                  </a:lnTo>
                  <a:lnTo>
                    <a:pt x="55" y="182"/>
                  </a:lnTo>
                  <a:lnTo>
                    <a:pt x="45" y="198"/>
                  </a:lnTo>
                  <a:lnTo>
                    <a:pt x="36" y="214"/>
                  </a:lnTo>
                  <a:lnTo>
                    <a:pt x="29" y="231"/>
                  </a:lnTo>
                  <a:lnTo>
                    <a:pt x="23" y="248"/>
                  </a:lnTo>
                  <a:lnTo>
                    <a:pt x="17" y="265"/>
                  </a:lnTo>
                  <a:lnTo>
                    <a:pt x="12" y="283"/>
                  </a:lnTo>
                  <a:lnTo>
                    <a:pt x="7" y="301"/>
                  </a:lnTo>
                  <a:lnTo>
                    <a:pt x="4" y="320"/>
                  </a:lnTo>
                  <a:lnTo>
                    <a:pt x="1" y="339"/>
                  </a:lnTo>
                  <a:lnTo>
                    <a:pt x="0" y="357"/>
                  </a:lnTo>
                  <a:lnTo>
                    <a:pt x="0" y="377"/>
                  </a:lnTo>
                  <a:lnTo>
                    <a:pt x="0" y="396"/>
                  </a:lnTo>
                  <a:lnTo>
                    <a:pt x="1" y="415"/>
                  </a:lnTo>
                  <a:lnTo>
                    <a:pt x="4" y="434"/>
                  </a:lnTo>
                  <a:lnTo>
                    <a:pt x="7" y="452"/>
                  </a:lnTo>
                  <a:lnTo>
                    <a:pt x="12" y="470"/>
                  </a:lnTo>
                  <a:lnTo>
                    <a:pt x="17" y="488"/>
                  </a:lnTo>
                  <a:lnTo>
                    <a:pt x="23" y="505"/>
                  </a:lnTo>
                  <a:lnTo>
                    <a:pt x="29" y="523"/>
                  </a:lnTo>
                  <a:lnTo>
                    <a:pt x="36" y="539"/>
                  </a:lnTo>
                  <a:lnTo>
                    <a:pt x="45" y="556"/>
                  </a:lnTo>
                  <a:lnTo>
                    <a:pt x="55" y="572"/>
                  </a:lnTo>
                  <a:lnTo>
                    <a:pt x="64" y="587"/>
                  </a:lnTo>
                  <a:lnTo>
                    <a:pt x="74" y="601"/>
                  </a:lnTo>
                  <a:lnTo>
                    <a:pt x="86" y="616"/>
                  </a:lnTo>
                  <a:lnTo>
                    <a:pt x="97" y="629"/>
                  </a:lnTo>
                  <a:lnTo>
                    <a:pt x="110" y="642"/>
                  </a:lnTo>
                  <a:lnTo>
                    <a:pt x="123" y="655"/>
                  </a:lnTo>
                  <a:lnTo>
                    <a:pt x="137" y="667"/>
                  </a:lnTo>
                  <a:lnTo>
                    <a:pt x="150" y="678"/>
                  </a:lnTo>
                  <a:lnTo>
                    <a:pt x="165" y="689"/>
                  </a:lnTo>
                  <a:lnTo>
                    <a:pt x="181" y="698"/>
                  </a:lnTo>
                  <a:lnTo>
                    <a:pt x="197" y="707"/>
                  </a:lnTo>
                  <a:lnTo>
                    <a:pt x="212" y="715"/>
                  </a:lnTo>
                  <a:lnTo>
                    <a:pt x="229" y="723"/>
                  </a:lnTo>
                  <a:lnTo>
                    <a:pt x="246" y="730"/>
                  </a:lnTo>
                  <a:lnTo>
                    <a:pt x="263" y="736"/>
                  </a:lnTo>
                  <a:lnTo>
                    <a:pt x="282" y="741"/>
                  </a:lnTo>
                  <a:lnTo>
                    <a:pt x="300" y="744"/>
                  </a:lnTo>
                  <a:lnTo>
                    <a:pt x="318" y="748"/>
                  </a:lnTo>
                  <a:lnTo>
                    <a:pt x="337" y="751"/>
                  </a:lnTo>
                  <a:lnTo>
                    <a:pt x="357" y="752"/>
                  </a:lnTo>
                  <a:lnTo>
                    <a:pt x="375" y="753"/>
                  </a:lnTo>
                  <a:lnTo>
                    <a:pt x="395" y="752"/>
                  </a:lnTo>
                  <a:lnTo>
                    <a:pt x="414" y="751"/>
                  </a:lnTo>
                  <a:lnTo>
                    <a:pt x="433" y="748"/>
                  </a:lnTo>
                  <a:lnTo>
                    <a:pt x="452" y="744"/>
                  </a:lnTo>
                  <a:lnTo>
                    <a:pt x="470" y="741"/>
                  </a:lnTo>
                  <a:lnTo>
                    <a:pt x="487" y="736"/>
                  </a:lnTo>
                  <a:lnTo>
                    <a:pt x="505" y="730"/>
                  </a:lnTo>
                  <a:lnTo>
                    <a:pt x="522" y="723"/>
                  </a:lnTo>
                  <a:lnTo>
                    <a:pt x="539" y="715"/>
                  </a:lnTo>
                  <a:lnTo>
                    <a:pt x="555" y="707"/>
                  </a:lnTo>
                  <a:lnTo>
                    <a:pt x="571" y="698"/>
                  </a:lnTo>
                  <a:lnTo>
                    <a:pt x="585" y="689"/>
                  </a:lnTo>
                  <a:lnTo>
                    <a:pt x="601" y="678"/>
                  </a:lnTo>
                  <a:lnTo>
                    <a:pt x="614" y="667"/>
                  </a:lnTo>
                  <a:lnTo>
                    <a:pt x="629" y="655"/>
                  </a:lnTo>
                  <a:lnTo>
                    <a:pt x="641" y="642"/>
                  </a:lnTo>
                  <a:lnTo>
                    <a:pt x="654" y="629"/>
                  </a:lnTo>
                  <a:lnTo>
                    <a:pt x="665" y="616"/>
                  </a:lnTo>
                  <a:lnTo>
                    <a:pt x="677" y="601"/>
                  </a:lnTo>
                  <a:lnTo>
                    <a:pt x="687" y="587"/>
                  </a:lnTo>
                  <a:lnTo>
                    <a:pt x="697" y="572"/>
                  </a:lnTo>
                  <a:lnTo>
                    <a:pt x="707" y="556"/>
                  </a:lnTo>
                  <a:lnTo>
                    <a:pt x="715" y="539"/>
                  </a:lnTo>
                  <a:lnTo>
                    <a:pt x="722" y="523"/>
                  </a:lnTo>
                  <a:lnTo>
                    <a:pt x="728" y="505"/>
                  </a:lnTo>
                  <a:lnTo>
                    <a:pt x="734" y="488"/>
                  </a:lnTo>
                  <a:lnTo>
                    <a:pt x="739" y="470"/>
                  </a:lnTo>
                  <a:lnTo>
                    <a:pt x="744" y="452"/>
                  </a:lnTo>
                  <a:lnTo>
                    <a:pt x="748" y="434"/>
                  </a:lnTo>
                  <a:lnTo>
                    <a:pt x="750" y="415"/>
                  </a:lnTo>
                  <a:lnTo>
                    <a:pt x="751" y="396"/>
                  </a:lnTo>
                  <a:lnTo>
                    <a:pt x="751" y="377"/>
                  </a:lnTo>
                  <a:lnTo>
                    <a:pt x="751" y="358"/>
                  </a:lnTo>
                  <a:lnTo>
                    <a:pt x="750" y="340"/>
                  </a:lnTo>
                  <a:lnTo>
                    <a:pt x="748" y="322"/>
                  </a:lnTo>
                  <a:lnTo>
                    <a:pt x="744" y="304"/>
                  </a:lnTo>
                  <a:lnTo>
                    <a:pt x="741" y="286"/>
                  </a:lnTo>
                  <a:lnTo>
                    <a:pt x="736" y="267"/>
                  </a:lnTo>
                  <a:lnTo>
                    <a:pt x="730" y="250"/>
                  </a:lnTo>
                  <a:lnTo>
                    <a:pt x="724" y="233"/>
                  </a:lnTo>
                  <a:lnTo>
                    <a:pt x="716" y="216"/>
                  </a:lnTo>
                  <a:lnTo>
                    <a:pt x="708" y="201"/>
                  </a:lnTo>
                  <a:lnTo>
                    <a:pt x="698" y="185"/>
                  </a:lnTo>
                  <a:lnTo>
                    <a:pt x="688" y="169"/>
                  </a:lnTo>
                  <a:lnTo>
                    <a:pt x="679" y="154"/>
                  </a:lnTo>
                  <a:lnTo>
                    <a:pt x="666" y="140"/>
                  </a:lnTo>
                  <a:lnTo>
                    <a:pt x="654" y="125"/>
                  </a:lnTo>
                  <a:lnTo>
                    <a:pt x="641"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296">
              <a:extLst>
                <a:ext uri="{FF2B5EF4-FFF2-40B4-BE49-F238E27FC236}">
                  <a16:creationId xmlns:a16="http://schemas.microsoft.com/office/drawing/2014/main" id="{40134A04-04EF-4576-AC82-18541667B8DB}"/>
                </a:ext>
              </a:extLst>
            </p:cNvPr>
            <p:cNvSpPr>
              <a:spLocks noEditPoints="1"/>
            </p:cNvSpPr>
            <p:nvPr/>
          </p:nvSpPr>
          <p:spPr bwMode="auto">
            <a:xfrm>
              <a:off x="5600700" y="2500313"/>
              <a:ext cx="90488" cy="123825"/>
            </a:xfrm>
            <a:custGeom>
              <a:avLst/>
              <a:gdLst>
                <a:gd name="T0" fmla="*/ 45 w 286"/>
                <a:gd name="T1" fmla="*/ 31 h 391"/>
                <a:gd name="T2" fmla="*/ 75 w 286"/>
                <a:gd name="T3" fmla="*/ 35 h 391"/>
                <a:gd name="T4" fmla="*/ 105 w 286"/>
                <a:gd name="T5" fmla="*/ 42 h 391"/>
                <a:gd name="T6" fmla="*/ 134 w 286"/>
                <a:gd name="T7" fmla="*/ 51 h 391"/>
                <a:gd name="T8" fmla="*/ 162 w 286"/>
                <a:gd name="T9" fmla="*/ 62 h 391"/>
                <a:gd name="T10" fmla="*/ 188 w 286"/>
                <a:gd name="T11" fmla="*/ 76 h 391"/>
                <a:gd name="T12" fmla="*/ 214 w 286"/>
                <a:gd name="T13" fmla="*/ 92 h 391"/>
                <a:gd name="T14" fmla="*/ 237 w 286"/>
                <a:gd name="T15" fmla="*/ 110 h 391"/>
                <a:gd name="T16" fmla="*/ 205 w 286"/>
                <a:gd name="T17" fmla="*/ 164 h 391"/>
                <a:gd name="T18" fmla="*/ 167 w 286"/>
                <a:gd name="T19" fmla="*/ 133 h 391"/>
                <a:gd name="T20" fmla="*/ 124 w 286"/>
                <a:gd name="T21" fmla="*/ 112 h 391"/>
                <a:gd name="T22" fmla="*/ 78 w 286"/>
                <a:gd name="T23" fmla="*/ 97 h 391"/>
                <a:gd name="T24" fmla="*/ 29 w 286"/>
                <a:gd name="T25" fmla="*/ 91 h 391"/>
                <a:gd name="T26" fmla="*/ 152 w 286"/>
                <a:gd name="T27" fmla="*/ 238 h 391"/>
                <a:gd name="T28" fmla="*/ 100 w 286"/>
                <a:gd name="T29" fmla="*/ 292 h 391"/>
                <a:gd name="T30" fmla="*/ 78 w 286"/>
                <a:gd name="T31" fmla="*/ 313 h 391"/>
                <a:gd name="T32" fmla="*/ 65 w 286"/>
                <a:gd name="T33" fmla="*/ 294 h 391"/>
                <a:gd name="T34" fmla="*/ 61 w 286"/>
                <a:gd name="T35" fmla="*/ 269 h 391"/>
                <a:gd name="T36" fmla="*/ 65 w 286"/>
                <a:gd name="T37" fmla="*/ 246 h 391"/>
                <a:gd name="T38" fmla="*/ 78 w 286"/>
                <a:gd name="T39" fmla="*/ 227 h 391"/>
                <a:gd name="T40" fmla="*/ 97 w 286"/>
                <a:gd name="T41" fmla="*/ 215 h 391"/>
                <a:gd name="T42" fmla="*/ 120 w 286"/>
                <a:gd name="T43" fmla="*/ 210 h 391"/>
                <a:gd name="T44" fmla="*/ 133 w 286"/>
                <a:gd name="T45" fmla="*/ 211 h 391"/>
                <a:gd name="T46" fmla="*/ 143 w 286"/>
                <a:gd name="T47" fmla="*/ 215 h 391"/>
                <a:gd name="T48" fmla="*/ 163 w 286"/>
                <a:gd name="T49" fmla="*/ 228 h 391"/>
                <a:gd name="T50" fmla="*/ 9 w 286"/>
                <a:gd name="T51" fmla="*/ 391 h 391"/>
                <a:gd name="T52" fmla="*/ 15 w 286"/>
                <a:gd name="T53" fmla="*/ 391 h 391"/>
                <a:gd name="T54" fmla="*/ 26 w 286"/>
                <a:gd name="T55" fmla="*/ 386 h 391"/>
                <a:gd name="T56" fmla="*/ 218 w 286"/>
                <a:gd name="T57" fmla="*/ 195 h 391"/>
                <a:gd name="T58" fmla="*/ 218 w 286"/>
                <a:gd name="T59" fmla="*/ 193 h 391"/>
                <a:gd name="T60" fmla="*/ 283 w 286"/>
                <a:gd name="T61" fmla="*/ 129 h 391"/>
                <a:gd name="T62" fmla="*/ 286 w 286"/>
                <a:gd name="T63" fmla="*/ 123 h 391"/>
                <a:gd name="T64" fmla="*/ 284 w 286"/>
                <a:gd name="T65" fmla="*/ 114 h 391"/>
                <a:gd name="T66" fmla="*/ 267 w 286"/>
                <a:gd name="T67" fmla="*/ 96 h 391"/>
                <a:gd name="T68" fmla="*/ 239 w 286"/>
                <a:gd name="T69" fmla="*/ 73 h 391"/>
                <a:gd name="T70" fmla="*/ 208 w 286"/>
                <a:gd name="T71" fmla="*/ 52 h 391"/>
                <a:gd name="T72" fmla="*/ 176 w 286"/>
                <a:gd name="T73" fmla="*/ 35 h 391"/>
                <a:gd name="T74" fmla="*/ 142 w 286"/>
                <a:gd name="T75" fmla="*/ 21 h 391"/>
                <a:gd name="T76" fmla="*/ 107 w 286"/>
                <a:gd name="T77" fmla="*/ 11 h 391"/>
                <a:gd name="T78" fmla="*/ 71 w 286"/>
                <a:gd name="T79" fmla="*/ 4 h 391"/>
                <a:gd name="T80" fmla="*/ 34 w 286"/>
                <a:gd name="T81" fmla="*/ 0 h 391"/>
                <a:gd name="T82" fmla="*/ 9 w 286"/>
                <a:gd name="T83" fmla="*/ 1 h 391"/>
                <a:gd name="T84" fmla="*/ 1 w 286"/>
                <a:gd name="T85" fmla="*/ 8 h 391"/>
                <a:gd name="T86" fmla="*/ 0 w 286"/>
                <a:gd name="T87" fmla="*/ 104 h 391"/>
                <a:gd name="T88" fmla="*/ 0 w 286"/>
                <a:gd name="T89" fmla="*/ 380 h 391"/>
                <a:gd name="T90" fmla="*/ 5 w 286"/>
                <a:gd name="T91" fmla="*/ 387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6" h="391">
                  <a:moveTo>
                    <a:pt x="29" y="31"/>
                  </a:moveTo>
                  <a:lnTo>
                    <a:pt x="45" y="31"/>
                  </a:lnTo>
                  <a:lnTo>
                    <a:pt x="61" y="34"/>
                  </a:lnTo>
                  <a:lnTo>
                    <a:pt x="75" y="35"/>
                  </a:lnTo>
                  <a:lnTo>
                    <a:pt x="90" y="39"/>
                  </a:lnTo>
                  <a:lnTo>
                    <a:pt x="105" y="42"/>
                  </a:lnTo>
                  <a:lnTo>
                    <a:pt x="119" y="46"/>
                  </a:lnTo>
                  <a:lnTo>
                    <a:pt x="134" y="51"/>
                  </a:lnTo>
                  <a:lnTo>
                    <a:pt x="148" y="56"/>
                  </a:lnTo>
                  <a:lnTo>
                    <a:pt x="162" y="62"/>
                  </a:lnTo>
                  <a:lnTo>
                    <a:pt x="175" y="69"/>
                  </a:lnTo>
                  <a:lnTo>
                    <a:pt x="188" y="76"/>
                  </a:lnTo>
                  <a:lnTo>
                    <a:pt x="201" y="84"/>
                  </a:lnTo>
                  <a:lnTo>
                    <a:pt x="214" y="92"/>
                  </a:lnTo>
                  <a:lnTo>
                    <a:pt x="226" y="102"/>
                  </a:lnTo>
                  <a:lnTo>
                    <a:pt x="237" y="110"/>
                  </a:lnTo>
                  <a:lnTo>
                    <a:pt x="249" y="121"/>
                  </a:lnTo>
                  <a:lnTo>
                    <a:pt x="205" y="164"/>
                  </a:lnTo>
                  <a:lnTo>
                    <a:pt x="187" y="148"/>
                  </a:lnTo>
                  <a:lnTo>
                    <a:pt x="167" y="133"/>
                  </a:lnTo>
                  <a:lnTo>
                    <a:pt x="146" y="123"/>
                  </a:lnTo>
                  <a:lnTo>
                    <a:pt x="124" y="112"/>
                  </a:lnTo>
                  <a:lnTo>
                    <a:pt x="101" y="103"/>
                  </a:lnTo>
                  <a:lnTo>
                    <a:pt x="78" y="97"/>
                  </a:lnTo>
                  <a:lnTo>
                    <a:pt x="55" y="93"/>
                  </a:lnTo>
                  <a:lnTo>
                    <a:pt x="29" y="91"/>
                  </a:lnTo>
                  <a:lnTo>
                    <a:pt x="29" y="31"/>
                  </a:lnTo>
                  <a:close/>
                  <a:moveTo>
                    <a:pt x="152" y="238"/>
                  </a:moveTo>
                  <a:lnTo>
                    <a:pt x="142" y="249"/>
                  </a:lnTo>
                  <a:lnTo>
                    <a:pt x="100" y="292"/>
                  </a:lnTo>
                  <a:lnTo>
                    <a:pt x="89" y="303"/>
                  </a:lnTo>
                  <a:lnTo>
                    <a:pt x="78" y="313"/>
                  </a:lnTo>
                  <a:lnTo>
                    <a:pt x="71" y="303"/>
                  </a:lnTo>
                  <a:lnTo>
                    <a:pt x="65" y="294"/>
                  </a:lnTo>
                  <a:lnTo>
                    <a:pt x="61" y="282"/>
                  </a:lnTo>
                  <a:lnTo>
                    <a:pt x="61" y="269"/>
                  </a:lnTo>
                  <a:lnTo>
                    <a:pt x="62" y="258"/>
                  </a:lnTo>
                  <a:lnTo>
                    <a:pt x="65" y="246"/>
                  </a:lnTo>
                  <a:lnTo>
                    <a:pt x="71" y="237"/>
                  </a:lnTo>
                  <a:lnTo>
                    <a:pt x="78" y="227"/>
                  </a:lnTo>
                  <a:lnTo>
                    <a:pt x="86" y="220"/>
                  </a:lnTo>
                  <a:lnTo>
                    <a:pt x="97" y="215"/>
                  </a:lnTo>
                  <a:lnTo>
                    <a:pt x="108" y="211"/>
                  </a:lnTo>
                  <a:lnTo>
                    <a:pt x="120" y="210"/>
                  </a:lnTo>
                  <a:lnTo>
                    <a:pt x="126" y="210"/>
                  </a:lnTo>
                  <a:lnTo>
                    <a:pt x="133" y="211"/>
                  </a:lnTo>
                  <a:lnTo>
                    <a:pt x="139" y="212"/>
                  </a:lnTo>
                  <a:lnTo>
                    <a:pt x="143" y="215"/>
                  </a:lnTo>
                  <a:lnTo>
                    <a:pt x="154" y="221"/>
                  </a:lnTo>
                  <a:lnTo>
                    <a:pt x="163" y="228"/>
                  </a:lnTo>
                  <a:lnTo>
                    <a:pt x="152" y="238"/>
                  </a:lnTo>
                  <a:close/>
                  <a:moveTo>
                    <a:pt x="9" y="391"/>
                  </a:moveTo>
                  <a:lnTo>
                    <a:pt x="12" y="391"/>
                  </a:lnTo>
                  <a:lnTo>
                    <a:pt x="15" y="391"/>
                  </a:lnTo>
                  <a:lnTo>
                    <a:pt x="21" y="390"/>
                  </a:lnTo>
                  <a:lnTo>
                    <a:pt x="26" y="386"/>
                  </a:lnTo>
                  <a:lnTo>
                    <a:pt x="205" y="206"/>
                  </a:lnTo>
                  <a:lnTo>
                    <a:pt x="218" y="195"/>
                  </a:lnTo>
                  <a:lnTo>
                    <a:pt x="218" y="194"/>
                  </a:lnTo>
                  <a:lnTo>
                    <a:pt x="218" y="193"/>
                  </a:lnTo>
                  <a:lnTo>
                    <a:pt x="281" y="130"/>
                  </a:lnTo>
                  <a:lnTo>
                    <a:pt x="283" y="129"/>
                  </a:lnTo>
                  <a:lnTo>
                    <a:pt x="284" y="126"/>
                  </a:lnTo>
                  <a:lnTo>
                    <a:pt x="286" y="123"/>
                  </a:lnTo>
                  <a:lnTo>
                    <a:pt x="286" y="120"/>
                  </a:lnTo>
                  <a:lnTo>
                    <a:pt x="284" y="114"/>
                  </a:lnTo>
                  <a:lnTo>
                    <a:pt x="281" y="109"/>
                  </a:lnTo>
                  <a:lnTo>
                    <a:pt x="267" y="96"/>
                  </a:lnTo>
                  <a:lnTo>
                    <a:pt x="254" y="84"/>
                  </a:lnTo>
                  <a:lnTo>
                    <a:pt x="239" y="73"/>
                  </a:lnTo>
                  <a:lnTo>
                    <a:pt x="224" y="62"/>
                  </a:lnTo>
                  <a:lnTo>
                    <a:pt x="208" y="52"/>
                  </a:lnTo>
                  <a:lnTo>
                    <a:pt x="192" y="44"/>
                  </a:lnTo>
                  <a:lnTo>
                    <a:pt x="176" y="35"/>
                  </a:lnTo>
                  <a:lnTo>
                    <a:pt x="159" y="28"/>
                  </a:lnTo>
                  <a:lnTo>
                    <a:pt x="142" y="21"/>
                  </a:lnTo>
                  <a:lnTo>
                    <a:pt x="125" y="16"/>
                  </a:lnTo>
                  <a:lnTo>
                    <a:pt x="107" y="11"/>
                  </a:lnTo>
                  <a:lnTo>
                    <a:pt x="89" y="6"/>
                  </a:lnTo>
                  <a:lnTo>
                    <a:pt x="71" y="4"/>
                  </a:lnTo>
                  <a:lnTo>
                    <a:pt x="52" y="1"/>
                  </a:lnTo>
                  <a:lnTo>
                    <a:pt x="34" y="0"/>
                  </a:lnTo>
                  <a:lnTo>
                    <a:pt x="15" y="0"/>
                  </a:lnTo>
                  <a:lnTo>
                    <a:pt x="9" y="1"/>
                  </a:lnTo>
                  <a:lnTo>
                    <a:pt x="4" y="4"/>
                  </a:lnTo>
                  <a:lnTo>
                    <a:pt x="1" y="8"/>
                  </a:lnTo>
                  <a:lnTo>
                    <a:pt x="0" y="14"/>
                  </a:lnTo>
                  <a:lnTo>
                    <a:pt x="0" y="104"/>
                  </a:lnTo>
                  <a:lnTo>
                    <a:pt x="0" y="375"/>
                  </a:lnTo>
                  <a:lnTo>
                    <a:pt x="0" y="380"/>
                  </a:lnTo>
                  <a:lnTo>
                    <a:pt x="3" y="384"/>
                  </a:lnTo>
                  <a:lnTo>
                    <a:pt x="5" y="387"/>
                  </a:lnTo>
                  <a:lnTo>
                    <a:pt x="9" y="3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4" name="Group 63">
            <a:extLst>
              <a:ext uri="{FF2B5EF4-FFF2-40B4-BE49-F238E27FC236}">
                <a16:creationId xmlns:a16="http://schemas.microsoft.com/office/drawing/2014/main" id="{797DEFC1-9BF4-4E28-99CE-D8DF85025289}"/>
              </a:ext>
            </a:extLst>
          </p:cNvPr>
          <p:cNvGrpSpPr/>
          <p:nvPr/>
        </p:nvGrpSpPr>
        <p:grpSpPr>
          <a:xfrm>
            <a:off x="1416422" y="3201124"/>
            <a:ext cx="272303" cy="362396"/>
            <a:chOff x="5467350" y="2500313"/>
            <a:chExt cx="238125" cy="285750"/>
          </a:xfrm>
          <a:solidFill>
            <a:srgbClr val="C00000"/>
          </a:solidFill>
        </p:grpSpPr>
        <p:sp>
          <p:nvSpPr>
            <p:cNvPr id="65" name="Freeform 1295">
              <a:extLst>
                <a:ext uri="{FF2B5EF4-FFF2-40B4-BE49-F238E27FC236}">
                  <a16:creationId xmlns:a16="http://schemas.microsoft.com/office/drawing/2014/main" id="{19AA9372-8B1A-49F3-BF98-DF06CA646480}"/>
                </a:ext>
              </a:extLst>
            </p:cNvPr>
            <p:cNvSpPr>
              <a:spLocks noEditPoints="1"/>
            </p:cNvSpPr>
            <p:nvPr/>
          </p:nvSpPr>
          <p:spPr bwMode="auto">
            <a:xfrm>
              <a:off x="5467350" y="2547938"/>
              <a:ext cx="238125" cy="238125"/>
            </a:xfrm>
            <a:custGeom>
              <a:avLst/>
              <a:gdLst>
                <a:gd name="T0" fmla="*/ 257 w 751"/>
                <a:gd name="T1" fmla="*/ 702 h 753"/>
                <a:gd name="T2" fmla="*/ 143 w 751"/>
                <a:gd name="T3" fmla="*/ 633 h 753"/>
                <a:gd name="T4" fmla="*/ 64 w 751"/>
                <a:gd name="T5" fmla="*/ 527 h 753"/>
                <a:gd name="T6" fmla="*/ 30 w 751"/>
                <a:gd name="T7" fmla="*/ 395 h 753"/>
                <a:gd name="T8" fmla="*/ 50 w 751"/>
                <a:gd name="T9" fmla="*/ 261 h 753"/>
                <a:gd name="T10" fmla="*/ 115 w 751"/>
                <a:gd name="T11" fmla="*/ 150 h 753"/>
                <a:gd name="T12" fmla="*/ 217 w 751"/>
                <a:gd name="T13" fmla="*/ 71 h 753"/>
                <a:gd name="T14" fmla="*/ 344 w 751"/>
                <a:gd name="T15" fmla="*/ 33 h 753"/>
                <a:gd name="T16" fmla="*/ 279 w 751"/>
                <a:gd name="T17" fmla="*/ 108 h 753"/>
                <a:gd name="T18" fmla="*/ 188 w 751"/>
                <a:gd name="T19" fmla="*/ 162 h 753"/>
                <a:gd name="T20" fmla="*/ 123 w 751"/>
                <a:gd name="T21" fmla="*/ 245 h 753"/>
                <a:gd name="T22" fmla="*/ 91 w 751"/>
                <a:gd name="T23" fmla="*/ 349 h 753"/>
                <a:gd name="T24" fmla="*/ 103 w 751"/>
                <a:gd name="T25" fmla="*/ 462 h 753"/>
                <a:gd name="T26" fmla="*/ 155 w 751"/>
                <a:gd name="T27" fmla="*/ 559 h 753"/>
                <a:gd name="T28" fmla="*/ 239 w 751"/>
                <a:gd name="T29" fmla="*/ 628 h 753"/>
                <a:gd name="T30" fmla="*/ 346 w 751"/>
                <a:gd name="T31" fmla="*/ 661 h 753"/>
                <a:gd name="T32" fmla="*/ 460 w 751"/>
                <a:gd name="T33" fmla="*/ 650 h 753"/>
                <a:gd name="T34" fmla="*/ 557 w 751"/>
                <a:gd name="T35" fmla="*/ 598 h 753"/>
                <a:gd name="T36" fmla="*/ 626 w 751"/>
                <a:gd name="T37" fmla="*/ 513 h 753"/>
                <a:gd name="T38" fmla="*/ 660 w 751"/>
                <a:gd name="T39" fmla="*/ 406 h 753"/>
                <a:gd name="T40" fmla="*/ 619 w 751"/>
                <a:gd name="T41" fmla="*/ 227 h 753"/>
                <a:gd name="T42" fmla="*/ 677 w 751"/>
                <a:gd name="T43" fmla="*/ 208 h 753"/>
                <a:gd name="T44" fmla="*/ 719 w 751"/>
                <a:gd name="T45" fmla="*/ 328 h 753"/>
                <a:gd name="T46" fmla="*/ 710 w 751"/>
                <a:gd name="T47" fmla="*/ 463 h 753"/>
                <a:gd name="T48" fmla="*/ 653 w 751"/>
                <a:gd name="T49" fmla="*/ 583 h 753"/>
                <a:gd name="T50" fmla="*/ 555 w 751"/>
                <a:gd name="T51" fmla="*/ 673 h 753"/>
                <a:gd name="T52" fmla="*/ 429 w 751"/>
                <a:gd name="T53" fmla="*/ 719 h 753"/>
                <a:gd name="T54" fmla="*/ 283 w 751"/>
                <a:gd name="T55" fmla="*/ 464 h 753"/>
                <a:gd name="T56" fmla="*/ 198 w 751"/>
                <a:gd name="T57" fmla="*/ 464 h 753"/>
                <a:gd name="T58" fmla="*/ 198 w 751"/>
                <a:gd name="T59" fmla="*/ 379 h 753"/>
                <a:gd name="T60" fmla="*/ 283 w 751"/>
                <a:gd name="T61" fmla="*/ 379 h 753"/>
                <a:gd name="T62" fmla="*/ 237 w 751"/>
                <a:gd name="T63" fmla="*/ 321 h 753"/>
                <a:gd name="T64" fmla="*/ 221 w 751"/>
                <a:gd name="T65" fmla="*/ 238 h 753"/>
                <a:gd name="T66" fmla="*/ 303 w 751"/>
                <a:gd name="T67" fmla="*/ 221 h 753"/>
                <a:gd name="T68" fmla="*/ 320 w 751"/>
                <a:gd name="T69" fmla="*/ 305 h 753"/>
                <a:gd name="T70" fmla="*/ 414 w 751"/>
                <a:gd name="T71" fmla="*/ 487 h 753"/>
                <a:gd name="T72" fmla="*/ 447 w 751"/>
                <a:gd name="T73" fmla="*/ 566 h 753"/>
                <a:gd name="T74" fmla="*/ 368 w 751"/>
                <a:gd name="T75" fmla="*/ 598 h 753"/>
                <a:gd name="T76" fmla="*/ 335 w 751"/>
                <a:gd name="T77" fmla="*/ 519 h 753"/>
                <a:gd name="T78" fmla="*/ 460 w 751"/>
                <a:gd name="T79" fmla="*/ 294 h 753"/>
                <a:gd name="T80" fmla="*/ 540 w 751"/>
                <a:gd name="T81" fmla="*/ 283 h 753"/>
                <a:gd name="T82" fmla="*/ 469 w 751"/>
                <a:gd name="T83" fmla="*/ 330 h 753"/>
                <a:gd name="T84" fmla="*/ 561 w 751"/>
                <a:gd name="T85" fmla="*/ 455 h 753"/>
                <a:gd name="T86" fmla="*/ 477 w 751"/>
                <a:gd name="T87" fmla="*/ 471 h 753"/>
                <a:gd name="T88" fmla="*/ 461 w 751"/>
                <a:gd name="T89" fmla="*/ 389 h 753"/>
                <a:gd name="T90" fmla="*/ 545 w 751"/>
                <a:gd name="T91" fmla="*/ 372 h 753"/>
                <a:gd name="T92" fmla="*/ 636 w 751"/>
                <a:gd name="T93" fmla="*/ 108 h 753"/>
                <a:gd name="T94" fmla="*/ 391 w 751"/>
                <a:gd name="T95" fmla="*/ 340 h 753"/>
                <a:gd name="T96" fmla="*/ 337 w 751"/>
                <a:gd name="T97" fmla="*/ 3 h 753"/>
                <a:gd name="T98" fmla="*/ 197 w 751"/>
                <a:gd name="T99" fmla="*/ 46 h 753"/>
                <a:gd name="T100" fmla="*/ 86 w 751"/>
                <a:gd name="T101" fmla="*/ 139 h 753"/>
                <a:gd name="T102" fmla="*/ 17 w 751"/>
                <a:gd name="T103" fmla="*/ 265 h 753"/>
                <a:gd name="T104" fmla="*/ 1 w 751"/>
                <a:gd name="T105" fmla="*/ 415 h 753"/>
                <a:gd name="T106" fmla="*/ 45 w 751"/>
                <a:gd name="T107" fmla="*/ 556 h 753"/>
                <a:gd name="T108" fmla="*/ 137 w 751"/>
                <a:gd name="T109" fmla="*/ 667 h 753"/>
                <a:gd name="T110" fmla="*/ 263 w 751"/>
                <a:gd name="T111" fmla="*/ 736 h 753"/>
                <a:gd name="T112" fmla="*/ 414 w 751"/>
                <a:gd name="T113" fmla="*/ 751 h 753"/>
                <a:gd name="T114" fmla="*/ 555 w 751"/>
                <a:gd name="T115" fmla="*/ 707 h 753"/>
                <a:gd name="T116" fmla="*/ 665 w 751"/>
                <a:gd name="T117" fmla="*/ 616 h 753"/>
                <a:gd name="T118" fmla="*/ 734 w 751"/>
                <a:gd name="T119" fmla="*/ 488 h 753"/>
                <a:gd name="T120" fmla="*/ 750 w 751"/>
                <a:gd name="T121" fmla="*/ 340 h 753"/>
                <a:gd name="T122" fmla="*/ 708 w 751"/>
                <a:gd name="T123" fmla="*/ 201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1" h="753">
                  <a:moveTo>
                    <a:pt x="375" y="723"/>
                  </a:moveTo>
                  <a:lnTo>
                    <a:pt x="358" y="723"/>
                  </a:lnTo>
                  <a:lnTo>
                    <a:pt x="340" y="720"/>
                  </a:lnTo>
                  <a:lnTo>
                    <a:pt x="323" y="719"/>
                  </a:lnTo>
                  <a:lnTo>
                    <a:pt x="306" y="715"/>
                  </a:lnTo>
                  <a:lnTo>
                    <a:pt x="289" y="712"/>
                  </a:lnTo>
                  <a:lnTo>
                    <a:pt x="273" y="707"/>
                  </a:lnTo>
                  <a:lnTo>
                    <a:pt x="257" y="702"/>
                  </a:lnTo>
                  <a:lnTo>
                    <a:pt x="242" y="696"/>
                  </a:lnTo>
                  <a:lnTo>
                    <a:pt x="226" y="689"/>
                  </a:lnTo>
                  <a:lnTo>
                    <a:pt x="211" y="681"/>
                  </a:lnTo>
                  <a:lnTo>
                    <a:pt x="197" y="673"/>
                  </a:lnTo>
                  <a:lnTo>
                    <a:pt x="182" y="663"/>
                  </a:lnTo>
                  <a:lnTo>
                    <a:pt x="169" y="653"/>
                  </a:lnTo>
                  <a:lnTo>
                    <a:pt x="155" y="644"/>
                  </a:lnTo>
                  <a:lnTo>
                    <a:pt x="143" y="633"/>
                  </a:lnTo>
                  <a:lnTo>
                    <a:pt x="131" y="621"/>
                  </a:lnTo>
                  <a:lnTo>
                    <a:pt x="120" y="610"/>
                  </a:lnTo>
                  <a:lnTo>
                    <a:pt x="109" y="596"/>
                  </a:lnTo>
                  <a:lnTo>
                    <a:pt x="98" y="583"/>
                  </a:lnTo>
                  <a:lnTo>
                    <a:pt x="89" y="570"/>
                  </a:lnTo>
                  <a:lnTo>
                    <a:pt x="80" y="556"/>
                  </a:lnTo>
                  <a:lnTo>
                    <a:pt x="72" y="542"/>
                  </a:lnTo>
                  <a:lnTo>
                    <a:pt x="64" y="527"/>
                  </a:lnTo>
                  <a:lnTo>
                    <a:pt x="57" y="511"/>
                  </a:lnTo>
                  <a:lnTo>
                    <a:pt x="51" y="496"/>
                  </a:lnTo>
                  <a:lnTo>
                    <a:pt x="45" y="480"/>
                  </a:lnTo>
                  <a:lnTo>
                    <a:pt x="41" y="463"/>
                  </a:lnTo>
                  <a:lnTo>
                    <a:pt x="36" y="446"/>
                  </a:lnTo>
                  <a:lnTo>
                    <a:pt x="34" y="429"/>
                  </a:lnTo>
                  <a:lnTo>
                    <a:pt x="31" y="412"/>
                  </a:lnTo>
                  <a:lnTo>
                    <a:pt x="30" y="395"/>
                  </a:lnTo>
                  <a:lnTo>
                    <a:pt x="30" y="377"/>
                  </a:lnTo>
                  <a:lnTo>
                    <a:pt x="30" y="360"/>
                  </a:lnTo>
                  <a:lnTo>
                    <a:pt x="31" y="343"/>
                  </a:lnTo>
                  <a:lnTo>
                    <a:pt x="34" y="326"/>
                  </a:lnTo>
                  <a:lnTo>
                    <a:pt x="36" y="309"/>
                  </a:lnTo>
                  <a:lnTo>
                    <a:pt x="40" y="293"/>
                  </a:lnTo>
                  <a:lnTo>
                    <a:pt x="45" y="277"/>
                  </a:lnTo>
                  <a:lnTo>
                    <a:pt x="50" y="261"/>
                  </a:lnTo>
                  <a:lnTo>
                    <a:pt x="56" y="245"/>
                  </a:lnTo>
                  <a:lnTo>
                    <a:pt x="62" y="231"/>
                  </a:lnTo>
                  <a:lnTo>
                    <a:pt x="69" y="216"/>
                  </a:lnTo>
                  <a:lnTo>
                    <a:pt x="78" y="202"/>
                  </a:lnTo>
                  <a:lnTo>
                    <a:pt x="86" y="188"/>
                  </a:lnTo>
                  <a:lnTo>
                    <a:pt x="95" y="175"/>
                  </a:lnTo>
                  <a:lnTo>
                    <a:pt x="106" y="162"/>
                  </a:lnTo>
                  <a:lnTo>
                    <a:pt x="115" y="150"/>
                  </a:lnTo>
                  <a:lnTo>
                    <a:pt x="126" y="137"/>
                  </a:lnTo>
                  <a:lnTo>
                    <a:pt x="137" y="126"/>
                  </a:lnTo>
                  <a:lnTo>
                    <a:pt x="149" y="116"/>
                  </a:lnTo>
                  <a:lnTo>
                    <a:pt x="163" y="106"/>
                  </a:lnTo>
                  <a:lnTo>
                    <a:pt x="175" y="96"/>
                  </a:lnTo>
                  <a:lnTo>
                    <a:pt x="188" y="86"/>
                  </a:lnTo>
                  <a:lnTo>
                    <a:pt x="203" y="78"/>
                  </a:lnTo>
                  <a:lnTo>
                    <a:pt x="217" y="71"/>
                  </a:lnTo>
                  <a:lnTo>
                    <a:pt x="232" y="63"/>
                  </a:lnTo>
                  <a:lnTo>
                    <a:pt x="246" y="57"/>
                  </a:lnTo>
                  <a:lnTo>
                    <a:pt x="262" y="51"/>
                  </a:lnTo>
                  <a:lnTo>
                    <a:pt x="278" y="46"/>
                  </a:lnTo>
                  <a:lnTo>
                    <a:pt x="294" y="42"/>
                  </a:lnTo>
                  <a:lnTo>
                    <a:pt x="310" y="38"/>
                  </a:lnTo>
                  <a:lnTo>
                    <a:pt x="327" y="35"/>
                  </a:lnTo>
                  <a:lnTo>
                    <a:pt x="344" y="33"/>
                  </a:lnTo>
                  <a:lnTo>
                    <a:pt x="361" y="32"/>
                  </a:lnTo>
                  <a:lnTo>
                    <a:pt x="361" y="92"/>
                  </a:lnTo>
                  <a:lnTo>
                    <a:pt x="347" y="94"/>
                  </a:lnTo>
                  <a:lnTo>
                    <a:pt x="333" y="95"/>
                  </a:lnTo>
                  <a:lnTo>
                    <a:pt x="319" y="97"/>
                  </a:lnTo>
                  <a:lnTo>
                    <a:pt x="306" y="101"/>
                  </a:lnTo>
                  <a:lnTo>
                    <a:pt x="293" y="105"/>
                  </a:lnTo>
                  <a:lnTo>
                    <a:pt x="279" y="108"/>
                  </a:lnTo>
                  <a:lnTo>
                    <a:pt x="267" y="113"/>
                  </a:lnTo>
                  <a:lnTo>
                    <a:pt x="255" y="119"/>
                  </a:lnTo>
                  <a:lnTo>
                    <a:pt x="243" y="124"/>
                  </a:lnTo>
                  <a:lnTo>
                    <a:pt x="231" y="131"/>
                  </a:lnTo>
                  <a:lnTo>
                    <a:pt x="220" y="139"/>
                  </a:lnTo>
                  <a:lnTo>
                    <a:pt x="209" y="146"/>
                  </a:lnTo>
                  <a:lnTo>
                    <a:pt x="198" y="153"/>
                  </a:lnTo>
                  <a:lnTo>
                    <a:pt x="188" y="162"/>
                  </a:lnTo>
                  <a:lnTo>
                    <a:pt x="178" y="171"/>
                  </a:lnTo>
                  <a:lnTo>
                    <a:pt x="169" y="180"/>
                  </a:lnTo>
                  <a:lnTo>
                    <a:pt x="160" y="190"/>
                  </a:lnTo>
                  <a:lnTo>
                    <a:pt x="152" y="201"/>
                  </a:lnTo>
                  <a:lnTo>
                    <a:pt x="143" y="211"/>
                  </a:lnTo>
                  <a:lnTo>
                    <a:pt x="136" y="222"/>
                  </a:lnTo>
                  <a:lnTo>
                    <a:pt x="129" y="233"/>
                  </a:lnTo>
                  <a:lnTo>
                    <a:pt x="123" y="245"/>
                  </a:lnTo>
                  <a:lnTo>
                    <a:pt x="116" y="256"/>
                  </a:lnTo>
                  <a:lnTo>
                    <a:pt x="112" y="270"/>
                  </a:lnTo>
                  <a:lnTo>
                    <a:pt x="107" y="282"/>
                  </a:lnTo>
                  <a:lnTo>
                    <a:pt x="102" y="295"/>
                  </a:lnTo>
                  <a:lnTo>
                    <a:pt x="98" y="307"/>
                  </a:lnTo>
                  <a:lnTo>
                    <a:pt x="96" y="321"/>
                  </a:lnTo>
                  <a:lnTo>
                    <a:pt x="93" y="334"/>
                  </a:lnTo>
                  <a:lnTo>
                    <a:pt x="91" y="349"/>
                  </a:lnTo>
                  <a:lnTo>
                    <a:pt x="90" y="362"/>
                  </a:lnTo>
                  <a:lnTo>
                    <a:pt x="90" y="377"/>
                  </a:lnTo>
                  <a:lnTo>
                    <a:pt x="90" y="391"/>
                  </a:lnTo>
                  <a:lnTo>
                    <a:pt x="91" y="406"/>
                  </a:lnTo>
                  <a:lnTo>
                    <a:pt x="93" y="420"/>
                  </a:lnTo>
                  <a:lnTo>
                    <a:pt x="96" y="434"/>
                  </a:lnTo>
                  <a:lnTo>
                    <a:pt x="99" y="448"/>
                  </a:lnTo>
                  <a:lnTo>
                    <a:pt x="103" y="462"/>
                  </a:lnTo>
                  <a:lnTo>
                    <a:pt x="107" y="475"/>
                  </a:lnTo>
                  <a:lnTo>
                    <a:pt x="113" y="488"/>
                  </a:lnTo>
                  <a:lnTo>
                    <a:pt x="118" y="500"/>
                  </a:lnTo>
                  <a:lnTo>
                    <a:pt x="125" y="513"/>
                  </a:lnTo>
                  <a:lnTo>
                    <a:pt x="131" y="525"/>
                  </a:lnTo>
                  <a:lnTo>
                    <a:pt x="138" y="537"/>
                  </a:lnTo>
                  <a:lnTo>
                    <a:pt x="147" y="548"/>
                  </a:lnTo>
                  <a:lnTo>
                    <a:pt x="155" y="559"/>
                  </a:lnTo>
                  <a:lnTo>
                    <a:pt x="164" y="568"/>
                  </a:lnTo>
                  <a:lnTo>
                    <a:pt x="174" y="578"/>
                  </a:lnTo>
                  <a:lnTo>
                    <a:pt x="183" y="588"/>
                  </a:lnTo>
                  <a:lnTo>
                    <a:pt x="194" y="598"/>
                  </a:lnTo>
                  <a:lnTo>
                    <a:pt x="205" y="606"/>
                  </a:lnTo>
                  <a:lnTo>
                    <a:pt x="216" y="613"/>
                  </a:lnTo>
                  <a:lnTo>
                    <a:pt x="227" y="621"/>
                  </a:lnTo>
                  <a:lnTo>
                    <a:pt x="239" y="628"/>
                  </a:lnTo>
                  <a:lnTo>
                    <a:pt x="251" y="634"/>
                  </a:lnTo>
                  <a:lnTo>
                    <a:pt x="265" y="640"/>
                  </a:lnTo>
                  <a:lnTo>
                    <a:pt x="278" y="645"/>
                  </a:lnTo>
                  <a:lnTo>
                    <a:pt x="291" y="650"/>
                  </a:lnTo>
                  <a:lnTo>
                    <a:pt x="305" y="653"/>
                  </a:lnTo>
                  <a:lnTo>
                    <a:pt x="318" y="657"/>
                  </a:lnTo>
                  <a:lnTo>
                    <a:pt x="333" y="659"/>
                  </a:lnTo>
                  <a:lnTo>
                    <a:pt x="346" y="661"/>
                  </a:lnTo>
                  <a:lnTo>
                    <a:pt x="361" y="662"/>
                  </a:lnTo>
                  <a:lnTo>
                    <a:pt x="375" y="662"/>
                  </a:lnTo>
                  <a:lnTo>
                    <a:pt x="391" y="662"/>
                  </a:lnTo>
                  <a:lnTo>
                    <a:pt x="404" y="661"/>
                  </a:lnTo>
                  <a:lnTo>
                    <a:pt x="419" y="659"/>
                  </a:lnTo>
                  <a:lnTo>
                    <a:pt x="433" y="657"/>
                  </a:lnTo>
                  <a:lnTo>
                    <a:pt x="447" y="653"/>
                  </a:lnTo>
                  <a:lnTo>
                    <a:pt x="460" y="650"/>
                  </a:lnTo>
                  <a:lnTo>
                    <a:pt x="473" y="645"/>
                  </a:lnTo>
                  <a:lnTo>
                    <a:pt x="487" y="640"/>
                  </a:lnTo>
                  <a:lnTo>
                    <a:pt x="499" y="634"/>
                  </a:lnTo>
                  <a:lnTo>
                    <a:pt x="512" y="628"/>
                  </a:lnTo>
                  <a:lnTo>
                    <a:pt x="523" y="621"/>
                  </a:lnTo>
                  <a:lnTo>
                    <a:pt x="535" y="613"/>
                  </a:lnTo>
                  <a:lnTo>
                    <a:pt x="546" y="606"/>
                  </a:lnTo>
                  <a:lnTo>
                    <a:pt x="557" y="598"/>
                  </a:lnTo>
                  <a:lnTo>
                    <a:pt x="568" y="588"/>
                  </a:lnTo>
                  <a:lnTo>
                    <a:pt x="578" y="578"/>
                  </a:lnTo>
                  <a:lnTo>
                    <a:pt x="588" y="568"/>
                  </a:lnTo>
                  <a:lnTo>
                    <a:pt x="596" y="559"/>
                  </a:lnTo>
                  <a:lnTo>
                    <a:pt x="605" y="548"/>
                  </a:lnTo>
                  <a:lnTo>
                    <a:pt x="613" y="537"/>
                  </a:lnTo>
                  <a:lnTo>
                    <a:pt x="620" y="525"/>
                  </a:lnTo>
                  <a:lnTo>
                    <a:pt x="626" y="513"/>
                  </a:lnTo>
                  <a:lnTo>
                    <a:pt x="634" y="500"/>
                  </a:lnTo>
                  <a:lnTo>
                    <a:pt x="639" y="488"/>
                  </a:lnTo>
                  <a:lnTo>
                    <a:pt x="645" y="475"/>
                  </a:lnTo>
                  <a:lnTo>
                    <a:pt x="648" y="462"/>
                  </a:lnTo>
                  <a:lnTo>
                    <a:pt x="652" y="448"/>
                  </a:lnTo>
                  <a:lnTo>
                    <a:pt x="656" y="434"/>
                  </a:lnTo>
                  <a:lnTo>
                    <a:pt x="658" y="420"/>
                  </a:lnTo>
                  <a:lnTo>
                    <a:pt x="660" y="406"/>
                  </a:lnTo>
                  <a:lnTo>
                    <a:pt x="660" y="391"/>
                  </a:lnTo>
                  <a:lnTo>
                    <a:pt x="662" y="377"/>
                  </a:lnTo>
                  <a:lnTo>
                    <a:pt x="660" y="350"/>
                  </a:lnTo>
                  <a:lnTo>
                    <a:pt x="657" y="324"/>
                  </a:lnTo>
                  <a:lnTo>
                    <a:pt x="651" y="299"/>
                  </a:lnTo>
                  <a:lnTo>
                    <a:pt x="642" y="275"/>
                  </a:lnTo>
                  <a:lnTo>
                    <a:pt x="632" y="250"/>
                  </a:lnTo>
                  <a:lnTo>
                    <a:pt x="619" y="227"/>
                  </a:lnTo>
                  <a:lnTo>
                    <a:pt x="605" y="207"/>
                  </a:lnTo>
                  <a:lnTo>
                    <a:pt x="588" y="186"/>
                  </a:lnTo>
                  <a:lnTo>
                    <a:pt x="631" y="143"/>
                  </a:lnTo>
                  <a:lnTo>
                    <a:pt x="641" y="156"/>
                  </a:lnTo>
                  <a:lnTo>
                    <a:pt x="652" y="168"/>
                  </a:lnTo>
                  <a:lnTo>
                    <a:pt x="660" y="181"/>
                  </a:lnTo>
                  <a:lnTo>
                    <a:pt x="670" y="194"/>
                  </a:lnTo>
                  <a:lnTo>
                    <a:pt x="677" y="208"/>
                  </a:lnTo>
                  <a:lnTo>
                    <a:pt x="685" y="222"/>
                  </a:lnTo>
                  <a:lnTo>
                    <a:pt x="692" y="237"/>
                  </a:lnTo>
                  <a:lnTo>
                    <a:pt x="698" y="252"/>
                  </a:lnTo>
                  <a:lnTo>
                    <a:pt x="704" y="266"/>
                  </a:lnTo>
                  <a:lnTo>
                    <a:pt x="708" y="281"/>
                  </a:lnTo>
                  <a:lnTo>
                    <a:pt x="713" y="296"/>
                  </a:lnTo>
                  <a:lnTo>
                    <a:pt x="715" y="312"/>
                  </a:lnTo>
                  <a:lnTo>
                    <a:pt x="719" y="328"/>
                  </a:lnTo>
                  <a:lnTo>
                    <a:pt x="720" y="344"/>
                  </a:lnTo>
                  <a:lnTo>
                    <a:pt x="721" y="361"/>
                  </a:lnTo>
                  <a:lnTo>
                    <a:pt x="721" y="377"/>
                  </a:lnTo>
                  <a:lnTo>
                    <a:pt x="721" y="395"/>
                  </a:lnTo>
                  <a:lnTo>
                    <a:pt x="720" y="412"/>
                  </a:lnTo>
                  <a:lnTo>
                    <a:pt x="717" y="429"/>
                  </a:lnTo>
                  <a:lnTo>
                    <a:pt x="715" y="446"/>
                  </a:lnTo>
                  <a:lnTo>
                    <a:pt x="710" y="463"/>
                  </a:lnTo>
                  <a:lnTo>
                    <a:pt x="707" y="480"/>
                  </a:lnTo>
                  <a:lnTo>
                    <a:pt x="700" y="496"/>
                  </a:lnTo>
                  <a:lnTo>
                    <a:pt x="694" y="511"/>
                  </a:lnTo>
                  <a:lnTo>
                    <a:pt x="687" y="527"/>
                  </a:lnTo>
                  <a:lnTo>
                    <a:pt x="680" y="542"/>
                  </a:lnTo>
                  <a:lnTo>
                    <a:pt x="671" y="556"/>
                  </a:lnTo>
                  <a:lnTo>
                    <a:pt x="663" y="570"/>
                  </a:lnTo>
                  <a:lnTo>
                    <a:pt x="653" y="583"/>
                  </a:lnTo>
                  <a:lnTo>
                    <a:pt x="642" y="596"/>
                  </a:lnTo>
                  <a:lnTo>
                    <a:pt x="631" y="610"/>
                  </a:lnTo>
                  <a:lnTo>
                    <a:pt x="620" y="621"/>
                  </a:lnTo>
                  <a:lnTo>
                    <a:pt x="608" y="633"/>
                  </a:lnTo>
                  <a:lnTo>
                    <a:pt x="596" y="644"/>
                  </a:lnTo>
                  <a:lnTo>
                    <a:pt x="583" y="653"/>
                  </a:lnTo>
                  <a:lnTo>
                    <a:pt x="569" y="663"/>
                  </a:lnTo>
                  <a:lnTo>
                    <a:pt x="555" y="673"/>
                  </a:lnTo>
                  <a:lnTo>
                    <a:pt x="540" y="681"/>
                  </a:lnTo>
                  <a:lnTo>
                    <a:pt x="526" y="689"/>
                  </a:lnTo>
                  <a:lnTo>
                    <a:pt x="510" y="696"/>
                  </a:lnTo>
                  <a:lnTo>
                    <a:pt x="494" y="702"/>
                  </a:lnTo>
                  <a:lnTo>
                    <a:pt x="478" y="707"/>
                  </a:lnTo>
                  <a:lnTo>
                    <a:pt x="462" y="712"/>
                  </a:lnTo>
                  <a:lnTo>
                    <a:pt x="446" y="715"/>
                  </a:lnTo>
                  <a:lnTo>
                    <a:pt x="429" y="719"/>
                  </a:lnTo>
                  <a:lnTo>
                    <a:pt x="412" y="720"/>
                  </a:lnTo>
                  <a:lnTo>
                    <a:pt x="393" y="723"/>
                  </a:lnTo>
                  <a:lnTo>
                    <a:pt x="375" y="723"/>
                  </a:lnTo>
                  <a:close/>
                  <a:moveTo>
                    <a:pt x="301" y="422"/>
                  </a:moveTo>
                  <a:lnTo>
                    <a:pt x="300" y="434"/>
                  </a:lnTo>
                  <a:lnTo>
                    <a:pt x="296" y="445"/>
                  </a:lnTo>
                  <a:lnTo>
                    <a:pt x="290" y="455"/>
                  </a:lnTo>
                  <a:lnTo>
                    <a:pt x="283" y="464"/>
                  </a:lnTo>
                  <a:lnTo>
                    <a:pt x="274" y="471"/>
                  </a:lnTo>
                  <a:lnTo>
                    <a:pt x="263" y="477"/>
                  </a:lnTo>
                  <a:lnTo>
                    <a:pt x="252" y="481"/>
                  </a:lnTo>
                  <a:lnTo>
                    <a:pt x="240" y="482"/>
                  </a:lnTo>
                  <a:lnTo>
                    <a:pt x="228" y="481"/>
                  </a:lnTo>
                  <a:lnTo>
                    <a:pt x="217" y="477"/>
                  </a:lnTo>
                  <a:lnTo>
                    <a:pt x="206" y="471"/>
                  </a:lnTo>
                  <a:lnTo>
                    <a:pt x="198" y="464"/>
                  </a:lnTo>
                  <a:lnTo>
                    <a:pt x="191" y="455"/>
                  </a:lnTo>
                  <a:lnTo>
                    <a:pt x="184" y="445"/>
                  </a:lnTo>
                  <a:lnTo>
                    <a:pt x="181" y="434"/>
                  </a:lnTo>
                  <a:lnTo>
                    <a:pt x="180" y="422"/>
                  </a:lnTo>
                  <a:lnTo>
                    <a:pt x="181" y="409"/>
                  </a:lnTo>
                  <a:lnTo>
                    <a:pt x="184" y="398"/>
                  </a:lnTo>
                  <a:lnTo>
                    <a:pt x="191" y="389"/>
                  </a:lnTo>
                  <a:lnTo>
                    <a:pt x="198" y="379"/>
                  </a:lnTo>
                  <a:lnTo>
                    <a:pt x="206" y="372"/>
                  </a:lnTo>
                  <a:lnTo>
                    <a:pt x="217" y="367"/>
                  </a:lnTo>
                  <a:lnTo>
                    <a:pt x="228" y="363"/>
                  </a:lnTo>
                  <a:lnTo>
                    <a:pt x="240" y="362"/>
                  </a:lnTo>
                  <a:lnTo>
                    <a:pt x="252" y="363"/>
                  </a:lnTo>
                  <a:lnTo>
                    <a:pt x="263" y="367"/>
                  </a:lnTo>
                  <a:lnTo>
                    <a:pt x="274" y="372"/>
                  </a:lnTo>
                  <a:lnTo>
                    <a:pt x="283" y="379"/>
                  </a:lnTo>
                  <a:lnTo>
                    <a:pt x="290" y="389"/>
                  </a:lnTo>
                  <a:lnTo>
                    <a:pt x="296" y="398"/>
                  </a:lnTo>
                  <a:lnTo>
                    <a:pt x="300" y="409"/>
                  </a:lnTo>
                  <a:lnTo>
                    <a:pt x="301" y="422"/>
                  </a:lnTo>
                  <a:close/>
                  <a:moveTo>
                    <a:pt x="271" y="332"/>
                  </a:moveTo>
                  <a:lnTo>
                    <a:pt x="259" y="330"/>
                  </a:lnTo>
                  <a:lnTo>
                    <a:pt x="246" y="327"/>
                  </a:lnTo>
                  <a:lnTo>
                    <a:pt x="237" y="321"/>
                  </a:lnTo>
                  <a:lnTo>
                    <a:pt x="228" y="313"/>
                  </a:lnTo>
                  <a:lnTo>
                    <a:pt x="221" y="305"/>
                  </a:lnTo>
                  <a:lnTo>
                    <a:pt x="215" y="295"/>
                  </a:lnTo>
                  <a:lnTo>
                    <a:pt x="211" y="283"/>
                  </a:lnTo>
                  <a:lnTo>
                    <a:pt x="210" y="271"/>
                  </a:lnTo>
                  <a:lnTo>
                    <a:pt x="211" y="259"/>
                  </a:lnTo>
                  <a:lnTo>
                    <a:pt x="215" y="248"/>
                  </a:lnTo>
                  <a:lnTo>
                    <a:pt x="221" y="238"/>
                  </a:lnTo>
                  <a:lnTo>
                    <a:pt x="228" y="228"/>
                  </a:lnTo>
                  <a:lnTo>
                    <a:pt x="237" y="221"/>
                  </a:lnTo>
                  <a:lnTo>
                    <a:pt x="246" y="216"/>
                  </a:lnTo>
                  <a:lnTo>
                    <a:pt x="259" y="213"/>
                  </a:lnTo>
                  <a:lnTo>
                    <a:pt x="271" y="211"/>
                  </a:lnTo>
                  <a:lnTo>
                    <a:pt x="283" y="213"/>
                  </a:lnTo>
                  <a:lnTo>
                    <a:pt x="294" y="216"/>
                  </a:lnTo>
                  <a:lnTo>
                    <a:pt x="303" y="221"/>
                  </a:lnTo>
                  <a:lnTo>
                    <a:pt x="313" y="228"/>
                  </a:lnTo>
                  <a:lnTo>
                    <a:pt x="320" y="238"/>
                  </a:lnTo>
                  <a:lnTo>
                    <a:pt x="325" y="248"/>
                  </a:lnTo>
                  <a:lnTo>
                    <a:pt x="329" y="259"/>
                  </a:lnTo>
                  <a:lnTo>
                    <a:pt x="330" y="271"/>
                  </a:lnTo>
                  <a:lnTo>
                    <a:pt x="329" y="283"/>
                  </a:lnTo>
                  <a:lnTo>
                    <a:pt x="325" y="295"/>
                  </a:lnTo>
                  <a:lnTo>
                    <a:pt x="320" y="305"/>
                  </a:lnTo>
                  <a:lnTo>
                    <a:pt x="313" y="313"/>
                  </a:lnTo>
                  <a:lnTo>
                    <a:pt x="303" y="321"/>
                  </a:lnTo>
                  <a:lnTo>
                    <a:pt x="294" y="327"/>
                  </a:lnTo>
                  <a:lnTo>
                    <a:pt x="283" y="330"/>
                  </a:lnTo>
                  <a:lnTo>
                    <a:pt x="271" y="332"/>
                  </a:lnTo>
                  <a:close/>
                  <a:moveTo>
                    <a:pt x="391" y="482"/>
                  </a:moveTo>
                  <a:lnTo>
                    <a:pt x="403" y="483"/>
                  </a:lnTo>
                  <a:lnTo>
                    <a:pt x="414" y="487"/>
                  </a:lnTo>
                  <a:lnTo>
                    <a:pt x="425" y="492"/>
                  </a:lnTo>
                  <a:lnTo>
                    <a:pt x="433" y="499"/>
                  </a:lnTo>
                  <a:lnTo>
                    <a:pt x="441" y="509"/>
                  </a:lnTo>
                  <a:lnTo>
                    <a:pt x="446" y="519"/>
                  </a:lnTo>
                  <a:lnTo>
                    <a:pt x="449" y="530"/>
                  </a:lnTo>
                  <a:lnTo>
                    <a:pt x="450" y="542"/>
                  </a:lnTo>
                  <a:lnTo>
                    <a:pt x="449" y="554"/>
                  </a:lnTo>
                  <a:lnTo>
                    <a:pt x="447" y="566"/>
                  </a:lnTo>
                  <a:lnTo>
                    <a:pt x="441" y="576"/>
                  </a:lnTo>
                  <a:lnTo>
                    <a:pt x="433" y="584"/>
                  </a:lnTo>
                  <a:lnTo>
                    <a:pt x="425" y="591"/>
                  </a:lnTo>
                  <a:lnTo>
                    <a:pt x="414" y="598"/>
                  </a:lnTo>
                  <a:lnTo>
                    <a:pt x="403" y="601"/>
                  </a:lnTo>
                  <a:lnTo>
                    <a:pt x="391" y="602"/>
                  </a:lnTo>
                  <a:lnTo>
                    <a:pt x="379" y="601"/>
                  </a:lnTo>
                  <a:lnTo>
                    <a:pt x="368" y="598"/>
                  </a:lnTo>
                  <a:lnTo>
                    <a:pt x="357" y="591"/>
                  </a:lnTo>
                  <a:lnTo>
                    <a:pt x="348" y="584"/>
                  </a:lnTo>
                  <a:lnTo>
                    <a:pt x="341" y="576"/>
                  </a:lnTo>
                  <a:lnTo>
                    <a:pt x="335" y="566"/>
                  </a:lnTo>
                  <a:lnTo>
                    <a:pt x="331" y="554"/>
                  </a:lnTo>
                  <a:lnTo>
                    <a:pt x="330" y="542"/>
                  </a:lnTo>
                  <a:lnTo>
                    <a:pt x="331" y="530"/>
                  </a:lnTo>
                  <a:lnTo>
                    <a:pt x="335" y="519"/>
                  </a:lnTo>
                  <a:lnTo>
                    <a:pt x="341" y="509"/>
                  </a:lnTo>
                  <a:lnTo>
                    <a:pt x="348" y="499"/>
                  </a:lnTo>
                  <a:lnTo>
                    <a:pt x="357" y="492"/>
                  </a:lnTo>
                  <a:lnTo>
                    <a:pt x="368" y="487"/>
                  </a:lnTo>
                  <a:lnTo>
                    <a:pt x="379" y="483"/>
                  </a:lnTo>
                  <a:lnTo>
                    <a:pt x="391" y="482"/>
                  </a:lnTo>
                  <a:close/>
                  <a:moveTo>
                    <a:pt x="449" y="305"/>
                  </a:moveTo>
                  <a:lnTo>
                    <a:pt x="460" y="294"/>
                  </a:lnTo>
                  <a:lnTo>
                    <a:pt x="503" y="250"/>
                  </a:lnTo>
                  <a:lnTo>
                    <a:pt x="512" y="239"/>
                  </a:lnTo>
                  <a:lnTo>
                    <a:pt x="523" y="230"/>
                  </a:lnTo>
                  <a:lnTo>
                    <a:pt x="530" y="239"/>
                  </a:lnTo>
                  <a:lnTo>
                    <a:pt x="537" y="249"/>
                  </a:lnTo>
                  <a:lnTo>
                    <a:pt x="540" y="260"/>
                  </a:lnTo>
                  <a:lnTo>
                    <a:pt x="541" y="271"/>
                  </a:lnTo>
                  <a:lnTo>
                    <a:pt x="540" y="283"/>
                  </a:lnTo>
                  <a:lnTo>
                    <a:pt x="537" y="295"/>
                  </a:lnTo>
                  <a:lnTo>
                    <a:pt x="530" y="305"/>
                  </a:lnTo>
                  <a:lnTo>
                    <a:pt x="523" y="313"/>
                  </a:lnTo>
                  <a:lnTo>
                    <a:pt x="515" y="321"/>
                  </a:lnTo>
                  <a:lnTo>
                    <a:pt x="504" y="327"/>
                  </a:lnTo>
                  <a:lnTo>
                    <a:pt x="493" y="330"/>
                  </a:lnTo>
                  <a:lnTo>
                    <a:pt x="481" y="332"/>
                  </a:lnTo>
                  <a:lnTo>
                    <a:pt x="469" y="330"/>
                  </a:lnTo>
                  <a:lnTo>
                    <a:pt x="458" y="327"/>
                  </a:lnTo>
                  <a:lnTo>
                    <a:pt x="448" y="322"/>
                  </a:lnTo>
                  <a:lnTo>
                    <a:pt x="438" y="315"/>
                  </a:lnTo>
                  <a:lnTo>
                    <a:pt x="449" y="305"/>
                  </a:lnTo>
                  <a:close/>
                  <a:moveTo>
                    <a:pt x="571" y="422"/>
                  </a:moveTo>
                  <a:lnTo>
                    <a:pt x="569" y="434"/>
                  </a:lnTo>
                  <a:lnTo>
                    <a:pt x="567" y="445"/>
                  </a:lnTo>
                  <a:lnTo>
                    <a:pt x="561" y="455"/>
                  </a:lnTo>
                  <a:lnTo>
                    <a:pt x="554" y="464"/>
                  </a:lnTo>
                  <a:lnTo>
                    <a:pt x="545" y="471"/>
                  </a:lnTo>
                  <a:lnTo>
                    <a:pt x="534" y="477"/>
                  </a:lnTo>
                  <a:lnTo>
                    <a:pt x="523" y="481"/>
                  </a:lnTo>
                  <a:lnTo>
                    <a:pt x="511" y="482"/>
                  </a:lnTo>
                  <a:lnTo>
                    <a:pt x="499" y="481"/>
                  </a:lnTo>
                  <a:lnTo>
                    <a:pt x="488" y="477"/>
                  </a:lnTo>
                  <a:lnTo>
                    <a:pt x="477" y="471"/>
                  </a:lnTo>
                  <a:lnTo>
                    <a:pt x="469" y="464"/>
                  </a:lnTo>
                  <a:lnTo>
                    <a:pt x="461" y="455"/>
                  </a:lnTo>
                  <a:lnTo>
                    <a:pt x="455" y="445"/>
                  </a:lnTo>
                  <a:lnTo>
                    <a:pt x="452" y="434"/>
                  </a:lnTo>
                  <a:lnTo>
                    <a:pt x="450" y="422"/>
                  </a:lnTo>
                  <a:lnTo>
                    <a:pt x="452" y="409"/>
                  </a:lnTo>
                  <a:lnTo>
                    <a:pt x="455" y="398"/>
                  </a:lnTo>
                  <a:lnTo>
                    <a:pt x="461" y="389"/>
                  </a:lnTo>
                  <a:lnTo>
                    <a:pt x="469" y="379"/>
                  </a:lnTo>
                  <a:lnTo>
                    <a:pt x="477" y="372"/>
                  </a:lnTo>
                  <a:lnTo>
                    <a:pt x="488" y="367"/>
                  </a:lnTo>
                  <a:lnTo>
                    <a:pt x="499" y="363"/>
                  </a:lnTo>
                  <a:lnTo>
                    <a:pt x="511" y="362"/>
                  </a:lnTo>
                  <a:lnTo>
                    <a:pt x="523" y="363"/>
                  </a:lnTo>
                  <a:lnTo>
                    <a:pt x="534" y="367"/>
                  </a:lnTo>
                  <a:lnTo>
                    <a:pt x="545" y="372"/>
                  </a:lnTo>
                  <a:lnTo>
                    <a:pt x="554" y="379"/>
                  </a:lnTo>
                  <a:lnTo>
                    <a:pt x="561" y="389"/>
                  </a:lnTo>
                  <a:lnTo>
                    <a:pt x="567" y="398"/>
                  </a:lnTo>
                  <a:lnTo>
                    <a:pt x="569" y="409"/>
                  </a:lnTo>
                  <a:lnTo>
                    <a:pt x="571" y="422"/>
                  </a:lnTo>
                  <a:close/>
                  <a:moveTo>
                    <a:pt x="641" y="112"/>
                  </a:moveTo>
                  <a:lnTo>
                    <a:pt x="640" y="109"/>
                  </a:lnTo>
                  <a:lnTo>
                    <a:pt x="636" y="108"/>
                  </a:lnTo>
                  <a:lnTo>
                    <a:pt x="634" y="108"/>
                  </a:lnTo>
                  <a:lnTo>
                    <a:pt x="631" y="107"/>
                  </a:lnTo>
                  <a:lnTo>
                    <a:pt x="628" y="108"/>
                  </a:lnTo>
                  <a:lnTo>
                    <a:pt x="625" y="108"/>
                  </a:lnTo>
                  <a:lnTo>
                    <a:pt x="623" y="109"/>
                  </a:lnTo>
                  <a:lnTo>
                    <a:pt x="620" y="112"/>
                  </a:lnTo>
                  <a:lnTo>
                    <a:pt x="556" y="175"/>
                  </a:lnTo>
                  <a:lnTo>
                    <a:pt x="391" y="340"/>
                  </a:lnTo>
                  <a:lnTo>
                    <a:pt x="391" y="106"/>
                  </a:lnTo>
                  <a:lnTo>
                    <a:pt x="391" y="16"/>
                  </a:lnTo>
                  <a:lnTo>
                    <a:pt x="390" y="10"/>
                  </a:lnTo>
                  <a:lnTo>
                    <a:pt x="386" y="5"/>
                  </a:lnTo>
                  <a:lnTo>
                    <a:pt x="381" y="1"/>
                  </a:lnTo>
                  <a:lnTo>
                    <a:pt x="375" y="0"/>
                  </a:lnTo>
                  <a:lnTo>
                    <a:pt x="357" y="1"/>
                  </a:lnTo>
                  <a:lnTo>
                    <a:pt x="337" y="3"/>
                  </a:lnTo>
                  <a:lnTo>
                    <a:pt x="318" y="5"/>
                  </a:lnTo>
                  <a:lnTo>
                    <a:pt x="300" y="9"/>
                  </a:lnTo>
                  <a:lnTo>
                    <a:pt x="282" y="12"/>
                  </a:lnTo>
                  <a:lnTo>
                    <a:pt x="263" y="17"/>
                  </a:lnTo>
                  <a:lnTo>
                    <a:pt x="246" y="23"/>
                  </a:lnTo>
                  <a:lnTo>
                    <a:pt x="229" y="31"/>
                  </a:lnTo>
                  <a:lnTo>
                    <a:pt x="212" y="38"/>
                  </a:lnTo>
                  <a:lnTo>
                    <a:pt x="197" y="46"/>
                  </a:lnTo>
                  <a:lnTo>
                    <a:pt x="181" y="56"/>
                  </a:lnTo>
                  <a:lnTo>
                    <a:pt x="165" y="66"/>
                  </a:lnTo>
                  <a:lnTo>
                    <a:pt x="150" y="75"/>
                  </a:lnTo>
                  <a:lnTo>
                    <a:pt x="137" y="88"/>
                  </a:lnTo>
                  <a:lnTo>
                    <a:pt x="123" y="99"/>
                  </a:lnTo>
                  <a:lnTo>
                    <a:pt x="110" y="112"/>
                  </a:lnTo>
                  <a:lnTo>
                    <a:pt x="97" y="124"/>
                  </a:lnTo>
                  <a:lnTo>
                    <a:pt x="86" y="139"/>
                  </a:lnTo>
                  <a:lnTo>
                    <a:pt x="74" y="152"/>
                  </a:lnTo>
                  <a:lnTo>
                    <a:pt x="64" y="167"/>
                  </a:lnTo>
                  <a:lnTo>
                    <a:pt x="55" y="182"/>
                  </a:lnTo>
                  <a:lnTo>
                    <a:pt x="45" y="198"/>
                  </a:lnTo>
                  <a:lnTo>
                    <a:pt x="36" y="214"/>
                  </a:lnTo>
                  <a:lnTo>
                    <a:pt x="29" y="231"/>
                  </a:lnTo>
                  <a:lnTo>
                    <a:pt x="23" y="248"/>
                  </a:lnTo>
                  <a:lnTo>
                    <a:pt x="17" y="265"/>
                  </a:lnTo>
                  <a:lnTo>
                    <a:pt x="12" y="283"/>
                  </a:lnTo>
                  <a:lnTo>
                    <a:pt x="7" y="301"/>
                  </a:lnTo>
                  <a:lnTo>
                    <a:pt x="4" y="320"/>
                  </a:lnTo>
                  <a:lnTo>
                    <a:pt x="1" y="339"/>
                  </a:lnTo>
                  <a:lnTo>
                    <a:pt x="0" y="357"/>
                  </a:lnTo>
                  <a:lnTo>
                    <a:pt x="0" y="377"/>
                  </a:lnTo>
                  <a:lnTo>
                    <a:pt x="0" y="396"/>
                  </a:lnTo>
                  <a:lnTo>
                    <a:pt x="1" y="415"/>
                  </a:lnTo>
                  <a:lnTo>
                    <a:pt x="4" y="434"/>
                  </a:lnTo>
                  <a:lnTo>
                    <a:pt x="7" y="452"/>
                  </a:lnTo>
                  <a:lnTo>
                    <a:pt x="12" y="470"/>
                  </a:lnTo>
                  <a:lnTo>
                    <a:pt x="17" y="488"/>
                  </a:lnTo>
                  <a:lnTo>
                    <a:pt x="23" y="505"/>
                  </a:lnTo>
                  <a:lnTo>
                    <a:pt x="29" y="523"/>
                  </a:lnTo>
                  <a:lnTo>
                    <a:pt x="36" y="539"/>
                  </a:lnTo>
                  <a:lnTo>
                    <a:pt x="45" y="556"/>
                  </a:lnTo>
                  <a:lnTo>
                    <a:pt x="55" y="572"/>
                  </a:lnTo>
                  <a:lnTo>
                    <a:pt x="64" y="587"/>
                  </a:lnTo>
                  <a:lnTo>
                    <a:pt x="74" y="601"/>
                  </a:lnTo>
                  <a:lnTo>
                    <a:pt x="86" y="616"/>
                  </a:lnTo>
                  <a:lnTo>
                    <a:pt x="97" y="629"/>
                  </a:lnTo>
                  <a:lnTo>
                    <a:pt x="110" y="642"/>
                  </a:lnTo>
                  <a:lnTo>
                    <a:pt x="123" y="655"/>
                  </a:lnTo>
                  <a:lnTo>
                    <a:pt x="137" y="667"/>
                  </a:lnTo>
                  <a:lnTo>
                    <a:pt x="150" y="678"/>
                  </a:lnTo>
                  <a:lnTo>
                    <a:pt x="165" y="689"/>
                  </a:lnTo>
                  <a:lnTo>
                    <a:pt x="181" y="698"/>
                  </a:lnTo>
                  <a:lnTo>
                    <a:pt x="197" y="707"/>
                  </a:lnTo>
                  <a:lnTo>
                    <a:pt x="212" y="715"/>
                  </a:lnTo>
                  <a:lnTo>
                    <a:pt x="229" y="723"/>
                  </a:lnTo>
                  <a:lnTo>
                    <a:pt x="246" y="730"/>
                  </a:lnTo>
                  <a:lnTo>
                    <a:pt x="263" y="736"/>
                  </a:lnTo>
                  <a:lnTo>
                    <a:pt x="282" y="741"/>
                  </a:lnTo>
                  <a:lnTo>
                    <a:pt x="300" y="744"/>
                  </a:lnTo>
                  <a:lnTo>
                    <a:pt x="318" y="748"/>
                  </a:lnTo>
                  <a:lnTo>
                    <a:pt x="337" y="751"/>
                  </a:lnTo>
                  <a:lnTo>
                    <a:pt x="357" y="752"/>
                  </a:lnTo>
                  <a:lnTo>
                    <a:pt x="375" y="753"/>
                  </a:lnTo>
                  <a:lnTo>
                    <a:pt x="395" y="752"/>
                  </a:lnTo>
                  <a:lnTo>
                    <a:pt x="414" y="751"/>
                  </a:lnTo>
                  <a:lnTo>
                    <a:pt x="433" y="748"/>
                  </a:lnTo>
                  <a:lnTo>
                    <a:pt x="452" y="744"/>
                  </a:lnTo>
                  <a:lnTo>
                    <a:pt x="470" y="741"/>
                  </a:lnTo>
                  <a:lnTo>
                    <a:pt x="487" y="736"/>
                  </a:lnTo>
                  <a:lnTo>
                    <a:pt x="505" y="730"/>
                  </a:lnTo>
                  <a:lnTo>
                    <a:pt x="522" y="723"/>
                  </a:lnTo>
                  <a:lnTo>
                    <a:pt x="539" y="715"/>
                  </a:lnTo>
                  <a:lnTo>
                    <a:pt x="555" y="707"/>
                  </a:lnTo>
                  <a:lnTo>
                    <a:pt x="571" y="698"/>
                  </a:lnTo>
                  <a:lnTo>
                    <a:pt x="585" y="689"/>
                  </a:lnTo>
                  <a:lnTo>
                    <a:pt x="601" y="678"/>
                  </a:lnTo>
                  <a:lnTo>
                    <a:pt x="614" y="667"/>
                  </a:lnTo>
                  <a:lnTo>
                    <a:pt x="629" y="655"/>
                  </a:lnTo>
                  <a:lnTo>
                    <a:pt x="641" y="642"/>
                  </a:lnTo>
                  <a:lnTo>
                    <a:pt x="654" y="629"/>
                  </a:lnTo>
                  <a:lnTo>
                    <a:pt x="665" y="616"/>
                  </a:lnTo>
                  <a:lnTo>
                    <a:pt x="677" y="601"/>
                  </a:lnTo>
                  <a:lnTo>
                    <a:pt x="687" y="587"/>
                  </a:lnTo>
                  <a:lnTo>
                    <a:pt x="697" y="572"/>
                  </a:lnTo>
                  <a:lnTo>
                    <a:pt x="707" y="556"/>
                  </a:lnTo>
                  <a:lnTo>
                    <a:pt x="715" y="539"/>
                  </a:lnTo>
                  <a:lnTo>
                    <a:pt x="722" y="523"/>
                  </a:lnTo>
                  <a:lnTo>
                    <a:pt x="728" y="505"/>
                  </a:lnTo>
                  <a:lnTo>
                    <a:pt x="734" y="488"/>
                  </a:lnTo>
                  <a:lnTo>
                    <a:pt x="739" y="470"/>
                  </a:lnTo>
                  <a:lnTo>
                    <a:pt x="744" y="452"/>
                  </a:lnTo>
                  <a:lnTo>
                    <a:pt x="748" y="434"/>
                  </a:lnTo>
                  <a:lnTo>
                    <a:pt x="750" y="415"/>
                  </a:lnTo>
                  <a:lnTo>
                    <a:pt x="751" y="396"/>
                  </a:lnTo>
                  <a:lnTo>
                    <a:pt x="751" y="377"/>
                  </a:lnTo>
                  <a:lnTo>
                    <a:pt x="751" y="358"/>
                  </a:lnTo>
                  <a:lnTo>
                    <a:pt x="750" y="340"/>
                  </a:lnTo>
                  <a:lnTo>
                    <a:pt x="748" y="322"/>
                  </a:lnTo>
                  <a:lnTo>
                    <a:pt x="744" y="304"/>
                  </a:lnTo>
                  <a:lnTo>
                    <a:pt x="741" y="286"/>
                  </a:lnTo>
                  <a:lnTo>
                    <a:pt x="736" y="267"/>
                  </a:lnTo>
                  <a:lnTo>
                    <a:pt x="730" y="250"/>
                  </a:lnTo>
                  <a:lnTo>
                    <a:pt x="724" y="233"/>
                  </a:lnTo>
                  <a:lnTo>
                    <a:pt x="716" y="216"/>
                  </a:lnTo>
                  <a:lnTo>
                    <a:pt x="708" y="201"/>
                  </a:lnTo>
                  <a:lnTo>
                    <a:pt x="698" y="185"/>
                  </a:lnTo>
                  <a:lnTo>
                    <a:pt x="688" y="169"/>
                  </a:lnTo>
                  <a:lnTo>
                    <a:pt x="679" y="154"/>
                  </a:lnTo>
                  <a:lnTo>
                    <a:pt x="666" y="140"/>
                  </a:lnTo>
                  <a:lnTo>
                    <a:pt x="654" y="125"/>
                  </a:lnTo>
                  <a:lnTo>
                    <a:pt x="641"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1296">
              <a:extLst>
                <a:ext uri="{FF2B5EF4-FFF2-40B4-BE49-F238E27FC236}">
                  <a16:creationId xmlns:a16="http://schemas.microsoft.com/office/drawing/2014/main" id="{DEB08EDB-4D68-4954-9F4C-E040B3601F13}"/>
                </a:ext>
              </a:extLst>
            </p:cNvPr>
            <p:cNvSpPr>
              <a:spLocks noEditPoints="1"/>
            </p:cNvSpPr>
            <p:nvPr/>
          </p:nvSpPr>
          <p:spPr bwMode="auto">
            <a:xfrm>
              <a:off x="5600700" y="2500313"/>
              <a:ext cx="90488" cy="123825"/>
            </a:xfrm>
            <a:custGeom>
              <a:avLst/>
              <a:gdLst>
                <a:gd name="T0" fmla="*/ 45 w 286"/>
                <a:gd name="T1" fmla="*/ 31 h 391"/>
                <a:gd name="T2" fmla="*/ 75 w 286"/>
                <a:gd name="T3" fmla="*/ 35 h 391"/>
                <a:gd name="T4" fmla="*/ 105 w 286"/>
                <a:gd name="T5" fmla="*/ 42 h 391"/>
                <a:gd name="T6" fmla="*/ 134 w 286"/>
                <a:gd name="T7" fmla="*/ 51 h 391"/>
                <a:gd name="T8" fmla="*/ 162 w 286"/>
                <a:gd name="T9" fmla="*/ 62 h 391"/>
                <a:gd name="T10" fmla="*/ 188 w 286"/>
                <a:gd name="T11" fmla="*/ 76 h 391"/>
                <a:gd name="T12" fmla="*/ 214 w 286"/>
                <a:gd name="T13" fmla="*/ 92 h 391"/>
                <a:gd name="T14" fmla="*/ 237 w 286"/>
                <a:gd name="T15" fmla="*/ 110 h 391"/>
                <a:gd name="T16" fmla="*/ 205 w 286"/>
                <a:gd name="T17" fmla="*/ 164 h 391"/>
                <a:gd name="T18" fmla="*/ 167 w 286"/>
                <a:gd name="T19" fmla="*/ 133 h 391"/>
                <a:gd name="T20" fmla="*/ 124 w 286"/>
                <a:gd name="T21" fmla="*/ 112 h 391"/>
                <a:gd name="T22" fmla="*/ 78 w 286"/>
                <a:gd name="T23" fmla="*/ 97 h 391"/>
                <a:gd name="T24" fmla="*/ 29 w 286"/>
                <a:gd name="T25" fmla="*/ 91 h 391"/>
                <a:gd name="T26" fmla="*/ 152 w 286"/>
                <a:gd name="T27" fmla="*/ 238 h 391"/>
                <a:gd name="T28" fmla="*/ 100 w 286"/>
                <a:gd name="T29" fmla="*/ 292 h 391"/>
                <a:gd name="T30" fmla="*/ 78 w 286"/>
                <a:gd name="T31" fmla="*/ 313 h 391"/>
                <a:gd name="T32" fmla="*/ 65 w 286"/>
                <a:gd name="T33" fmla="*/ 294 h 391"/>
                <a:gd name="T34" fmla="*/ 61 w 286"/>
                <a:gd name="T35" fmla="*/ 269 h 391"/>
                <a:gd name="T36" fmla="*/ 65 w 286"/>
                <a:gd name="T37" fmla="*/ 246 h 391"/>
                <a:gd name="T38" fmla="*/ 78 w 286"/>
                <a:gd name="T39" fmla="*/ 227 h 391"/>
                <a:gd name="T40" fmla="*/ 97 w 286"/>
                <a:gd name="T41" fmla="*/ 215 h 391"/>
                <a:gd name="T42" fmla="*/ 120 w 286"/>
                <a:gd name="T43" fmla="*/ 210 h 391"/>
                <a:gd name="T44" fmla="*/ 133 w 286"/>
                <a:gd name="T45" fmla="*/ 211 h 391"/>
                <a:gd name="T46" fmla="*/ 143 w 286"/>
                <a:gd name="T47" fmla="*/ 215 h 391"/>
                <a:gd name="T48" fmla="*/ 163 w 286"/>
                <a:gd name="T49" fmla="*/ 228 h 391"/>
                <a:gd name="T50" fmla="*/ 9 w 286"/>
                <a:gd name="T51" fmla="*/ 391 h 391"/>
                <a:gd name="T52" fmla="*/ 15 w 286"/>
                <a:gd name="T53" fmla="*/ 391 h 391"/>
                <a:gd name="T54" fmla="*/ 26 w 286"/>
                <a:gd name="T55" fmla="*/ 386 h 391"/>
                <a:gd name="T56" fmla="*/ 218 w 286"/>
                <a:gd name="T57" fmla="*/ 195 h 391"/>
                <a:gd name="T58" fmla="*/ 218 w 286"/>
                <a:gd name="T59" fmla="*/ 193 h 391"/>
                <a:gd name="T60" fmla="*/ 283 w 286"/>
                <a:gd name="T61" fmla="*/ 129 h 391"/>
                <a:gd name="T62" fmla="*/ 286 w 286"/>
                <a:gd name="T63" fmla="*/ 123 h 391"/>
                <a:gd name="T64" fmla="*/ 284 w 286"/>
                <a:gd name="T65" fmla="*/ 114 h 391"/>
                <a:gd name="T66" fmla="*/ 267 w 286"/>
                <a:gd name="T67" fmla="*/ 96 h 391"/>
                <a:gd name="T68" fmla="*/ 239 w 286"/>
                <a:gd name="T69" fmla="*/ 73 h 391"/>
                <a:gd name="T70" fmla="*/ 208 w 286"/>
                <a:gd name="T71" fmla="*/ 52 h 391"/>
                <a:gd name="T72" fmla="*/ 176 w 286"/>
                <a:gd name="T73" fmla="*/ 35 h 391"/>
                <a:gd name="T74" fmla="*/ 142 w 286"/>
                <a:gd name="T75" fmla="*/ 21 h 391"/>
                <a:gd name="T76" fmla="*/ 107 w 286"/>
                <a:gd name="T77" fmla="*/ 11 h 391"/>
                <a:gd name="T78" fmla="*/ 71 w 286"/>
                <a:gd name="T79" fmla="*/ 4 h 391"/>
                <a:gd name="T80" fmla="*/ 34 w 286"/>
                <a:gd name="T81" fmla="*/ 0 h 391"/>
                <a:gd name="T82" fmla="*/ 9 w 286"/>
                <a:gd name="T83" fmla="*/ 1 h 391"/>
                <a:gd name="T84" fmla="*/ 1 w 286"/>
                <a:gd name="T85" fmla="*/ 8 h 391"/>
                <a:gd name="T86" fmla="*/ 0 w 286"/>
                <a:gd name="T87" fmla="*/ 104 h 391"/>
                <a:gd name="T88" fmla="*/ 0 w 286"/>
                <a:gd name="T89" fmla="*/ 380 h 391"/>
                <a:gd name="T90" fmla="*/ 5 w 286"/>
                <a:gd name="T91" fmla="*/ 387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6" h="391">
                  <a:moveTo>
                    <a:pt x="29" y="31"/>
                  </a:moveTo>
                  <a:lnTo>
                    <a:pt x="45" y="31"/>
                  </a:lnTo>
                  <a:lnTo>
                    <a:pt x="61" y="34"/>
                  </a:lnTo>
                  <a:lnTo>
                    <a:pt x="75" y="35"/>
                  </a:lnTo>
                  <a:lnTo>
                    <a:pt x="90" y="39"/>
                  </a:lnTo>
                  <a:lnTo>
                    <a:pt x="105" y="42"/>
                  </a:lnTo>
                  <a:lnTo>
                    <a:pt x="119" y="46"/>
                  </a:lnTo>
                  <a:lnTo>
                    <a:pt x="134" y="51"/>
                  </a:lnTo>
                  <a:lnTo>
                    <a:pt x="148" y="56"/>
                  </a:lnTo>
                  <a:lnTo>
                    <a:pt x="162" y="62"/>
                  </a:lnTo>
                  <a:lnTo>
                    <a:pt x="175" y="69"/>
                  </a:lnTo>
                  <a:lnTo>
                    <a:pt x="188" y="76"/>
                  </a:lnTo>
                  <a:lnTo>
                    <a:pt x="201" y="84"/>
                  </a:lnTo>
                  <a:lnTo>
                    <a:pt x="214" y="92"/>
                  </a:lnTo>
                  <a:lnTo>
                    <a:pt x="226" y="102"/>
                  </a:lnTo>
                  <a:lnTo>
                    <a:pt x="237" y="110"/>
                  </a:lnTo>
                  <a:lnTo>
                    <a:pt x="249" y="121"/>
                  </a:lnTo>
                  <a:lnTo>
                    <a:pt x="205" y="164"/>
                  </a:lnTo>
                  <a:lnTo>
                    <a:pt x="187" y="148"/>
                  </a:lnTo>
                  <a:lnTo>
                    <a:pt x="167" y="133"/>
                  </a:lnTo>
                  <a:lnTo>
                    <a:pt x="146" y="123"/>
                  </a:lnTo>
                  <a:lnTo>
                    <a:pt x="124" y="112"/>
                  </a:lnTo>
                  <a:lnTo>
                    <a:pt x="101" y="103"/>
                  </a:lnTo>
                  <a:lnTo>
                    <a:pt x="78" y="97"/>
                  </a:lnTo>
                  <a:lnTo>
                    <a:pt x="55" y="93"/>
                  </a:lnTo>
                  <a:lnTo>
                    <a:pt x="29" y="91"/>
                  </a:lnTo>
                  <a:lnTo>
                    <a:pt x="29" y="31"/>
                  </a:lnTo>
                  <a:close/>
                  <a:moveTo>
                    <a:pt x="152" y="238"/>
                  </a:moveTo>
                  <a:lnTo>
                    <a:pt x="142" y="249"/>
                  </a:lnTo>
                  <a:lnTo>
                    <a:pt x="100" y="292"/>
                  </a:lnTo>
                  <a:lnTo>
                    <a:pt x="89" y="303"/>
                  </a:lnTo>
                  <a:lnTo>
                    <a:pt x="78" y="313"/>
                  </a:lnTo>
                  <a:lnTo>
                    <a:pt x="71" y="303"/>
                  </a:lnTo>
                  <a:lnTo>
                    <a:pt x="65" y="294"/>
                  </a:lnTo>
                  <a:lnTo>
                    <a:pt x="61" y="282"/>
                  </a:lnTo>
                  <a:lnTo>
                    <a:pt x="61" y="269"/>
                  </a:lnTo>
                  <a:lnTo>
                    <a:pt x="62" y="258"/>
                  </a:lnTo>
                  <a:lnTo>
                    <a:pt x="65" y="246"/>
                  </a:lnTo>
                  <a:lnTo>
                    <a:pt x="71" y="237"/>
                  </a:lnTo>
                  <a:lnTo>
                    <a:pt x="78" y="227"/>
                  </a:lnTo>
                  <a:lnTo>
                    <a:pt x="86" y="220"/>
                  </a:lnTo>
                  <a:lnTo>
                    <a:pt x="97" y="215"/>
                  </a:lnTo>
                  <a:lnTo>
                    <a:pt x="108" y="211"/>
                  </a:lnTo>
                  <a:lnTo>
                    <a:pt x="120" y="210"/>
                  </a:lnTo>
                  <a:lnTo>
                    <a:pt x="126" y="210"/>
                  </a:lnTo>
                  <a:lnTo>
                    <a:pt x="133" y="211"/>
                  </a:lnTo>
                  <a:lnTo>
                    <a:pt x="139" y="212"/>
                  </a:lnTo>
                  <a:lnTo>
                    <a:pt x="143" y="215"/>
                  </a:lnTo>
                  <a:lnTo>
                    <a:pt x="154" y="221"/>
                  </a:lnTo>
                  <a:lnTo>
                    <a:pt x="163" y="228"/>
                  </a:lnTo>
                  <a:lnTo>
                    <a:pt x="152" y="238"/>
                  </a:lnTo>
                  <a:close/>
                  <a:moveTo>
                    <a:pt x="9" y="391"/>
                  </a:moveTo>
                  <a:lnTo>
                    <a:pt x="12" y="391"/>
                  </a:lnTo>
                  <a:lnTo>
                    <a:pt x="15" y="391"/>
                  </a:lnTo>
                  <a:lnTo>
                    <a:pt x="21" y="390"/>
                  </a:lnTo>
                  <a:lnTo>
                    <a:pt x="26" y="386"/>
                  </a:lnTo>
                  <a:lnTo>
                    <a:pt x="205" y="206"/>
                  </a:lnTo>
                  <a:lnTo>
                    <a:pt x="218" y="195"/>
                  </a:lnTo>
                  <a:lnTo>
                    <a:pt x="218" y="194"/>
                  </a:lnTo>
                  <a:lnTo>
                    <a:pt x="218" y="193"/>
                  </a:lnTo>
                  <a:lnTo>
                    <a:pt x="281" y="130"/>
                  </a:lnTo>
                  <a:lnTo>
                    <a:pt x="283" y="129"/>
                  </a:lnTo>
                  <a:lnTo>
                    <a:pt x="284" y="126"/>
                  </a:lnTo>
                  <a:lnTo>
                    <a:pt x="286" y="123"/>
                  </a:lnTo>
                  <a:lnTo>
                    <a:pt x="286" y="120"/>
                  </a:lnTo>
                  <a:lnTo>
                    <a:pt x="284" y="114"/>
                  </a:lnTo>
                  <a:lnTo>
                    <a:pt x="281" y="109"/>
                  </a:lnTo>
                  <a:lnTo>
                    <a:pt x="267" y="96"/>
                  </a:lnTo>
                  <a:lnTo>
                    <a:pt x="254" y="84"/>
                  </a:lnTo>
                  <a:lnTo>
                    <a:pt x="239" y="73"/>
                  </a:lnTo>
                  <a:lnTo>
                    <a:pt x="224" y="62"/>
                  </a:lnTo>
                  <a:lnTo>
                    <a:pt x="208" y="52"/>
                  </a:lnTo>
                  <a:lnTo>
                    <a:pt x="192" y="44"/>
                  </a:lnTo>
                  <a:lnTo>
                    <a:pt x="176" y="35"/>
                  </a:lnTo>
                  <a:lnTo>
                    <a:pt x="159" y="28"/>
                  </a:lnTo>
                  <a:lnTo>
                    <a:pt x="142" y="21"/>
                  </a:lnTo>
                  <a:lnTo>
                    <a:pt x="125" y="16"/>
                  </a:lnTo>
                  <a:lnTo>
                    <a:pt x="107" y="11"/>
                  </a:lnTo>
                  <a:lnTo>
                    <a:pt x="89" y="6"/>
                  </a:lnTo>
                  <a:lnTo>
                    <a:pt x="71" y="4"/>
                  </a:lnTo>
                  <a:lnTo>
                    <a:pt x="52" y="1"/>
                  </a:lnTo>
                  <a:lnTo>
                    <a:pt x="34" y="0"/>
                  </a:lnTo>
                  <a:lnTo>
                    <a:pt x="15" y="0"/>
                  </a:lnTo>
                  <a:lnTo>
                    <a:pt x="9" y="1"/>
                  </a:lnTo>
                  <a:lnTo>
                    <a:pt x="4" y="4"/>
                  </a:lnTo>
                  <a:lnTo>
                    <a:pt x="1" y="8"/>
                  </a:lnTo>
                  <a:lnTo>
                    <a:pt x="0" y="14"/>
                  </a:lnTo>
                  <a:lnTo>
                    <a:pt x="0" y="104"/>
                  </a:lnTo>
                  <a:lnTo>
                    <a:pt x="0" y="375"/>
                  </a:lnTo>
                  <a:lnTo>
                    <a:pt x="0" y="380"/>
                  </a:lnTo>
                  <a:lnTo>
                    <a:pt x="3" y="384"/>
                  </a:lnTo>
                  <a:lnTo>
                    <a:pt x="5" y="387"/>
                  </a:lnTo>
                  <a:lnTo>
                    <a:pt x="9" y="3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8" name="TextBox 67">
            <a:extLst>
              <a:ext uri="{FF2B5EF4-FFF2-40B4-BE49-F238E27FC236}">
                <a16:creationId xmlns:a16="http://schemas.microsoft.com/office/drawing/2014/main" id="{0E11B381-B430-478A-B07D-2436FCE5FBC7}"/>
              </a:ext>
            </a:extLst>
          </p:cNvPr>
          <p:cNvSpPr txBox="1"/>
          <p:nvPr/>
        </p:nvSpPr>
        <p:spPr>
          <a:xfrm>
            <a:off x="1841215" y="1799517"/>
            <a:ext cx="7751963" cy="463397"/>
          </a:xfrm>
          <a:prstGeom prst="rect">
            <a:avLst/>
          </a:prstGeom>
          <a:noFill/>
        </p:spPr>
        <p:txBody>
          <a:bodyPr wrap="square">
            <a:spAutoFit/>
          </a:bodyPr>
          <a:lstStyle/>
          <a:p>
            <a:pPr marL="0" marR="0" algn="just">
              <a:lnSpc>
                <a:spcPct val="15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To Analyze Sales Trends,  including peak times of the day, week and month.</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0" name="TextBox 69">
            <a:extLst>
              <a:ext uri="{FF2B5EF4-FFF2-40B4-BE49-F238E27FC236}">
                <a16:creationId xmlns:a16="http://schemas.microsoft.com/office/drawing/2014/main" id="{E121F9AF-0525-4209-886E-CCE42CEF6CCE}"/>
              </a:ext>
            </a:extLst>
          </p:cNvPr>
          <p:cNvSpPr txBox="1"/>
          <p:nvPr/>
        </p:nvSpPr>
        <p:spPr>
          <a:xfrm>
            <a:off x="1841214" y="2572558"/>
            <a:ext cx="8489901" cy="369332"/>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To Optimize Menu Offerings by assessing</a:t>
            </a:r>
            <a:r>
              <a:rPr lang="en-US" dirty="0">
                <a:latin typeface="Times New Roman" panose="02020603050405020304" pitchFamily="18" charset="0"/>
                <a:ea typeface="Calibri" panose="020F0502020204030204" pitchFamily="34" charset="0"/>
              </a:rPr>
              <a:t> customer preference for various pizza type.</a:t>
            </a:r>
            <a:endParaRPr lang="en-US" dirty="0"/>
          </a:p>
        </p:txBody>
      </p:sp>
      <p:sp>
        <p:nvSpPr>
          <p:cNvPr id="72" name="TextBox 71">
            <a:extLst>
              <a:ext uri="{FF2B5EF4-FFF2-40B4-BE49-F238E27FC236}">
                <a16:creationId xmlns:a16="http://schemas.microsoft.com/office/drawing/2014/main" id="{D3DE420E-6C14-4AE9-9F8E-D359B93065CD}"/>
              </a:ext>
            </a:extLst>
          </p:cNvPr>
          <p:cNvSpPr txBox="1"/>
          <p:nvPr/>
        </p:nvSpPr>
        <p:spPr>
          <a:xfrm>
            <a:off x="1835169" y="3095621"/>
            <a:ext cx="9089505" cy="463397"/>
          </a:xfrm>
          <a:prstGeom prst="rect">
            <a:avLst/>
          </a:prstGeom>
          <a:noFill/>
        </p:spPr>
        <p:txBody>
          <a:bodyPr wrap="square">
            <a:spAutoFit/>
          </a:bodyPr>
          <a:lstStyle/>
          <a:p>
            <a:pPr marL="0" marR="0" algn="just">
              <a:lnSpc>
                <a:spcPct val="15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To Improve Inventory Management by predicting ingredient demand based on historical sales.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73" name="Group 72">
            <a:extLst>
              <a:ext uri="{FF2B5EF4-FFF2-40B4-BE49-F238E27FC236}">
                <a16:creationId xmlns:a16="http://schemas.microsoft.com/office/drawing/2014/main" id="{017BB8B2-16EB-4F64-B82F-5FBE5E4813E9}"/>
              </a:ext>
            </a:extLst>
          </p:cNvPr>
          <p:cNvGrpSpPr/>
          <p:nvPr/>
        </p:nvGrpSpPr>
        <p:grpSpPr>
          <a:xfrm>
            <a:off x="1416422" y="3786410"/>
            <a:ext cx="272303" cy="362396"/>
            <a:chOff x="5467350" y="2500313"/>
            <a:chExt cx="238125" cy="285750"/>
          </a:xfrm>
          <a:solidFill>
            <a:srgbClr val="C00000"/>
          </a:solidFill>
        </p:grpSpPr>
        <p:sp>
          <p:nvSpPr>
            <p:cNvPr id="74" name="Freeform 1295">
              <a:extLst>
                <a:ext uri="{FF2B5EF4-FFF2-40B4-BE49-F238E27FC236}">
                  <a16:creationId xmlns:a16="http://schemas.microsoft.com/office/drawing/2014/main" id="{2BCE7364-E2F8-4011-B04C-E77ED716360D}"/>
                </a:ext>
              </a:extLst>
            </p:cNvPr>
            <p:cNvSpPr>
              <a:spLocks noEditPoints="1"/>
            </p:cNvSpPr>
            <p:nvPr/>
          </p:nvSpPr>
          <p:spPr bwMode="auto">
            <a:xfrm>
              <a:off x="5467350" y="2547938"/>
              <a:ext cx="238125" cy="238125"/>
            </a:xfrm>
            <a:custGeom>
              <a:avLst/>
              <a:gdLst>
                <a:gd name="T0" fmla="*/ 257 w 751"/>
                <a:gd name="T1" fmla="*/ 702 h 753"/>
                <a:gd name="T2" fmla="*/ 143 w 751"/>
                <a:gd name="T3" fmla="*/ 633 h 753"/>
                <a:gd name="T4" fmla="*/ 64 w 751"/>
                <a:gd name="T5" fmla="*/ 527 h 753"/>
                <a:gd name="T6" fmla="*/ 30 w 751"/>
                <a:gd name="T7" fmla="*/ 395 h 753"/>
                <a:gd name="T8" fmla="*/ 50 w 751"/>
                <a:gd name="T9" fmla="*/ 261 h 753"/>
                <a:gd name="T10" fmla="*/ 115 w 751"/>
                <a:gd name="T11" fmla="*/ 150 h 753"/>
                <a:gd name="T12" fmla="*/ 217 w 751"/>
                <a:gd name="T13" fmla="*/ 71 h 753"/>
                <a:gd name="T14" fmla="*/ 344 w 751"/>
                <a:gd name="T15" fmla="*/ 33 h 753"/>
                <a:gd name="T16" fmla="*/ 279 w 751"/>
                <a:gd name="T17" fmla="*/ 108 h 753"/>
                <a:gd name="T18" fmla="*/ 188 w 751"/>
                <a:gd name="T19" fmla="*/ 162 h 753"/>
                <a:gd name="T20" fmla="*/ 123 w 751"/>
                <a:gd name="T21" fmla="*/ 245 h 753"/>
                <a:gd name="T22" fmla="*/ 91 w 751"/>
                <a:gd name="T23" fmla="*/ 349 h 753"/>
                <a:gd name="T24" fmla="*/ 103 w 751"/>
                <a:gd name="T25" fmla="*/ 462 h 753"/>
                <a:gd name="T26" fmla="*/ 155 w 751"/>
                <a:gd name="T27" fmla="*/ 559 h 753"/>
                <a:gd name="T28" fmla="*/ 239 w 751"/>
                <a:gd name="T29" fmla="*/ 628 h 753"/>
                <a:gd name="T30" fmla="*/ 346 w 751"/>
                <a:gd name="T31" fmla="*/ 661 h 753"/>
                <a:gd name="T32" fmla="*/ 460 w 751"/>
                <a:gd name="T33" fmla="*/ 650 h 753"/>
                <a:gd name="T34" fmla="*/ 557 w 751"/>
                <a:gd name="T35" fmla="*/ 598 h 753"/>
                <a:gd name="T36" fmla="*/ 626 w 751"/>
                <a:gd name="T37" fmla="*/ 513 h 753"/>
                <a:gd name="T38" fmla="*/ 660 w 751"/>
                <a:gd name="T39" fmla="*/ 406 h 753"/>
                <a:gd name="T40" fmla="*/ 619 w 751"/>
                <a:gd name="T41" fmla="*/ 227 h 753"/>
                <a:gd name="T42" fmla="*/ 677 w 751"/>
                <a:gd name="T43" fmla="*/ 208 h 753"/>
                <a:gd name="T44" fmla="*/ 719 w 751"/>
                <a:gd name="T45" fmla="*/ 328 h 753"/>
                <a:gd name="T46" fmla="*/ 710 w 751"/>
                <a:gd name="T47" fmla="*/ 463 h 753"/>
                <a:gd name="T48" fmla="*/ 653 w 751"/>
                <a:gd name="T49" fmla="*/ 583 h 753"/>
                <a:gd name="T50" fmla="*/ 555 w 751"/>
                <a:gd name="T51" fmla="*/ 673 h 753"/>
                <a:gd name="T52" fmla="*/ 429 w 751"/>
                <a:gd name="T53" fmla="*/ 719 h 753"/>
                <a:gd name="T54" fmla="*/ 283 w 751"/>
                <a:gd name="T55" fmla="*/ 464 h 753"/>
                <a:gd name="T56" fmla="*/ 198 w 751"/>
                <a:gd name="T57" fmla="*/ 464 h 753"/>
                <a:gd name="T58" fmla="*/ 198 w 751"/>
                <a:gd name="T59" fmla="*/ 379 h 753"/>
                <a:gd name="T60" fmla="*/ 283 w 751"/>
                <a:gd name="T61" fmla="*/ 379 h 753"/>
                <a:gd name="T62" fmla="*/ 237 w 751"/>
                <a:gd name="T63" fmla="*/ 321 h 753"/>
                <a:gd name="T64" fmla="*/ 221 w 751"/>
                <a:gd name="T65" fmla="*/ 238 h 753"/>
                <a:gd name="T66" fmla="*/ 303 w 751"/>
                <a:gd name="T67" fmla="*/ 221 h 753"/>
                <a:gd name="T68" fmla="*/ 320 w 751"/>
                <a:gd name="T69" fmla="*/ 305 h 753"/>
                <a:gd name="T70" fmla="*/ 414 w 751"/>
                <a:gd name="T71" fmla="*/ 487 h 753"/>
                <a:gd name="T72" fmla="*/ 447 w 751"/>
                <a:gd name="T73" fmla="*/ 566 h 753"/>
                <a:gd name="T74" fmla="*/ 368 w 751"/>
                <a:gd name="T75" fmla="*/ 598 h 753"/>
                <a:gd name="T76" fmla="*/ 335 w 751"/>
                <a:gd name="T77" fmla="*/ 519 h 753"/>
                <a:gd name="T78" fmla="*/ 460 w 751"/>
                <a:gd name="T79" fmla="*/ 294 h 753"/>
                <a:gd name="T80" fmla="*/ 540 w 751"/>
                <a:gd name="T81" fmla="*/ 283 h 753"/>
                <a:gd name="T82" fmla="*/ 469 w 751"/>
                <a:gd name="T83" fmla="*/ 330 h 753"/>
                <a:gd name="T84" fmla="*/ 561 w 751"/>
                <a:gd name="T85" fmla="*/ 455 h 753"/>
                <a:gd name="T86" fmla="*/ 477 w 751"/>
                <a:gd name="T87" fmla="*/ 471 h 753"/>
                <a:gd name="T88" fmla="*/ 461 w 751"/>
                <a:gd name="T89" fmla="*/ 389 h 753"/>
                <a:gd name="T90" fmla="*/ 545 w 751"/>
                <a:gd name="T91" fmla="*/ 372 h 753"/>
                <a:gd name="T92" fmla="*/ 636 w 751"/>
                <a:gd name="T93" fmla="*/ 108 h 753"/>
                <a:gd name="T94" fmla="*/ 391 w 751"/>
                <a:gd name="T95" fmla="*/ 340 h 753"/>
                <a:gd name="T96" fmla="*/ 337 w 751"/>
                <a:gd name="T97" fmla="*/ 3 h 753"/>
                <a:gd name="T98" fmla="*/ 197 w 751"/>
                <a:gd name="T99" fmla="*/ 46 h 753"/>
                <a:gd name="T100" fmla="*/ 86 w 751"/>
                <a:gd name="T101" fmla="*/ 139 h 753"/>
                <a:gd name="T102" fmla="*/ 17 w 751"/>
                <a:gd name="T103" fmla="*/ 265 h 753"/>
                <a:gd name="T104" fmla="*/ 1 w 751"/>
                <a:gd name="T105" fmla="*/ 415 h 753"/>
                <a:gd name="T106" fmla="*/ 45 w 751"/>
                <a:gd name="T107" fmla="*/ 556 h 753"/>
                <a:gd name="T108" fmla="*/ 137 w 751"/>
                <a:gd name="T109" fmla="*/ 667 h 753"/>
                <a:gd name="T110" fmla="*/ 263 w 751"/>
                <a:gd name="T111" fmla="*/ 736 h 753"/>
                <a:gd name="T112" fmla="*/ 414 w 751"/>
                <a:gd name="T113" fmla="*/ 751 h 753"/>
                <a:gd name="T114" fmla="*/ 555 w 751"/>
                <a:gd name="T115" fmla="*/ 707 h 753"/>
                <a:gd name="T116" fmla="*/ 665 w 751"/>
                <a:gd name="T117" fmla="*/ 616 h 753"/>
                <a:gd name="T118" fmla="*/ 734 w 751"/>
                <a:gd name="T119" fmla="*/ 488 h 753"/>
                <a:gd name="T120" fmla="*/ 750 w 751"/>
                <a:gd name="T121" fmla="*/ 340 h 753"/>
                <a:gd name="T122" fmla="*/ 708 w 751"/>
                <a:gd name="T123" fmla="*/ 201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1" h="753">
                  <a:moveTo>
                    <a:pt x="375" y="723"/>
                  </a:moveTo>
                  <a:lnTo>
                    <a:pt x="358" y="723"/>
                  </a:lnTo>
                  <a:lnTo>
                    <a:pt x="340" y="720"/>
                  </a:lnTo>
                  <a:lnTo>
                    <a:pt x="323" y="719"/>
                  </a:lnTo>
                  <a:lnTo>
                    <a:pt x="306" y="715"/>
                  </a:lnTo>
                  <a:lnTo>
                    <a:pt x="289" y="712"/>
                  </a:lnTo>
                  <a:lnTo>
                    <a:pt x="273" y="707"/>
                  </a:lnTo>
                  <a:lnTo>
                    <a:pt x="257" y="702"/>
                  </a:lnTo>
                  <a:lnTo>
                    <a:pt x="242" y="696"/>
                  </a:lnTo>
                  <a:lnTo>
                    <a:pt x="226" y="689"/>
                  </a:lnTo>
                  <a:lnTo>
                    <a:pt x="211" y="681"/>
                  </a:lnTo>
                  <a:lnTo>
                    <a:pt x="197" y="673"/>
                  </a:lnTo>
                  <a:lnTo>
                    <a:pt x="182" y="663"/>
                  </a:lnTo>
                  <a:lnTo>
                    <a:pt x="169" y="653"/>
                  </a:lnTo>
                  <a:lnTo>
                    <a:pt x="155" y="644"/>
                  </a:lnTo>
                  <a:lnTo>
                    <a:pt x="143" y="633"/>
                  </a:lnTo>
                  <a:lnTo>
                    <a:pt x="131" y="621"/>
                  </a:lnTo>
                  <a:lnTo>
                    <a:pt x="120" y="610"/>
                  </a:lnTo>
                  <a:lnTo>
                    <a:pt x="109" y="596"/>
                  </a:lnTo>
                  <a:lnTo>
                    <a:pt x="98" y="583"/>
                  </a:lnTo>
                  <a:lnTo>
                    <a:pt x="89" y="570"/>
                  </a:lnTo>
                  <a:lnTo>
                    <a:pt x="80" y="556"/>
                  </a:lnTo>
                  <a:lnTo>
                    <a:pt x="72" y="542"/>
                  </a:lnTo>
                  <a:lnTo>
                    <a:pt x="64" y="527"/>
                  </a:lnTo>
                  <a:lnTo>
                    <a:pt x="57" y="511"/>
                  </a:lnTo>
                  <a:lnTo>
                    <a:pt x="51" y="496"/>
                  </a:lnTo>
                  <a:lnTo>
                    <a:pt x="45" y="480"/>
                  </a:lnTo>
                  <a:lnTo>
                    <a:pt x="41" y="463"/>
                  </a:lnTo>
                  <a:lnTo>
                    <a:pt x="36" y="446"/>
                  </a:lnTo>
                  <a:lnTo>
                    <a:pt x="34" y="429"/>
                  </a:lnTo>
                  <a:lnTo>
                    <a:pt x="31" y="412"/>
                  </a:lnTo>
                  <a:lnTo>
                    <a:pt x="30" y="395"/>
                  </a:lnTo>
                  <a:lnTo>
                    <a:pt x="30" y="377"/>
                  </a:lnTo>
                  <a:lnTo>
                    <a:pt x="30" y="360"/>
                  </a:lnTo>
                  <a:lnTo>
                    <a:pt x="31" y="343"/>
                  </a:lnTo>
                  <a:lnTo>
                    <a:pt x="34" y="326"/>
                  </a:lnTo>
                  <a:lnTo>
                    <a:pt x="36" y="309"/>
                  </a:lnTo>
                  <a:lnTo>
                    <a:pt x="40" y="293"/>
                  </a:lnTo>
                  <a:lnTo>
                    <a:pt x="45" y="277"/>
                  </a:lnTo>
                  <a:lnTo>
                    <a:pt x="50" y="261"/>
                  </a:lnTo>
                  <a:lnTo>
                    <a:pt x="56" y="245"/>
                  </a:lnTo>
                  <a:lnTo>
                    <a:pt x="62" y="231"/>
                  </a:lnTo>
                  <a:lnTo>
                    <a:pt x="69" y="216"/>
                  </a:lnTo>
                  <a:lnTo>
                    <a:pt x="78" y="202"/>
                  </a:lnTo>
                  <a:lnTo>
                    <a:pt x="86" y="188"/>
                  </a:lnTo>
                  <a:lnTo>
                    <a:pt x="95" y="175"/>
                  </a:lnTo>
                  <a:lnTo>
                    <a:pt x="106" y="162"/>
                  </a:lnTo>
                  <a:lnTo>
                    <a:pt x="115" y="150"/>
                  </a:lnTo>
                  <a:lnTo>
                    <a:pt x="126" y="137"/>
                  </a:lnTo>
                  <a:lnTo>
                    <a:pt x="137" y="126"/>
                  </a:lnTo>
                  <a:lnTo>
                    <a:pt x="149" y="116"/>
                  </a:lnTo>
                  <a:lnTo>
                    <a:pt x="163" y="106"/>
                  </a:lnTo>
                  <a:lnTo>
                    <a:pt x="175" y="96"/>
                  </a:lnTo>
                  <a:lnTo>
                    <a:pt x="188" y="86"/>
                  </a:lnTo>
                  <a:lnTo>
                    <a:pt x="203" y="78"/>
                  </a:lnTo>
                  <a:lnTo>
                    <a:pt x="217" y="71"/>
                  </a:lnTo>
                  <a:lnTo>
                    <a:pt x="232" y="63"/>
                  </a:lnTo>
                  <a:lnTo>
                    <a:pt x="246" y="57"/>
                  </a:lnTo>
                  <a:lnTo>
                    <a:pt x="262" y="51"/>
                  </a:lnTo>
                  <a:lnTo>
                    <a:pt x="278" y="46"/>
                  </a:lnTo>
                  <a:lnTo>
                    <a:pt x="294" y="42"/>
                  </a:lnTo>
                  <a:lnTo>
                    <a:pt x="310" y="38"/>
                  </a:lnTo>
                  <a:lnTo>
                    <a:pt x="327" y="35"/>
                  </a:lnTo>
                  <a:lnTo>
                    <a:pt x="344" y="33"/>
                  </a:lnTo>
                  <a:lnTo>
                    <a:pt x="361" y="32"/>
                  </a:lnTo>
                  <a:lnTo>
                    <a:pt x="361" y="92"/>
                  </a:lnTo>
                  <a:lnTo>
                    <a:pt x="347" y="94"/>
                  </a:lnTo>
                  <a:lnTo>
                    <a:pt x="333" y="95"/>
                  </a:lnTo>
                  <a:lnTo>
                    <a:pt x="319" y="97"/>
                  </a:lnTo>
                  <a:lnTo>
                    <a:pt x="306" y="101"/>
                  </a:lnTo>
                  <a:lnTo>
                    <a:pt x="293" y="105"/>
                  </a:lnTo>
                  <a:lnTo>
                    <a:pt x="279" y="108"/>
                  </a:lnTo>
                  <a:lnTo>
                    <a:pt x="267" y="113"/>
                  </a:lnTo>
                  <a:lnTo>
                    <a:pt x="255" y="119"/>
                  </a:lnTo>
                  <a:lnTo>
                    <a:pt x="243" y="124"/>
                  </a:lnTo>
                  <a:lnTo>
                    <a:pt x="231" y="131"/>
                  </a:lnTo>
                  <a:lnTo>
                    <a:pt x="220" y="139"/>
                  </a:lnTo>
                  <a:lnTo>
                    <a:pt x="209" y="146"/>
                  </a:lnTo>
                  <a:lnTo>
                    <a:pt x="198" y="153"/>
                  </a:lnTo>
                  <a:lnTo>
                    <a:pt x="188" y="162"/>
                  </a:lnTo>
                  <a:lnTo>
                    <a:pt x="178" y="171"/>
                  </a:lnTo>
                  <a:lnTo>
                    <a:pt x="169" y="180"/>
                  </a:lnTo>
                  <a:lnTo>
                    <a:pt x="160" y="190"/>
                  </a:lnTo>
                  <a:lnTo>
                    <a:pt x="152" y="201"/>
                  </a:lnTo>
                  <a:lnTo>
                    <a:pt x="143" y="211"/>
                  </a:lnTo>
                  <a:lnTo>
                    <a:pt x="136" y="222"/>
                  </a:lnTo>
                  <a:lnTo>
                    <a:pt x="129" y="233"/>
                  </a:lnTo>
                  <a:lnTo>
                    <a:pt x="123" y="245"/>
                  </a:lnTo>
                  <a:lnTo>
                    <a:pt x="116" y="256"/>
                  </a:lnTo>
                  <a:lnTo>
                    <a:pt x="112" y="270"/>
                  </a:lnTo>
                  <a:lnTo>
                    <a:pt x="107" y="282"/>
                  </a:lnTo>
                  <a:lnTo>
                    <a:pt x="102" y="295"/>
                  </a:lnTo>
                  <a:lnTo>
                    <a:pt x="98" y="307"/>
                  </a:lnTo>
                  <a:lnTo>
                    <a:pt x="96" y="321"/>
                  </a:lnTo>
                  <a:lnTo>
                    <a:pt x="93" y="334"/>
                  </a:lnTo>
                  <a:lnTo>
                    <a:pt x="91" y="349"/>
                  </a:lnTo>
                  <a:lnTo>
                    <a:pt x="90" y="362"/>
                  </a:lnTo>
                  <a:lnTo>
                    <a:pt x="90" y="377"/>
                  </a:lnTo>
                  <a:lnTo>
                    <a:pt x="90" y="391"/>
                  </a:lnTo>
                  <a:lnTo>
                    <a:pt x="91" y="406"/>
                  </a:lnTo>
                  <a:lnTo>
                    <a:pt x="93" y="420"/>
                  </a:lnTo>
                  <a:lnTo>
                    <a:pt x="96" y="434"/>
                  </a:lnTo>
                  <a:lnTo>
                    <a:pt x="99" y="448"/>
                  </a:lnTo>
                  <a:lnTo>
                    <a:pt x="103" y="462"/>
                  </a:lnTo>
                  <a:lnTo>
                    <a:pt x="107" y="475"/>
                  </a:lnTo>
                  <a:lnTo>
                    <a:pt x="113" y="488"/>
                  </a:lnTo>
                  <a:lnTo>
                    <a:pt x="118" y="500"/>
                  </a:lnTo>
                  <a:lnTo>
                    <a:pt x="125" y="513"/>
                  </a:lnTo>
                  <a:lnTo>
                    <a:pt x="131" y="525"/>
                  </a:lnTo>
                  <a:lnTo>
                    <a:pt x="138" y="537"/>
                  </a:lnTo>
                  <a:lnTo>
                    <a:pt x="147" y="548"/>
                  </a:lnTo>
                  <a:lnTo>
                    <a:pt x="155" y="559"/>
                  </a:lnTo>
                  <a:lnTo>
                    <a:pt x="164" y="568"/>
                  </a:lnTo>
                  <a:lnTo>
                    <a:pt x="174" y="578"/>
                  </a:lnTo>
                  <a:lnTo>
                    <a:pt x="183" y="588"/>
                  </a:lnTo>
                  <a:lnTo>
                    <a:pt x="194" y="598"/>
                  </a:lnTo>
                  <a:lnTo>
                    <a:pt x="205" y="606"/>
                  </a:lnTo>
                  <a:lnTo>
                    <a:pt x="216" y="613"/>
                  </a:lnTo>
                  <a:lnTo>
                    <a:pt x="227" y="621"/>
                  </a:lnTo>
                  <a:lnTo>
                    <a:pt x="239" y="628"/>
                  </a:lnTo>
                  <a:lnTo>
                    <a:pt x="251" y="634"/>
                  </a:lnTo>
                  <a:lnTo>
                    <a:pt x="265" y="640"/>
                  </a:lnTo>
                  <a:lnTo>
                    <a:pt x="278" y="645"/>
                  </a:lnTo>
                  <a:lnTo>
                    <a:pt x="291" y="650"/>
                  </a:lnTo>
                  <a:lnTo>
                    <a:pt x="305" y="653"/>
                  </a:lnTo>
                  <a:lnTo>
                    <a:pt x="318" y="657"/>
                  </a:lnTo>
                  <a:lnTo>
                    <a:pt x="333" y="659"/>
                  </a:lnTo>
                  <a:lnTo>
                    <a:pt x="346" y="661"/>
                  </a:lnTo>
                  <a:lnTo>
                    <a:pt x="361" y="662"/>
                  </a:lnTo>
                  <a:lnTo>
                    <a:pt x="375" y="662"/>
                  </a:lnTo>
                  <a:lnTo>
                    <a:pt x="391" y="662"/>
                  </a:lnTo>
                  <a:lnTo>
                    <a:pt x="404" y="661"/>
                  </a:lnTo>
                  <a:lnTo>
                    <a:pt x="419" y="659"/>
                  </a:lnTo>
                  <a:lnTo>
                    <a:pt x="433" y="657"/>
                  </a:lnTo>
                  <a:lnTo>
                    <a:pt x="447" y="653"/>
                  </a:lnTo>
                  <a:lnTo>
                    <a:pt x="460" y="650"/>
                  </a:lnTo>
                  <a:lnTo>
                    <a:pt x="473" y="645"/>
                  </a:lnTo>
                  <a:lnTo>
                    <a:pt x="487" y="640"/>
                  </a:lnTo>
                  <a:lnTo>
                    <a:pt x="499" y="634"/>
                  </a:lnTo>
                  <a:lnTo>
                    <a:pt x="512" y="628"/>
                  </a:lnTo>
                  <a:lnTo>
                    <a:pt x="523" y="621"/>
                  </a:lnTo>
                  <a:lnTo>
                    <a:pt x="535" y="613"/>
                  </a:lnTo>
                  <a:lnTo>
                    <a:pt x="546" y="606"/>
                  </a:lnTo>
                  <a:lnTo>
                    <a:pt x="557" y="598"/>
                  </a:lnTo>
                  <a:lnTo>
                    <a:pt x="568" y="588"/>
                  </a:lnTo>
                  <a:lnTo>
                    <a:pt x="578" y="578"/>
                  </a:lnTo>
                  <a:lnTo>
                    <a:pt x="588" y="568"/>
                  </a:lnTo>
                  <a:lnTo>
                    <a:pt x="596" y="559"/>
                  </a:lnTo>
                  <a:lnTo>
                    <a:pt x="605" y="548"/>
                  </a:lnTo>
                  <a:lnTo>
                    <a:pt x="613" y="537"/>
                  </a:lnTo>
                  <a:lnTo>
                    <a:pt x="620" y="525"/>
                  </a:lnTo>
                  <a:lnTo>
                    <a:pt x="626" y="513"/>
                  </a:lnTo>
                  <a:lnTo>
                    <a:pt x="634" y="500"/>
                  </a:lnTo>
                  <a:lnTo>
                    <a:pt x="639" y="488"/>
                  </a:lnTo>
                  <a:lnTo>
                    <a:pt x="645" y="475"/>
                  </a:lnTo>
                  <a:lnTo>
                    <a:pt x="648" y="462"/>
                  </a:lnTo>
                  <a:lnTo>
                    <a:pt x="652" y="448"/>
                  </a:lnTo>
                  <a:lnTo>
                    <a:pt x="656" y="434"/>
                  </a:lnTo>
                  <a:lnTo>
                    <a:pt x="658" y="420"/>
                  </a:lnTo>
                  <a:lnTo>
                    <a:pt x="660" y="406"/>
                  </a:lnTo>
                  <a:lnTo>
                    <a:pt x="660" y="391"/>
                  </a:lnTo>
                  <a:lnTo>
                    <a:pt x="662" y="377"/>
                  </a:lnTo>
                  <a:lnTo>
                    <a:pt x="660" y="350"/>
                  </a:lnTo>
                  <a:lnTo>
                    <a:pt x="657" y="324"/>
                  </a:lnTo>
                  <a:lnTo>
                    <a:pt x="651" y="299"/>
                  </a:lnTo>
                  <a:lnTo>
                    <a:pt x="642" y="275"/>
                  </a:lnTo>
                  <a:lnTo>
                    <a:pt x="632" y="250"/>
                  </a:lnTo>
                  <a:lnTo>
                    <a:pt x="619" y="227"/>
                  </a:lnTo>
                  <a:lnTo>
                    <a:pt x="605" y="207"/>
                  </a:lnTo>
                  <a:lnTo>
                    <a:pt x="588" y="186"/>
                  </a:lnTo>
                  <a:lnTo>
                    <a:pt x="631" y="143"/>
                  </a:lnTo>
                  <a:lnTo>
                    <a:pt x="641" y="156"/>
                  </a:lnTo>
                  <a:lnTo>
                    <a:pt x="652" y="168"/>
                  </a:lnTo>
                  <a:lnTo>
                    <a:pt x="660" y="181"/>
                  </a:lnTo>
                  <a:lnTo>
                    <a:pt x="670" y="194"/>
                  </a:lnTo>
                  <a:lnTo>
                    <a:pt x="677" y="208"/>
                  </a:lnTo>
                  <a:lnTo>
                    <a:pt x="685" y="222"/>
                  </a:lnTo>
                  <a:lnTo>
                    <a:pt x="692" y="237"/>
                  </a:lnTo>
                  <a:lnTo>
                    <a:pt x="698" y="252"/>
                  </a:lnTo>
                  <a:lnTo>
                    <a:pt x="704" y="266"/>
                  </a:lnTo>
                  <a:lnTo>
                    <a:pt x="708" y="281"/>
                  </a:lnTo>
                  <a:lnTo>
                    <a:pt x="713" y="296"/>
                  </a:lnTo>
                  <a:lnTo>
                    <a:pt x="715" y="312"/>
                  </a:lnTo>
                  <a:lnTo>
                    <a:pt x="719" y="328"/>
                  </a:lnTo>
                  <a:lnTo>
                    <a:pt x="720" y="344"/>
                  </a:lnTo>
                  <a:lnTo>
                    <a:pt x="721" y="361"/>
                  </a:lnTo>
                  <a:lnTo>
                    <a:pt x="721" y="377"/>
                  </a:lnTo>
                  <a:lnTo>
                    <a:pt x="721" y="395"/>
                  </a:lnTo>
                  <a:lnTo>
                    <a:pt x="720" y="412"/>
                  </a:lnTo>
                  <a:lnTo>
                    <a:pt x="717" y="429"/>
                  </a:lnTo>
                  <a:lnTo>
                    <a:pt x="715" y="446"/>
                  </a:lnTo>
                  <a:lnTo>
                    <a:pt x="710" y="463"/>
                  </a:lnTo>
                  <a:lnTo>
                    <a:pt x="707" y="480"/>
                  </a:lnTo>
                  <a:lnTo>
                    <a:pt x="700" y="496"/>
                  </a:lnTo>
                  <a:lnTo>
                    <a:pt x="694" y="511"/>
                  </a:lnTo>
                  <a:lnTo>
                    <a:pt x="687" y="527"/>
                  </a:lnTo>
                  <a:lnTo>
                    <a:pt x="680" y="542"/>
                  </a:lnTo>
                  <a:lnTo>
                    <a:pt x="671" y="556"/>
                  </a:lnTo>
                  <a:lnTo>
                    <a:pt x="663" y="570"/>
                  </a:lnTo>
                  <a:lnTo>
                    <a:pt x="653" y="583"/>
                  </a:lnTo>
                  <a:lnTo>
                    <a:pt x="642" y="596"/>
                  </a:lnTo>
                  <a:lnTo>
                    <a:pt x="631" y="610"/>
                  </a:lnTo>
                  <a:lnTo>
                    <a:pt x="620" y="621"/>
                  </a:lnTo>
                  <a:lnTo>
                    <a:pt x="608" y="633"/>
                  </a:lnTo>
                  <a:lnTo>
                    <a:pt x="596" y="644"/>
                  </a:lnTo>
                  <a:lnTo>
                    <a:pt x="583" y="653"/>
                  </a:lnTo>
                  <a:lnTo>
                    <a:pt x="569" y="663"/>
                  </a:lnTo>
                  <a:lnTo>
                    <a:pt x="555" y="673"/>
                  </a:lnTo>
                  <a:lnTo>
                    <a:pt x="540" y="681"/>
                  </a:lnTo>
                  <a:lnTo>
                    <a:pt x="526" y="689"/>
                  </a:lnTo>
                  <a:lnTo>
                    <a:pt x="510" y="696"/>
                  </a:lnTo>
                  <a:lnTo>
                    <a:pt x="494" y="702"/>
                  </a:lnTo>
                  <a:lnTo>
                    <a:pt x="478" y="707"/>
                  </a:lnTo>
                  <a:lnTo>
                    <a:pt x="462" y="712"/>
                  </a:lnTo>
                  <a:lnTo>
                    <a:pt x="446" y="715"/>
                  </a:lnTo>
                  <a:lnTo>
                    <a:pt x="429" y="719"/>
                  </a:lnTo>
                  <a:lnTo>
                    <a:pt x="412" y="720"/>
                  </a:lnTo>
                  <a:lnTo>
                    <a:pt x="393" y="723"/>
                  </a:lnTo>
                  <a:lnTo>
                    <a:pt x="375" y="723"/>
                  </a:lnTo>
                  <a:close/>
                  <a:moveTo>
                    <a:pt x="301" y="422"/>
                  </a:moveTo>
                  <a:lnTo>
                    <a:pt x="300" y="434"/>
                  </a:lnTo>
                  <a:lnTo>
                    <a:pt x="296" y="445"/>
                  </a:lnTo>
                  <a:lnTo>
                    <a:pt x="290" y="455"/>
                  </a:lnTo>
                  <a:lnTo>
                    <a:pt x="283" y="464"/>
                  </a:lnTo>
                  <a:lnTo>
                    <a:pt x="274" y="471"/>
                  </a:lnTo>
                  <a:lnTo>
                    <a:pt x="263" y="477"/>
                  </a:lnTo>
                  <a:lnTo>
                    <a:pt x="252" y="481"/>
                  </a:lnTo>
                  <a:lnTo>
                    <a:pt x="240" y="482"/>
                  </a:lnTo>
                  <a:lnTo>
                    <a:pt x="228" y="481"/>
                  </a:lnTo>
                  <a:lnTo>
                    <a:pt x="217" y="477"/>
                  </a:lnTo>
                  <a:lnTo>
                    <a:pt x="206" y="471"/>
                  </a:lnTo>
                  <a:lnTo>
                    <a:pt x="198" y="464"/>
                  </a:lnTo>
                  <a:lnTo>
                    <a:pt x="191" y="455"/>
                  </a:lnTo>
                  <a:lnTo>
                    <a:pt x="184" y="445"/>
                  </a:lnTo>
                  <a:lnTo>
                    <a:pt x="181" y="434"/>
                  </a:lnTo>
                  <a:lnTo>
                    <a:pt x="180" y="422"/>
                  </a:lnTo>
                  <a:lnTo>
                    <a:pt x="181" y="409"/>
                  </a:lnTo>
                  <a:lnTo>
                    <a:pt x="184" y="398"/>
                  </a:lnTo>
                  <a:lnTo>
                    <a:pt x="191" y="389"/>
                  </a:lnTo>
                  <a:lnTo>
                    <a:pt x="198" y="379"/>
                  </a:lnTo>
                  <a:lnTo>
                    <a:pt x="206" y="372"/>
                  </a:lnTo>
                  <a:lnTo>
                    <a:pt x="217" y="367"/>
                  </a:lnTo>
                  <a:lnTo>
                    <a:pt x="228" y="363"/>
                  </a:lnTo>
                  <a:lnTo>
                    <a:pt x="240" y="362"/>
                  </a:lnTo>
                  <a:lnTo>
                    <a:pt x="252" y="363"/>
                  </a:lnTo>
                  <a:lnTo>
                    <a:pt x="263" y="367"/>
                  </a:lnTo>
                  <a:lnTo>
                    <a:pt x="274" y="372"/>
                  </a:lnTo>
                  <a:lnTo>
                    <a:pt x="283" y="379"/>
                  </a:lnTo>
                  <a:lnTo>
                    <a:pt x="290" y="389"/>
                  </a:lnTo>
                  <a:lnTo>
                    <a:pt x="296" y="398"/>
                  </a:lnTo>
                  <a:lnTo>
                    <a:pt x="300" y="409"/>
                  </a:lnTo>
                  <a:lnTo>
                    <a:pt x="301" y="422"/>
                  </a:lnTo>
                  <a:close/>
                  <a:moveTo>
                    <a:pt x="271" y="332"/>
                  </a:moveTo>
                  <a:lnTo>
                    <a:pt x="259" y="330"/>
                  </a:lnTo>
                  <a:lnTo>
                    <a:pt x="246" y="327"/>
                  </a:lnTo>
                  <a:lnTo>
                    <a:pt x="237" y="321"/>
                  </a:lnTo>
                  <a:lnTo>
                    <a:pt x="228" y="313"/>
                  </a:lnTo>
                  <a:lnTo>
                    <a:pt x="221" y="305"/>
                  </a:lnTo>
                  <a:lnTo>
                    <a:pt x="215" y="295"/>
                  </a:lnTo>
                  <a:lnTo>
                    <a:pt x="211" y="283"/>
                  </a:lnTo>
                  <a:lnTo>
                    <a:pt x="210" y="271"/>
                  </a:lnTo>
                  <a:lnTo>
                    <a:pt x="211" y="259"/>
                  </a:lnTo>
                  <a:lnTo>
                    <a:pt x="215" y="248"/>
                  </a:lnTo>
                  <a:lnTo>
                    <a:pt x="221" y="238"/>
                  </a:lnTo>
                  <a:lnTo>
                    <a:pt x="228" y="228"/>
                  </a:lnTo>
                  <a:lnTo>
                    <a:pt x="237" y="221"/>
                  </a:lnTo>
                  <a:lnTo>
                    <a:pt x="246" y="216"/>
                  </a:lnTo>
                  <a:lnTo>
                    <a:pt x="259" y="213"/>
                  </a:lnTo>
                  <a:lnTo>
                    <a:pt x="271" y="211"/>
                  </a:lnTo>
                  <a:lnTo>
                    <a:pt x="283" y="213"/>
                  </a:lnTo>
                  <a:lnTo>
                    <a:pt x="294" y="216"/>
                  </a:lnTo>
                  <a:lnTo>
                    <a:pt x="303" y="221"/>
                  </a:lnTo>
                  <a:lnTo>
                    <a:pt x="313" y="228"/>
                  </a:lnTo>
                  <a:lnTo>
                    <a:pt x="320" y="238"/>
                  </a:lnTo>
                  <a:lnTo>
                    <a:pt x="325" y="248"/>
                  </a:lnTo>
                  <a:lnTo>
                    <a:pt x="329" y="259"/>
                  </a:lnTo>
                  <a:lnTo>
                    <a:pt x="330" y="271"/>
                  </a:lnTo>
                  <a:lnTo>
                    <a:pt x="329" y="283"/>
                  </a:lnTo>
                  <a:lnTo>
                    <a:pt x="325" y="295"/>
                  </a:lnTo>
                  <a:lnTo>
                    <a:pt x="320" y="305"/>
                  </a:lnTo>
                  <a:lnTo>
                    <a:pt x="313" y="313"/>
                  </a:lnTo>
                  <a:lnTo>
                    <a:pt x="303" y="321"/>
                  </a:lnTo>
                  <a:lnTo>
                    <a:pt x="294" y="327"/>
                  </a:lnTo>
                  <a:lnTo>
                    <a:pt x="283" y="330"/>
                  </a:lnTo>
                  <a:lnTo>
                    <a:pt x="271" y="332"/>
                  </a:lnTo>
                  <a:close/>
                  <a:moveTo>
                    <a:pt x="391" y="482"/>
                  </a:moveTo>
                  <a:lnTo>
                    <a:pt x="403" y="483"/>
                  </a:lnTo>
                  <a:lnTo>
                    <a:pt x="414" y="487"/>
                  </a:lnTo>
                  <a:lnTo>
                    <a:pt x="425" y="492"/>
                  </a:lnTo>
                  <a:lnTo>
                    <a:pt x="433" y="499"/>
                  </a:lnTo>
                  <a:lnTo>
                    <a:pt x="441" y="509"/>
                  </a:lnTo>
                  <a:lnTo>
                    <a:pt x="446" y="519"/>
                  </a:lnTo>
                  <a:lnTo>
                    <a:pt x="449" y="530"/>
                  </a:lnTo>
                  <a:lnTo>
                    <a:pt x="450" y="542"/>
                  </a:lnTo>
                  <a:lnTo>
                    <a:pt x="449" y="554"/>
                  </a:lnTo>
                  <a:lnTo>
                    <a:pt x="447" y="566"/>
                  </a:lnTo>
                  <a:lnTo>
                    <a:pt x="441" y="576"/>
                  </a:lnTo>
                  <a:lnTo>
                    <a:pt x="433" y="584"/>
                  </a:lnTo>
                  <a:lnTo>
                    <a:pt x="425" y="591"/>
                  </a:lnTo>
                  <a:lnTo>
                    <a:pt x="414" y="598"/>
                  </a:lnTo>
                  <a:lnTo>
                    <a:pt x="403" y="601"/>
                  </a:lnTo>
                  <a:lnTo>
                    <a:pt x="391" y="602"/>
                  </a:lnTo>
                  <a:lnTo>
                    <a:pt x="379" y="601"/>
                  </a:lnTo>
                  <a:lnTo>
                    <a:pt x="368" y="598"/>
                  </a:lnTo>
                  <a:lnTo>
                    <a:pt x="357" y="591"/>
                  </a:lnTo>
                  <a:lnTo>
                    <a:pt x="348" y="584"/>
                  </a:lnTo>
                  <a:lnTo>
                    <a:pt x="341" y="576"/>
                  </a:lnTo>
                  <a:lnTo>
                    <a:pt x="335" y="566"/>
                  </a:lnTo>
                  <a:lnTo>
                    <a:pt x="331" y="554"/>
                  </a:lnTo>
                  <a:lnTo>
                    <a:pt x="330" y="542"/>
                  </a:lnTo>
                  <a:lnTo>
                    <a:pt x="331" y="530"/>
                  </a:lnTo>
                  <a:lnTo>
                    <a:pt x="335" y="519"/>
                  </a:lnTo>
                  <a:lnTo>
                    <a:pt x="341" y="509"/>
                  </a:lnTo>
                  <a:lnTo>
                    <a:pt x="348" y="499"/>
                  </a:lnTo>
                  <a:lnTo>
                    <a:pt x="357" y="492"/>
                  </a:lnTo>
                  <a:lnTo>
                    <a:pt x="368" y="487"/>
                  </a:lnTo>
                  <a:lnTo>
                    <a:pt x="379" y="483"/>
                  </a:lnTo>
                  <a:lnTo>
                    <a:pt x="391" y="482"/>
                  </a:lnTo>
                  <a:close/>
                  <a:moveTo>
                    <a:pt x="449" y="305"/>
                  </a:moveTo>
                  <a:lnTo>
                    <a:pt x="460" y="294"/>
                  </a:lnTo>
                  <a:lnTo>
                    <a:pt x="503" y="250"/>
                  </a:lnTo>
                  <a:lnTo>
                    <a:pt x="512" y="239"/>
                  </a:lnTo>
                  <a:lnTo>
                    <a:pt x="523" y="230"/>
                  </a:lnTo>
                  <a:lnTo>
                    <a:pt x="530" y="239"/>
                  </a:lnTo>
                  <a:lnTo>
                    <a:pt x="537" y="249"/>
                  </a:lnTo>
                  <a:lnTo>
                    <a:pt x="540" y="260"/>
                  </a:lnTo>
                  <a:lnTo>
                    <a:pt x="541" y="271"/>
                  </a:lnTo>
                  <a:lnTo>
                    <a:pt x="540" y="283"/>
                  </a:lnTo>
                  <a:lnTo>
                    <a:pt x="537" y="295"/>
                  </a:lnTo>
                  <a:lnTo>
                    <a:pt x="530" y="305"/>
                  </a:lnTo>
                  <a:lnTo>
                    <a:pt x="523" y="313"/>
                  </a:lnTo>
                  <a:lnTo>
                    <a:pt x="515" y="321"/>
                  </a:lnTo>
                  <a:lnTo>
                    <a:pt x="504" y="327"/>
                  </a:lnTo>
                  <a:lnTo>
                    <a:pt x="493" y="330"/>
                  </a:lnTo>
                  <a:lnTo>
                    <a:pt x="481" y="332"/>
                  </a:lnTo>
                  <a:lnTo>
                    <a:pt x="469" y="330"/>
                  </a:lnTo>
                  <a:lnTo>
                    <a:pt x="458" y="327"/>
                  </a:lnTo>
                  <a:lnTo>
                    <a:pt x="448" y="322"/>
                  </a:lnTo>
                  <a:lnTo>
                    <a:pt x="438" y="315"/>
                  </a:lnTo>
                  <a:lnTo>
                    <a:pt x="449" y="305"/>
                  </a:lnTo>
                  <a:close/>
                  <a:moveTo>
                    <a:pt x="571" y="422"/>
                  </a:moveTo>
                  <a:lnTo>
                    <a:pt x="569" y="434"/>
                  </a:lnTo>
                  <a:lnTo>
                    <a:pt x="567" y="445"/>
                  </a:lnTo>
                  <a:lnTo>
                    <a:pt x="561" y="455"/>
                  </a:lnTo>
                  <a:lnTo>
                    <a:pt x="554" y="464"/>
                  </a:lnTo>
                  <a:lnTo>
                    <a:pt x="545" y="471"/>
                  </a:lnTo>
                  <a:lnTo>
                    <a:pt x="534" y="477"/>
                  </a:lnTo>
                  <a:lnTo>
                    <a:pt x="523" y="481"/>
                  </a:lnTo>
                  <a:lnTo>
                    <a:pt x="511" y="482"/>
                  </a:lnTo>
                  <a:lnTo>
                    <a:pt x="499" y="481"/>
                  </a:lnTo>
                  <a:lnTo>
                    <a:pt x="488" y="477"/>
                  </a:lnTo>
                  <a:lnTo>
                    <a:pt x="477" y="471"/>
                  </a:lnTo>
                  <a:lnTo>
                    <a:pt x="469" y="464"/>
                  </a:lnTo>
                  <a:lnTo>
                    <a:pt x="461" y="455"/>
                  </a:lnTo>
                  <a:lnTo>
                    <a:pt x="455" y="445"/>
                  </a:lnTo>
                  <a:lnTo>
                    <a:pt x="452" y="434"/>
                  </a:lnTo>
                  <a:lnTo>
                    <a:pt x="450" y="422"/>
                  </a:lnTo>
                  <a:lnTo>
                    <a:pt x="452" y="409"/>
                  </a:lnTo>
                  <a:lnTo>
                    <a:pt x="455" y="398"/>
                  </a:lnTo>
                  <a:lnTo>
                    <a:pt x="461" y="389"/>
                  </a:lnTo>
                  <a:lnTo>
                    <a:pt x="469" y="379"/>
                  </a:lnTo>
                  <a:lnTo>
                    <a:pt x="477" y="372"/>
                  </a:lnTo>
                  <a:lnTo>
                    <a:pt x="488" y="367"/>
                  </a:lnTo>
                  <a:lnTo>
                    <a:pt x="499" y="363"/>
                  </a:lnTo>
                  <a:lnTo>
                    <a:pt x="511" y="362"/>
                  </a:lnTo>
                  <a:lnTo>
                    <a:pt x="523" y="363"/>
                  </a:lnTo>
                  <a:lnTo>
                    <a:pt x="534" y="367"/>
                  </a:lnTo>
                  <a:lnTo>
                    <a:pt x="545" y="372"/>
                  </a:lnTo>
                  <a:lnTo>
                    <a:pt x="554" y="379"/>
                  </a:lnTo>
                  <a:lnTo>
                    <a:pt x="561" y="389"/>
                  </a:lnTo>
                  <a:lnTo>
                    <a:pt x="567" y="398"/>
                  </a:lnTo>
                  <a:lnTo>
                    <a:pt x="569" y="409"/>
                  </a:lnTo>
                  <a:lnTo>
                    <a:pt x="571" y="422"/>
                  </a:lnTo>
                  <a:close/>
                  <a:moveTo>
                    <a:pt x="641" y="112"/>
                  </a:moveTo>
                  <a:lnTo>
                    <a:pt x="640" y="109"/>
                  </a:lnTo>
                  <a:lnTo>
                    <a:pt x="636" y="108"/>
                  </a:lnTo>
                  <a:lnTo>
                    <a:pt x="634" y="108"/>
                  </a:lnTo>
                  <a:lnTo>
                    <a:pt x="631" y="107"/>
                  </a:lnTo>
                  <a:lnTo>
                    <a:pt x="628" y="108"/>
                  </a:lnTo>
                  <a:lnTo>
                    <a:pt x="625" y="108"/>
                  </a:lnTo>
                  <a:lnTo>
                    <a:pt x="623" y="109"/>
                  </a:lnTo>
                  <a:lnTo>
                    <a:pt x="620" y="112"/>
                  </a:lnTo>
                  <a:lnTo>
                    <a:pt x="556" y="175"/>
                  </a:lnTo>
                  <a:lnTo>
                    <a:pt x="391" y="340"/>
                  </a:lnTo>
                  <a:lnTo>
                    <a:pt x="391" y="106"/>
                  </a:lnTo>
                  <a:lnTo>
                    <a:pt x="391" y="16"/>
                  </a:lnTo>
                  <a:lnTo>
                    <a:pt x="390" y="10"/>
                  </a:lnTo>
                  <a:lnTo>
                    <a:pt x="386" y="5"/>
                  </a:lnTo>
                  <a:lnTo>
                    <a:pt x="381" y="1"/>
                  </a:lnTo>
                  <a:lnTo>
                    <a:pt x="375" y="0"/>
                  </a:lnTo>
                  <a:lnTo>
                    <a:pt x="357" y="1"/>
                  </a:lnTo>
                  <a:lnTo>
                    <a:pt x="337" y="3"/>
                  </a:lnTo>
                  <a:lnTo>
                    <a:pt x="318" y="5"/>
                  </a:lnTo>
                  <a:lnTo>
                    <a:pt x="300" y="9"/>
                  </a:lnTo>
                  <a:lnTo>
                    <a:pt x="282" y="12"/>
                  </a:lnTo>
                  <a:lnTo>
                    <a:pt x="263" y="17"/>
                  </a:lnTo>
                  <a:lnTo>
                    <a:pt x="246" y="23"/>
                  </a:lnTo>
                  <a:lnTo>
                    <a:pt x="229" y="31"/>
                  </a:lnTo>
                  <a:lnTo>
                    <a:pt x="212" y="38"/>
                  </a:lnTo>
                  <a:lnTo>
                    <a:pt x="197" y="46"/>
                  </a:lnTo>
                  <a:lnTo>
                    <a:pt x="181" y="56"/>
                  </a:lnTo>
                  <a:lnTo>
                    <a:pt x="165" y="66"/>
                  </a:lnTo>
                  <a:lnTo>
                    <a:pt x="150" y="75"/>
                  </a:lnTo>
                  <a:lnTo>
                    <a:pt x="137" y="88"/>
                  </a:lnTo>
                  <a:lnTo>
                    <a:pt x="123" y="99"/>
                  </a:lnTo>
                  <a:lnTo>
                    <a:pt x="110" y="112"/>
                  </a:lnTo>
                  <a:lnTo>
                    <a:pt x="97" y="124"/>
                  </a:lnTo>
                  <a:lnTo>
                    <a:pt x="86" y="139"/>
                  </a:lnTo>
                  <a:lnTo>
                    <a:pt x="74" y="152"/>
                  </a:lnTo>
                  <a:lnTo>
                    <a:pt x="64" y="167"/>
                  </a:lnTo>
                  <a:lnTo>
                    <a:pt x="55" y="182"/>
                  </a:lnTo>
                  <a:lnTo>
                    <a:pt x="45" y="198"/>
                  </a:lnTo>
                  <a:lnTo>
                    <a:pt x="36" y="214"/>
                  </a:lnTo>
                  <a:lnTo>
                    <a:pt x="29" y="231"/>
                  </a:lnTo>
                  <a:lnTo>
                    <a:pt x="23" y="248"/>
                  </a:lnTo>
                  <a:lnTo>
                    <a:pt x="17" y="265"/>
                  </a:lnTo>
                  <a:lnTo>
                    <a:pt x="12" y="283"/>
                  </a:lnTo>
                  <a:lnTo>
                    <a:pt x="7" y="301"/>
                  </a:lnTo>
                  <a:lnTo>
                    <a:pt x="4" y="320"/>
                  </a:lnTo>
                  <a:lnTo>
                    <a:pt x="1" y="339"/>
                  </a:lnTo>
                  <a:lnTo>
                    <a:pt x="0" y="357"/>
                  </a:lnTo>
                  <a:lnTo>
                    <a:pt x="0" y="377"/>
                  </a:lnTo>
                  <a:lnTo>
                    <a:pt x="0" y="396"/>
                  </a:lnTo>
                  <a:lnTo>
                    <a:pt x="1" y="415"/>
                  </a:lnTo>
                  <a:lnTo>
                    <a:pt x="4" y="434"/>
                  </a:lnTo>
                  <a:lnTo>
                    <a:pt x="7" y="452"/>
                  </a:lnTo>
                  <a:lnTo>
                    <a:pt x="12" y="470"/>
                  </a:lnTo>
                  <a:lnTo>
                    <a:pt x="17" y="488"/>
                  </a:lnTo>
                  <a:lnTo>
                    <a:pt x="23" y="505"/>
                  </a:lnTo>
                  <a:lnTo>
                    <a:pt x="29" y="523"/>
                  </a:lnTo>
                  <a:lnTo>
                    <a:pt x="36" y="539"/>
                  </a:lnTo>
                  <a:lnTo>
                    <a:pt x="45" y="556"/>
                  </a:lnTo>
                  <a:lnTo>
                    <a:pt x="55" y="572"/>
                  </a:lnTo>
                  <a:lnTo>
                    <a:pt x="64" y="587"/>
                  </a:lnTo>
                  <a:lnTo>
                    <a:pt x="74" y="601"/>
                  </a:lnTo>
                  <a:lnTo>
                    <a:pt x="86" y="616"/>
                  </a:lnTo>
                  <a:lnTo>
                    <a:pt x="97" y="629"/>
                  </a:lnTo>
                  <a:lnTo>
                    <a:pt x="110" y="642"/>
                  </a:lnTo>
                  <a:lnTo>
                    <a:pt x="123" y="655"/>
                  </a:lnTo>
                  <a:lnTo>
                    <a:pt x="137" y="667"/>
                  </a:lnTo>
                  <a:lnTo>
                    <a:pt x="150" y="678"/>
                  </a:lnTo>
                  <a:lnTo>
                    <a:pt x="165" y="689"/>
                  </a:lnTo>
                  <a:lnTo>
                    <a:pt x="181" y="698"/>
                  </a:lnTo>
                  <a:lnTo>
                    <a:pt x="197" y="707"/>
                  </a:lnTo>
                  <a:lnTo>
                    <a:pt x="212" y="715"/>
                  </a:lnTo>
                  <a:lnTo>
                    <a:pt x="229" y="723"/>
                  </a:lnTo>
                  <a:lnTo>
                    <a:pt x="246" y="730"/>
                  </a:lnTo>
                  <a:lnTo>
                    <a:pt x="263" y="736"/>
                  </a:lnTo>
                  <a:lnTo>
                    <a:pt x="282" y="741"/>
                  </a:lnTo>
                  <a:lnTo>
                    <a:pt x="300" y="744"/>
                  </a:lnTo>
                  <a:lnTo>
                    <a:pt x="318" y="748"/>
                  </a:lnTo>
                  <a:lnTo>
                    <a:pt x="337" y="751"/>
                  </a:lnTo>
                  <a:lnTo>
                    <a:pt x="357" y="752"/>
                  </a:lnTo>
                  <a:lnTo>
                    <a:pt x="375" y="753"/>
                  </a:lnTo>
                  <a:lnTo>
                    <a:pt x="395" y="752"/>
                  </a:lnTo>
                  <a:lnTo>
                    <a:pt x="414" y="751"/>
                  </a:lnTo>
                  <a:lnTo>
                    <a:pt x="433" y="748"/>
                  </a:lnTo>
                  <a:lnTo>
                    <a:pt x="452" y="744"/>
                  </a:lnTo>
                  <a:lnTo>
                    <a:pt x="470" y="741"/>
                  </a:lnTo>
                  <a:lnTo>
                    <a:pt x="487" y="736"/>
                  </a:lnTo>
                  <a:lnTo>
                    <a:pt x="505" y="730"/>
                  </a:lnTo>
                  <a:lnTo>
                    <a:pt x="522" y="723"/>
                  </a:lnTo>
                  <a:lnTo>
                    <a:pt x="539" y="715"/>
                  </a:lnTo>
                  <a:lnTo>
                    <a:pt x="555" y="707"/>
                  </a:lnTo>
                  <a:lnTo>
                    <a:pt x="571" y="698"/>
                  </a:lnTo>
                  <a:lnTo>
                    <a:pt x="585" y="689"/>
                  </a:lnTo>
                  <a:lnTo>
                    <a:pt x="601" y="678"/>
                  </a:lnTo>
                  <a:lnTo>
                    <a:pt x="614" y="667"/>
                  </a:lnTo>
                  <a:lnTo>
                    <a:pt x="629" y="655"/>
                  </a:lnTo>
                  <a:lnTo>
                    <a:pt x="641" y="642"/>
                  </a:lnTo>
                  <a:lnTo>
                    <a:pt x="654" y="629"/>
                  </a:lnTo>
                  <a:lnTo>
                    <a:pt x="665" y="616"/>
                  </a:lnTo>
                  <a:lnTo>
                    <a:pt x="677" y="601"/>
                  </a:lnTo>
                  <a:lnTo>
                    <a:pt x="687" y="587"/>
                  </a:lnTo>
                  <a:lnTo>
                    <a:pt x="697" y="572"/>
                  </a:lnTo>
                  <a:lnTo>
                    <a:pt x="707" y="556"/>
                  </a:lnTo>
                  <a:lnTo>
                    <a:pt x="715" y="539"/>
                  </a:lnTo>
                  <a:lnTo>
                    <a:pt x="722" y="523"/>
                  </a:lnTo>
                  <a:lnTo>
                    <a:pt x="728" y="505"/>
                  </a:lnTo>
                  <a:lnTo>
                    <a:pt x="734" y="488"/>
                  </a:lnTo>
                  <a:lnTo>
                    <a:pt x="739" y="470"/>
                  </a:lnTo>
                  <a:lnTo>
                    <a:pt x="744" y="452"/>
                  </a:lnTo>
                  <a:lnTo>
                    <a:pt x="748" y="434"/>
                  </a:lnTo>
                  <a:lnTo>
                    <a:pt x="750" y="415"/>
                  </a:lnTo>
                  <a:lnTo>
                    <a:pt x="751" y="396"/>
                  </a:lnTo>
                  <a:lnTo>
                    <a:pt x="751" y="377"/>
                  </a:lnTo>
                  <a:lnTo>
                    <a:pt x="751" y="358"/>
                  </a:lnTo>
                  <a:lnTo>
                    <a:pt x="750" y="340"/>
                  </a:lnTo>
                  <a:lnTo>
                    <a:pt x="748" y="322"/>
                  </a:lnTo>
                  <a:lnTo>
                    <a:pt x="744" y="304"/>
                  </a:lnTo>
                  <a:lnTo>
                    <a:pt x="741" y="286"/>
                  </a:lnTo>
                  <a:lnTo>
                    <a:pt x="736" y="267"/>
                  </a:lnTo>
                  <a:lnTo>
                    <a:pt x="730" y="250"/>
                  </a:lnTo>
                  <a:lnTo>
                    <a:pt x="724" y="233"/>
                  </a:lnTo>
                  <a:lnTo>
                    <a:pt x="716" y="216"/>
                  </a:lnTo>
                  <a:lnTo>
                    <a:pt x="708" y="201"/>
                  </a:lnTo>
                  <a:lnTo>
                    <a:pt x="698" y="185"/>
                  </a:lnTo>
                  <a:lnTo>
                    <a:pt x="688" y="169"/>
                  </a:lnTo>
                  <a:lnTo>
                    <a:pt x="679" y="154"/>
                  </a:lnTo>
                  <a:lnTo>
                    <a:pt x="666" y="140"/>
                  </a:lnTo>
                  <a:lnTo>
                    <a:pt x="654" y="125"/>
                  </a:lnTo>
                  <a:lnTo>
                    <a:pt x="641"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1296">
              <a:extLst>
                <a:ext uri="{FF2B5EF4-FFF2-40B4-BE49-F238E27FC236}">
                  <a16:creationId xmlns:a16="http://schemas.microsoft.com/office/drawing/2014/main" id="{94204B3A-64F4-4D6A-8632-880F47829F35}"/>
                </a:ext>
              </a:extLst>
            </p:cNvPr>
            <p:cNvSpPr>
              <a:spLocks noEditPoints="1"/>
            </p:cNvSpPr>
            <p:nvPr/>
          </p:nvSpPr>
          <p:spPr bwMode="auto">
            <a:xfrm>
              <a:off x="5600700" y="2500313"/>
              <a:ext cx="90488" cy="123825"/>
            </a:xfrm>
            <a:custGeom>
              <a:avLst/>
              <a:gdLst>
                <a:gd name="T0" fmla="*/ 45 w 286"/>
                <a:gd name="T1" fmla="*/ 31 h 391"/>
                <a:gd name="T2" fmla="*/ 75 w 286"/>
                <a:gd name="T3" fmla="*/ 35 h 391"/>
                <a:gd name="T4" fmla="*/ 105 w 286"/>
                <a:gd name="T5" fmla="*/ 42 h 391"/>
                <a:gd name="T6" fmla="*/ 134 w 286"/>
                <a:gd name="T7" fmla="*/ 51 h 391"/>
                <a:gd name="T8" fmla="*/ 162 w 286"/>
                <a:gd name="T9" fmla="*/ 62 h 391"/>
                <a:gd name="T10" fmla="*/ 188 w 286"/>
                <a:gd name="T11" fmla="*/ 76 h 391"/>
                <a:gd name="T12" fmla="*/ 214 w 286"/>
                <a:gd name="T13" fmla="*/ 92 h 391"/>
                <a:gd name="T14" fmla="*/ 237 w 286"/>
                <a:gd name="T15" fmla="*/ 110 h 391"/>
                <a:gd name="T16" fmla="*/ 205 w 286"/>
                <a:gd name="T17" fmla="*/ 164 h 391"/>
                <a:gd name="T18" fmla="*/ 167 w 286"/>
                <a:gd name="T19" fmla="*/ 133 h 391"/>
                <a:gd name="T20" fmla="*/ 124 w 286"/>
                <a:gd name="T21" fmla="*/ 112 h 391"/>
                <a:gd name="T22" fmla="*/ 78 w 286"/>
                <a:gd name="T23" fmla="*/ 97 h 391"/>
                <a:gd name="T24" fmla="*/ 29 w 286"/>
                <a:gd name="T25" fmla="*/ 91 h 391"/>
                <a:gd name="T26" fmla="*/ 152 w 286"/>
                <a:gd name="T27" fmla="*/ 238 h 391"/>
                <a:gd name="T28" fmla="*/ 100 w 286"/>
                <a:gd name="T29" fmla="*/ 292 h 391"/>
                <a:gd name="T30" fmla="*/ 78 w 286"/>
                <a:gd name="T31" fmla="*/ 313 h 391"/>
                <a:gd name="T32" fmla="*/ 65 w 286"/>
                <a:gd name="T33" fmla="*/ 294 h 391"/>
                <a:gd name="T34" fmla="*/ 61 w 286"/>
                <a:gd name="T35" fmla="*/ 269 h 391"/>
                <a:gd name="T36" fmla="*/ 65 w 286"/>
                <a:gd name="T37" fmla="*/ 246 h 391"/>
                <a:gd name="T38" fmla="*/ 78 w 286"/>
                <a:gd name="T39" fmla="*/ 227 h 391"/>
                <a:gd name="T40" fmla="*/ 97 w 286"/>
                <a:gd name="T41" fmla="*/ 215 h 391"/>
                <a:gd name="T42" fmla="*/ 120 w 286"/>
                <a:gd name="T43" fmla="*/ 210 h 391"/>
                <a:gd name="T44" fmla="*/ 133 w 286"/>
                <a:gd name="T45" fmla="*/ 211 h 391"/>
                <a:gd name="T46" fmla="*/ 143 w 286"/>
                <a:gd name="T47" fmla="*/ 215 h 391"/>
                <a:gd name="T48" fmla="*/ 163 w 286"/>
                <a:gd name="T49" fmla="*/ 228 h 391"/>
                <a:gd name="T50" fmla="*/ 9 w 286"/>
                <a:gd name="T51" fmla="*/ 391 h 391"/>
                <a:gd name="T52" fmla="*/ 15 w 286"/>
                <a:gd name="T53" fmla="*/ 391 h 391"/>
                <a:gd name="T54" fmla="*/ 26 w 286"/>
                <a:gd name="T55" fmla="*/ 386 h 391"/>
                <a:gd name="T56" fmla="*/ 218 w 286"/>
                <a:gd name="T57" fmla="*/ 195 h 391"/>
                <a:gd name="T58" fmla="*/ 218 w 286"/>
                <a:gd name="T59" fmla="*/ 193 h 391"/>
                <a:gd name="T60" fmla="*/ 283 w 286"/>
                <a:gd name="T61" fmla="*/ 129 h 391"/>
                <a:gd name="T62" fmla="*/ 286 w 286"/>
                <a:gd name="T63" fmla="*/ 123 h 391"/>
                <a:gd name="T64" fmla="*/ 284 w 286"/>
                <a:gd name="T65" fmla="*/ 114 h 391"/>
                <a:gd name="T66" fmla="*/ 267 w 286"/>
                <a:gd name="T67" fmla="*/ 96 h 391"/>
                <a:gd name="T68" fmla="*/ 239 w 286"/>
                <a:gd name="T69" fmla="*/ 73 h 391"/>
                <a:gd name="T70" fmla="*/ 208 w 286"/>
                <a:gd name="T71" fmla="*/ 52 h 391"/>
                <a:gd name="T72" fmla="*/ 176 w 286"/>
                <a:gd name="T73" fmla="*/ 35 h 391"/>
                <a:gd name="T74" fmla="*/ 142 w 286"/>
                <a:gd name="T75" fmla="*/ 21 h 391"/>
                <a:gd name="T76" fmla="*/ 107 w 286"/>
                <a:gd name="T77" fmla="*/ 11 h 391"/>
                <a:gd name="T78" fmla="*/ 71 w 286"/>
                <a:gd name="T79" fmla="*/ 4 h 391"/>
                <a:gd name="T80" fmla="*/ 34 w 286"/>
                <a:gd name="T81" fmla="*/ 0 h 391"/>
                <a:gd name="T82" fmla="*/ 9 w 286"/>
                <a:gd name="T83" fmla="*/ 1 h 391"/>
                <a:gd name="T84" fmla="*/ 1 w 286"/>
                <a:gd name="T85" fmla="*/ 8 h 391"/>
                <a:gd name="T86" fmla="*/ 0 w 286"/>
                <a:gd name="T87" fmla="*/ 104 h 391"/>
                <a:gd name="T88" fmla="*/ 0 w 286"/>
                <a:gd name="T89" fmla="*/ 380 h 391"/>
                <a:gd name="T90" fmla="*/ 5 w 286"/>
                <a:gd name="T91" fmla="*/ 387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6" h="391">
                  <a:moveTo>
                    <a:pt x="29" y="31"/>
                  </a:moveTo>
                  <a:lnTo>
                    <a:pt x="45" y="31"/>
                  </a:lnTo>
                  <a:lnTo>
                    <a:pt x="61" y="34"/>
                  </a:lnTo>
                  <a:lnTo>
                    <a:pt x="75" y="35"/>
                  </a:lnTo>
                  <a:lnTo>
                    <a:pt x="90" y="39"/>
                  </a:lnTo>
                  <a:lnTo>
                    <a:pt x="105" y="42"/>
                  </a:lnTo>
                  <a:lnTo>
                    <a:pt x="119" y="46"/>
                  </a:lnTo>
                  <a:lnTo>
                    <a:pt x="134" y="51"/>
                  </a:lnTo>
                  <a:lnTo>
                    <a:pt x="148" y="56"/>
                  </a:lnTo>
                  <a:lnTo>
                    <a:pt x="162" y="62"/>
                  </a:lnTo>
                  <a:lnTo>
                    <a:pt x="175" y="69"/>
                  </a:lnTo>
                  <a:lnTo>
                    <a:pt x="188" y="76"/>
                  </a:lnTo>
                  <a:lnTo>
                    <a:pt x="201" y="84"/>
                  </a:lnTo>
                  <a:lnTo>
                    <a:pt x="214" y="92"/>
                  </a:lnTo>
                  <a:lnTo>
                    <a:pt x="226" y="102"/>
                  </a:lnTo>
                  <a:lnTo>
                    <a:pt x="237" y="110"/>
                  </a:lnTo>
                  <a:lnTo>
                    <a:pt x="249" y="121"/>
                  </a:lnTo>
                  <a:lnTo>
                    <a:pt x="205" y="164"/>
                  </a:lnTo>
                  <a:lnTo>
                    <a:pt x="187" y="148"/>
                  </a:lnTo>
                  <a:lnTo>
                    <a:pt x="167" y="133"/>
                  </a:lnTo>
                  <a:lnTo>
                    <a:pt x="146" y="123"/>
                  </a:lnTo>
                  <a:lnTo>
                    <a:pt x="124" y="112"/>
                  </a:lnTo>
                  <a:lnTo>
                    <a:pt x="101" y="103"/>
                  </a:lnTo>
                  <a:lnTo>
                    <a:pt x="78" y="97"/>
                  </a:lnTo>
                  <a:lnTo>
                    <a:pt x="55" y="93"/>
                  </a:lnTo>
                  <a:lnTo>
                    <a:pt x="29" y="91"/>
                  </a:lnTo>
                  <a:lnTo>
                    <a:pt x="29" y="31"/>
                  </a:lnTo>
                  <a:close/>
                  <a:moveTo>
                    <a:pt x="152" y="238"/>
                  </a:moveTo>
                  <a:lnTo>
                    <a:pt x="142" y="249"/>
                  </a:lnTo>
                  <a:lnTo>
                    <a:pt x="100" y="292"/>
                  </a:lnTo>
                  <a:lnTo>
                    <a:pt x="89" y="303"/>
                  </a:lnTo>
                  <a:lnTo>
                    <a:pt x="78" y="313"/>
                  </a:lnTo>
                  <a:lnTo>
                    <a:pt x="71" y="303"/>
                  </a:lnTo>
                  <a:lnTo>
                    <a:pt x="65" y="294"/>
                  </a:lnTo>
                  <a:lnTo>
                    <a:pt x="61" y="282"/>
                  </a:lnTo>
                  <a:lnTo>
                    <a:pt x="61" y="269"/>
                  </a:lnTo>
                  <a:lnTo>
                    <a:pt x="62" y="258"/>
                  </a:lnTo>
                  <a:lnTo>
                    <a:pt x="65" y="246"/>
                  </a:lnTo>
                  <a:lnTo>
                    <a:pt x="71" y="237"/>
                  </a:lnTo>
                  <a:lnTo>
                    <a:pt x="78" y="227"/>
                  </a:lnTo>
                  <a:lnTo>
                    <a:pt x="86" y="220"/>
                  </a:lnTo>
                  <a:lnTo>
                    <a:pt x="97" y="215"/>
                  </a:lnTo>
                  <a:lnTo>
                    <a:pt x="108" y="211"/>
                  </a:lnTo>
                  <a:lnTo>
                    <a:pt x="120" y="210"/>
                  </a:lnTo>
                  <a:lnTo>
                    <a:pt x="126" y="210"/>
                  </a:lnTo>
                  <a:lnTo>
                    <a:pt x="133" y="211"/>
                  </a:lnTo>
                  <a:lnTo>
                    <a:pt x="139" y="212"/>
                  </a:lnTo>
                  <a:lnTo>
                    <a:pt x="143" y="215"/>
                  </a:lnTo>
                  <a:lnTo>
                    <a:pt x="154" y="221"/>
                  </a:lnTo>
                  <a:lnTo>
                    <a:pt x="163" y="228"/>
                  </a:lnTo>
                  <a:lnTo>
                    <a:pt x="152" y="238"/>
                  </a:lnTo>
                  <a:close/>
                  <a:moveTo>
                    <a:pt x="9" y="391"/>
                  </a:moveTo>
                  <a:lnTo>
                    <a:pt x="12" y="391"/>
                  </a:lnTo>
                  <a:lnTo>
                    <a:pt x="15" y="391"/>
                  </a:lnTo>
                  <a:lnTo>
                    <a:pt x="21" y="390"/>
                  </a:lnTo>
                  <a:lnTo>
                    <a:pt x="26" y="386"/>
                  </a:lnTo>
                  <a:lnTo>
                    <a:pt x="205" y="206"/>
                  </a:lnTo>
                  <a:lnTo>
                    <a:pt x="218" y="195"/>
                  </a:lnTo>
                  <a:lnTo>
                    <a:pt x="218" y="194"/>
                  </a:lnTo>
                  <a:lnTo>
                    <a:pt x="218" y="193"/>
                  </a:lnTo>
                  <a:lnTo>
                    <a:pt x="281" y="130"/>
                  </a:lnTo>
                  <a:lnTo>
                    <a:pt x="283" y="129"/>
                  </a:lnTo>
                  <a:lnTo>
                    <a:pt x="284" y="126"/>
                  </a:lnTo>
                  <a:lnTo>
                    <a:pt x="286" y="123"/>
                  </a:lnTo>
                  <a:lnTo>
                    <a:pt x="286" y="120"/>
                  </a:lnTo>
                  <a:lnTo>
                    <a:pt x="284" y="114"/>
                  </a:lnTo>
                  <a:lnTo>
                    <a:pt x="281" y="109"/>
                  </a:lnTo>
                  <a:lnTo>
                    <a:pt x="267" y="96"/>
                  </a:lnTo>
                  <a:lnTo>
                    <a:pt x="254" y="84"/>
                  </a:lnTo>
                  <a:lnTo>
                    <a:pt x="239" y="73"/>
                  </a:lnTo>
                  <a:lnTo>
                    <a:pt x="224" y="62"/>
                  </a:lnTo>
                  <a:lnTo>
                    <a:pt x="208" y="52"/>
                  </a:lnTo>
                  <a:lnTo>
                    <a:pt x="192" y="44"/>
                  </a:lnTo>
                  <a:lnTo>
                    <a:pt x="176" y="35"/>
                  </a:lnTo>
                  <a:lnTo>
                    <a:pt x="159" y="28"/>
                  </a:lnTo>
                  <a:lnTo>
                    <a:pt x="142" y="21"/>
                  </a:lnTo>
                  <a:lnTo>
                    <a:pt x="125" y="16"/>
                  </a:lnTo>
                  <a:lnTo>
                    <a:pt x="107" y="11"/>
                  </a:lnTo>
                  <a:lnTo>
                    <a:pt x="89" y="6"/>
                  </a:lnTo>
                  <a:lnTo>
                    <a:pt x="71" y="4"/>
                  </a:lnTo>
                  <a:lnTo>
                    <a:pt x="52" y="1"/>
                  </a:lnTo>
                  <a:lnTo>
                    <a:pt x="34" y="0"/>
                  </a:lnTo>
                  <a:lnTo>
                    <a:pt x="15" y="0"/>
                  </a:lnTo>
                  <a:lnTo>
                    <a:pt x="9" y="1"/>
                  </a:lnTo>
                  <a:lnTo>
                    <a:pt x="4" y="4"/>
                  </a:lnTo>
                  <a:lnTo>
                    <a:pt x="1" y="8"/>
                  </a:lnTo>
                  <a:lnTo>
                    <a:pt x="0" y="14"/>
                  </a:lnTo>
                  <a:lnTo>
                    <a:pt x="0" y="104"/>
                  </a:lnTo>
                  <a:lnTo>
                    <a:pt x="0" y="375"/>
                  </a:lnTo>
                  <a:lnTo>
                    <a:pt x="0" y="380"/>
                  </a:lnTo>
                  <a:lnTo>
                    <a:pt x="3" y="384"/>
                  </a:lnTo>
                  <a:lnTo>
                    <a:pt x="5" y="387"/>
                  </a:lnTo>
                  <a:lnTo>
                    <a:pt x="9" y="3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6" name="Group 75">
            <a:extLst>
              <a:ext uri="{FF2B5EF4-FFF2-40B4-BE49-F238E27FC236}">
                <a16:creationId xmlns:a16="http://schemas.microsoft.com/office/drawing/2014/main" id="{6D88E5FC-70BD-4451-AB3C-04F123134895}"/>
              </a:ext>
            </a:extLst>
          </p:cNvPr>
          <p:cNvGrpSpPr/>
          <p:nvPr/>
        </p:nvGrpSpPr>
        <p:grpSpPr>
          <a:xfrm>
            <a:off x="1416422" y="4469076"/>
            <a:ext cx="272303" cy="362396"/>
            <a:chOff x="5467350" y="2500313"/>
            <a:chExt cx="238125" cy="285750"/>
          </a:xfrm>
          <a:solidFill>
            <a:srgbClr val="C00000"/>
          </a:solidFill>
        </p:grpSpPr>
        <p:sp>
          <p:nvSpPr>
            <p:cNvPr id="77" name="Freeform 1295">
              <a:extLst>
                <a:ext uri="{FF2B5EF4-FFF2-40B4-BE49-F238E27FC236}">
                  <a16:creationId xmlns:a16="http://schemas.microsoft.com/office/drawing/2014/main" id="{DD5B1897-FA6A-4DF1-9B30-F521D9F09AC9}"/>
                </a:ext>
              </a:extLst>
            </p:cNvPr>
            <p:cNvSpPr>
              <a:spLocks noEditPoints="1"/>
            </p:cNvSpPr>
            <p:nvPr/>
          </p:nvSpPr>
          <p:spPr bwMode="auto">
            <a:xfrm>
              <a:off x="5467350" y="2547938"/>
              <a:ext cx="238125" cy="238125"/>
            </a:xfrm>
            <a:custGeom>
              <a:avLst/>
              <a:gdLst>
                <a:gd name="T0" fmla="*/ 257 w 751"/>
                <a:gd name="T1" fmla="*/ 702 h 753"/>
                <a:gd name="T2" fmla="*/ 143 w 751"/>
                <a:gd name="T3" fmla="*/ 633 h 753"/>
                <a:gd name="T4" fmla="*/ 64 w 751"/>
                <a:gd name="T5" fmla="*/ 527 h 753"/>
                <a:gd name="T6" fmla="*/ 30 w 751"/>
                <a:gd name="T7" fmla="*/ 395 h 753"/>
                <a:gd name="T8" fmla="*/ 50 w 751"/>
                <a:gd name="T9" fmla="*/ 261 h 753"/>
                <a:gd name="T10" fmla="*/ 115 w 751"/>
                <a:gd name="T11" fmla="*/ 150 h 753"/>
                <a:gd name="T12" fmla="*/ 217 w 751"/>
                <a:gd name="T13" fmla="*/ 71 h 753"/>
                <a:gd name="T14" fmla="*/ 344 w 751"/>
                <a:gd name="T15" fmla="*/ 33 h 753"/>
                <a:gd name="T16" fmla="*/ 279 w 751"/>
                <a:gd name="T17" fmla="*/ 108 h 753"/>
                <a:gd name="T18" fmla="*/ 188 w 751"/>
                <a:gd name="T19" fmla="*/ 162 h 753"/>
                <a:gd name="T20" fmla="*/ 123 w 751"/>
                <a:gd name="T21" fmla="*/ 245 h 753"/>
                <a:gd name="T22" fmla="*/ 91 w 751"/>
                <a:gd name="T23" fmla="*/ 349 h 753"/>
                <a:gd name="T24" fmla="*/ 103 w 751"/>
                <a:gd name="T25" fmla="*/ 462 h 753"/>
                <a:gd name="T26" fmla="*/ 155 w 751"/>
                <a:gd name="T27" fmla="*/ 559 h 753"/>
                <a:gd name="T28" fmla="*/ 239 w 751"/>
                <a:gd name="T29" fmla="*/ 628 h 753"/>
                <a:gd name="T30" fmla="*/ 346 w 751"/>
                <a:gd name="T31" fmla="*/ 661 h 753"/>
                <a:gd name="T32" fmla="*/ 460 w 751"/>
                <a:gd name="T33" fmla="*/ 650 h 753"/>
                <a:gd name="T34" fmla="*/ 557 w 751"/>
                <a:gd name="T35" fmla="*/ 598 h 753"/>
                <a:gd name="T36" fmla="*/ 626 w 751"/>
                <a:gd name="T37" fmla="*/ 513 h 753"/>
                <a:gd name="T38" fmla="*/ 660 w 751"/>
                <a:gd name="T39" fmla="*/ 406 h 753"/>
                <a:gd name="T40" fmla="*/ 619 w 751"/>
                <a:gd name="T41" fmla="*/ 227 h 753"/>
                <a:gd name="T42" fmla="*/ 677 w 751"/>
                <a:gd name="T43" fmla="*/ 208 h 753"/>
                <a:gd name="T44" fmla="*/ 719 w 751"/>
                <a:gd name="T45" fmla="*/ 328 h 753"/>
                <a:gd name="T46" fmla="*/ 710 w 751"/>
                <a:gd name="T47" fmla="*/ 463 h 753"/>
                <a:gd name="T48" fmla="*/ 653 w 751"/>
                <a:gd name="T49" fmla="*/ 583 h 753"/>
                <a:gd name="T50" fmla="*/ 555 w 751"/>
                <a:gd name="T51" fmla="*/ 673 h 753"/>
                <a:gd name="T52" fmla="*/ 429 w 751"/>
                <a:gd name="T53" fmla="*/ 719 h 753"/>
                <a:gd name="T54" fmla="*/ 283 w 751"/>
                <a:gd name="T55" fmla="*/ 464 h 753"/>
                <a:gd name="T56" fmla="*/ 198 w 751"/>
                <a:gd name="T57" fmla="*/ 464 h 753"/>
                <a:gd name="T58" fmla="*/ 198 w 751"/>
                <a:gd name="T59" fmla="*/ 379 h 753"/>
                <a:gd name="T60" fmla="*/ 283 w 751"/>
                <a:gd name="T61" fmla="*/ 379 h 753"/>
                <a:gd name="T62" fmla="*/ 237 w 751"/>
                <a:gd name="T63" fmla="*/ 321 h 753"/>
                <a:gd name="T64" fmla="*/ 221 w 751"/>
                <a:gd name="T65" fmla="*/ 238 h 753"/>
                <a:gd name="T66" fmla="*/ 303 w 751"/>
                <a:gd name="T67" fmla="*/ 221 h 753"/>
                <a:gd name="T68" fmla="*/ 320 w 751"/>
                <a:gd name="T69" fmla="*/ 305 h 753"/>
                <a:gd name="T70" fmla="*/ 414 w 751"/>
                <a:gd name="T71" fmla="*/ 487 h 753"/>
                <a:gd name="T72" fmla="*/ 447 w 751"/>
                <a:gd name="T73" fmla="*/ 566 h 753"/>
                <a:gd name="T74" fmla="*/ 368 w 751"/>
                <a:gd name="T75" fmla="*/ 598 h 753"/>
                <a:gd name="T76" fmla="*/ 335 w 751"/>
                <a:gd name="T77" fmla="*/ 519 h 753"/>
                <a:gd name="T78" fmla="*/ 460 w 751"/>
                <a:gd name="T79" fmla="*/ 294 h 753"/>
                <a:gd name="T80" fmla="*/ 540 w 751"/>
                <a:gd name="T81" fmla="*/ 283 h 753"/>
                <a:gd name="T82" fmla="*/ 469 w 751"/>
                <a:gd name="T83" fmla="*/ 330 h 753"/>
                <a:gd name="T84" fmla="*/ 561 w 751"/>
                <a:gd name="T85" fmla="*/ 455 h 753"/>
                <a:gd name="T86" fmla="*/ 477 w 751"/>
                <a:gd name="T87" fmla="*/ 471 h 753"/>
                <a:gd name="T88" fmla="*/ 461 w 751"/>
                <a:gd name="T89" fmla="*/ 389 h 753"/>
                <a:gd name="T90" fmla="*/ 545 w 751"/>
                <a:gd name="T91" fmla="*/ 372 h 753"/>
                <a:gd name="T92" fmla="*/ 636 w 751"/>
                <a:gd name="T93" fmla="*/ 108 h 753"/>
                <a:gd name="T94" fmla="*/ 391 w 751"/>
                <a:gd name="T95" fmla="*/ 340 h 753"/>
                <a:gd name="T96" fmla="*/ 337 w 751"/>
                <a:gd name="T97" fmla="*/ 3 h 753"/>
                <a:gd name="T98" fmla="*/ 197 w 751"/>
                <a:gd name="T99" fmla="*/ 46 h 753"/>
                <a:gd name="T100" fmla="*/ 86 w 751"/>
                <a:gd name="T101" fmla="*/ 139 h 753"/>
                <a:gd name="T102" fmla="*/ 17 w 751"/>
                <a:gd name="T103" fmla="*/ 265 h 753"/>
                <a:gd name="T104" fmla="*/ 1 w 751"/>
                <a:gd name="T105" fmla="*/ 415 h 753"/>
                <a:gd name="T106" fmla="*/ 45 w 751"/>
                <a:gd name="T107" fmla="*/ 556 h 753"/>
                <a:gd name="T108" fmla="*/ 137 w 751"/>
                <a:gd name="T109" fmla="*/ 667 h 753"/>
                <a:gd name="T110" fmla="*/ 263 w 751"/>
                <a:gd name="T111" fmla="*/ 736 h 753"/>
                <a:gd name="T112" fmla="*/ 414 w 751"/>
                <a:gd name="T113" fmla="*/ 751 h 753"/>
                <a:gd name="T114" fmla="*/ 555 w 751"/>
                <a:gd name="T115" fmla="*/ 707 h 753"/>
                <a:gd name="T116" fmla="*/ 665 w 751"/>
                <a:gd name="T117" fmla="*/ 616 h 753"/>
                <a:gd name="T118" fmla="*/ 734 w 751"/>
                <a:gd name="T119" fmla="*/ 488 h 753"/>
                <a:gd name="T120" fmla="*/ 750 w 751"/>
                <a:gd name="T121" fmla="*/ 340 h 753"/>
                <a:gd name="T122" fmla="*/ 708 w 751"/>
                <a:gd name="T123" fmla="*/ 201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1" h="753">
                  <a:moveTo>
                    <a:pt x="375" y="723"/>
                  </a:moveTo>
                  <a:lnTo>
                    <a:pt x="358" y="723"/>
                  </a:lnTo>
                  <a:lnTo>
                    <a:pt x="340" y="720"/>
                  </a:lnTo>
                  <a:lnTo>
                    <a:pt x="323" y="719"/>
                  </a:lnTo>
                  <a:lnTo>
                    <a:pt x="306" y="715"/>
                  </a:lnTo>
                  <a:lnTo>
                    <a:pt x="289" y="712"/>
                  </a:lnTo>
                  <a:lnTo>
                    <a:pt x="273" y="707"/>
                  </a:lnTo>
                  <a:lnTo>
                    <a:pt x="257" y="702"/>
                  </a:lnTo>
                  <a:lnTo>
                    <a:pt x="242" y="696"/>
                  </a:lnTo>
                  <a:lnTo>
                    <a:pt x="226" y="689"/>
                  </a:lnTo>
                  <a:lnTo>
                    <a:pt x="211" y="681"/>
                  </a:lnTo>
                  <a:lnTo>
                    <a:pt x="197" y="673"/>
                  </a:lnTo>
                  <a:lnTo>
                    <a:pt x="182" y="663"/>
                  </a:lnTo>
                  <a:lnTo>
                    <a:pt x="169" y="653"/>
                  </a:lnTo>
                  <a:lnTo>
                    <a:pt x="155" y="644"/>
                  </a:lnTo>
                  <a:lnTo>
                    <a:pt x="143" y="633"/>
                  </a:lnTo>
                  <a:lnTo>
                    <a:pt x="131" y="621"/>
                  </a:lnTo>
                  <a:lnTo>
                    <a:pt x="120" y="610"/>
                  </a:lnTo>
                  <a:lnTo>
                    <a:pt x="109" y="596"/>
                  </a:lnTo>
                  <a:lnTo>
                    <a:pt x="98" y="583"/>
                  </a:lnTo>
                  <a:lnTo>
                    <a:pt x="89" y="570"/>
                  </a:lnTo>
                  <a:lnTo>
                    <a:pt x="80" y="556"/>
                  </a:lnTo>
                  <a:lnTo>
                    <a:pt x="72" y="542"/>
                  </a:lnTo>
                  <a:lnTo>
                    <a:pt x="64" y="527"/>
                  </a:lnTo>
                  <a:lnTo>
                    <a:pt x="57" y="511"/>
                  </a:lnTo>
                  <a:lnTo>
                    <a:pt x="51" y="496"/>
                  </a:lnTo>
                  <a:lnTo>
                    <a:pt x="45" y="480"/>
                  </a:lnTo>
                  <a:lnTo>
                    <a:pt x="41" y="463"/>
                  </a:lnTo>
                  <a:lnTo>
                    <a:pt x="36" y="446"/>
                  </a:lnTo>
                  <a:lnTo>
                    <a:pt x="34" y="429"/>
                  </a:lnTo>
                  <a:lnTo>
                    <a:pt x="31" y="412"/>
                  </a:lnTo>
                  <a:lnTo>
                    <a:pt x="30" y="395"/>
                  </a:lnTo>
                  <a:lnTo>
                    <a:pt x="30" y="377"/>
                  </a:lnTo>
                  <a:lnTo>
                    <a:pt x="30" y="360"/>
                  </a:lnTo>
                  <a:lnTo>
                    <a:pt x="31" y="343"/>
                  </a:lnTo>
                  <a:lnTo>
                    <a:pt x="34" y="326"/>
                  </a:lnTo>
                  <a:lnTo>
                    <a:pt x="36" y="309"/>
                  </a:lnTo>
                  <a:lnTo>
                    <a:pt x="40" y="293"/>
                  </a:lnTo>
                  <a:lnTo>
                    <a:pt x="45" y="277"/>
                  </a:lnTo>
                  <a:lnTo>
                    <a:pt x="50" y="261"/>
                  </a:lnTo>
                  <a:lnTo>
                    <a:pt x="56" y="245"/>
                  </a:lnTo>
                  <a:lnTo>
                    <a:pt x="62" y="231"/>
                  </a:lnTo>
                  <a:lnTo>
                    <a:pt x="69" y="216"/>
                  </a:lnTo>
                  <a:lnTo>
                    <a:pt x="78" y="202"/>
                  </a:lnTo>
                  <a:lnTo>
                    <a:pt x="86" y="188"/>
                  </a:lnTo>
                  <a:lnTo>
                    <a:pt x="95" y="175"/>
                  </a:lnTo>
                  <a:lnTo>
                    <a:pt x="106" y="162"/>
                  </a:lnTo>
                  <a:lnTo>
                    <a:pt x="115" y="150"/>
                  </a:lnTo>
                  <a:lnTo>
                    <a:pt x="126" y="137"/>
                  </a:lnTo>
                  <a:lnTo>
                    <a:pt x="137" y="126"/>
                  </a:lnTo>
                  <a:lnTo>
                    <a:pt x="149" y="116"/>
                  </a:lnTo>
                  <a:lnTo>
                    <a:pt x="163" y="106"/>
                  </a:lnTo>
                  <a:lnTo>
                    <a:pt x="175" y="96"/>
                  </a:lnTo>
                  <a:lnTo>
                    <a:pt x="188" y="86"/>
                  </a:lnTo>
                  <a:lnTo>
                    <a:pt x="203" y="78"/>
                  </a:lnTo>
                  <a:lnTo>
                    <a:pt x="217" y="71"/>
                  </a:lnTo>
                  <a:lnTo>
                    <a:pt x="232" y="63"/>
                  </a:lnTo>
                  <a:lnTo>
                    <a:pt x="246" y="57"/>
                  </a:lnTo>
                  <a:lnTo>
                    <a:pt x="262" y="51"/>
                  </a:lnTo>
                  <a:lnTo>
                    <a:pt x="278" y="46"/>
                  </a:lnTo>
                  <a:lnTo>
                    <a:pt x="294" y="42"/>
                  </a:lnTo>
                  <a:lnTo>
                    <a:pt x="310" y="38"/>
                  </a:lnTo>
                  <a:lnTo>
                    <a:pt x="327" y="35"/>
                  </a:lnTo>
                  <a:lnTo>
                    <a:pt x="344" y="33"/>
                  </a:lnTo>
                  <a:lnTo>
                    <a:pt x="361" y="32"/>
                  </a:lnTo>
                  <a:lnTo>
                    <a:pt x="361" y="92"/>
                  </a:lnTo>
                  <a:lnTo>
                    <a:pt x="347" y="94"/>
                  </a:lnTo>
                  <a:lnTo>
                    <a:pt x="333" y="95"/>
                  </a:lnTo>
                  <a:lnTo>
                    <a:pt x="319" y="97"/>
                  </a:lnTo>
                  <a:lnTo>
                    <a:pt x="306" y="101"/>
                  </a:lnTo>
                  <a:lnTo>
                    <a:pt x="293" y="105"/>
                  </a:lnTo>
                  <a:lnTo>
                    <a:pt x="279" y="108"/>
                  </a:lnTo>
                  <a:lnTo>
                    <a:pt x="267" y="113"/>
                  </a:lnTo>
                  <a:lnTo>
                    <a:pt x="255" y="119"/>
                  </a:lnTo>
                  <a:lnTo>
                    <a:pt x="243" y="124"/>
                  </a:lnTo>
                  <a:lnTo>
                    <a:pt x="231" y="131"/>
                  </a:lnTo>
                  <a:lnTo>
                    <a:pt x="220" y="139"/>
                  </a:lnTo>
                  <a:lnTo>
                    <a:pt x="209" y="146"/>
                  </a:lnTo>
                  <a:lnTo>
                    <a:pt x="198" y="153"/>
                  </a:lnTo>
                  <a:lnTo>
                    <a:pt x="188" y="162"/>
                  </a:lnTo>
                  <a:lnTo>
                    <a:pt x="178" y="171"/>
                  </a:lnTo>
                  <a:lnTo>
                    <a:pt x="169" y="180"/>
                  </a:lnTo>
                  <a:lnTo>
                    <a:pt x="160" y="190"/>
                  </a:lnTo>
                  <a:lnTo>
                    <a:pt x="152" y="201"/>
                  </a:lnTo>
                  <a:lnTo>
                    <a:pt x="143" y="211"/>
                  </a:lnTo>
                  <a:lnTo>
                    <a:pt x="136" y="222"/>
                  </a:lnTo>
                  <a:lnTo>
                    <a:pt x="129" y="233"/>
                  </a:lnTo>
                  <a:lnTo>
                    <a:pt x="123" y="245"/>
                  </a:lnTo>
                  <a:lnTo>
                    <a:pt x="116" y="256"/>
                  </a:lnTo>
                  <a:lnTo>
                    <a:pt x="112" y="270"/>
                  </a:lnTo>
                  <a:lnTo>
                    <a:pt x="107" y="282"/>
                  </a:lnTo>
                  <a:lnTo>
                    <a:pt x="102" y="295"/>
                  </a:lnTo>
                  <a:lnTo>
                    <a:pt x="98" y="307"/>
                  </a:lnTo>
                  <a:lnTo>
                    <a:pt x="96" y="321"/>
                  </a:lnTo>
                  <a:lnTo>
                    <a:pt x="93" y="334"/>
                  </a:lnTo>
                  <a:lnTo>
                    <a:pt x="91" y="349"/>
                  </a:lnTo>
                  <a:lnTo>
                    <a:pt x="90" y="362"/>
                  </a:lnTo>
                  <a:lnTo>
                    <a:pt x="90" y="377"/>
                  </a:lnTo>
                  <a:lnTo>
                    <a:pt x="90" y="391"/>
                  </a:lnTo>
                  <a:lnTo>
                    <a:pt x="91" y="406"/>
                  </a:lnTo>
                  <a:lnTo>
                    <a:pt x="93" y="420"/>
                  </a:lnTo>
                  <a:lnTo>
                    <a:pt x="96" y="434"/>
                  </a:lnTo>
                  <a:lnTo>
                    <a:pt x="99" y="448"/>
                  </a:lnTo>
                  <a:lnTo>
                    <a:pt x="103" y="462"/>
                  </a:lnTo>
                  <a:lnTo>
                    <a:pt x="107" y="475"/>
                  </a:lnTo>
                  <a:lnTo>
                    <a:pt x="113" y="488"/>
                  </a:lnTo>
                  <a:lnTo>
                    <a:pt x="118" y="500"/>
                  </a:lnTo>
                  <a:lnTo>
                    <a:pt x="125" y="513"/>
                  </a:lnTo>
                  <a:lnTo>
                    <a:pt x="131" y="525"/>
                  </a:lnTo>
                  <a:lnTo>
                    <a:pt x="138" y="537"/>
                  </a:lnTo>
                  <a:lnTo>
                    <a:pt x="147" y="548"/>
                  </a:lnTo>
                  <a:lnTo>
                    <a:pt x="155" y="559"/>
                  </a:lnTo>
                  <a:lnTo>
                    <a:pt x="164" y="568"/>
                  </a:lnTo>
                  <a:lnTo>
                    <a:pt x="174" y="578"/>
                  </a:lnTo>
                  <a:lnTo>
                    <a:pt x="183" y="588"/>
                  </a:lnTo>
                  <a:lnTo>
                    <a:pt x="194" y="598"/>
                  </a:lnTo>
                  <a:lnTo>
                    <a:pt x="205" y="606"/>
                  </a:lnTo>
                  <a:lnTo>
                    <a:pt x="216" y="613"/>
                  </a:lnTo>
                  <a:lnTo>
                    <a:pt x="227" y="621"/>
                  </a:lnTo>
                  <a:lnTo>
                    <a:pt x="239" y="628"/>
                  </a:lnTo>
                  <a:lnTo>
                    <a:pt x="251" y="634"/>
                  </a:lnTo>
                  <a:lnTo>
                    <a:pt x="265" y="640"/>
                  </a:lnTo>
                  <a:lnTo>
                    <a:pt x="278" y="645"/>
                  </a:lnTo>
                  <a:lnTo>
                    <a:pt x="291" y="650"/>
                  </a:lnTo>
                  <a:lnTo>
                    <a:pt x="305" y="653"/>
                  </a:lnTo>
                  <a:lnTo>
                    <a:pt x="318" y="657"/>
                  </a:lnTo>
                  <a:lnTo>
                    <a:pt x="333" y="659"/>
                  </a:lnTo>
                  <a:lnTo>
                    <a:pt x="346" y="661"/>
                  </a:lnTo>
                  <a:lnTo>
                    <a:pt x="361" y="662"/>
                  </a:lnTo>
                  <a:lnTo>
                    <a:pt x="375" y="662"/>
                  </a:lnTo>
                  <a:lnTo>
                    <a:pt x="391" y="662"/>
                  </a:lnTo>
                  <a:lnTo>
                    <a:pt x="404" y="661"/>
                  </a:lnTo>
                  <a:lnTo>
                    <a:pt x="419" y="659"/>
                  </a:lnTo>
                  <a:lnTo>
                    <a:pt x="433" y="657"/>
                  </a:lnTo>
                  <a:lnTo>
                    <a:pt x="447" y="653"/>
                  </a:lnTo>
                  <a:lnTo>
                    <a:pt x="460" y="650"/>
                  </a:lnTo>
                  <a:lnTo>
                    <a:pt x="473" y="645"/>
                  </a:lnTo>
                  <a:lnTo>
                    <a:pt x="487" y="640"/>
                  </a:lnTo>
                  <a:lnTo>
                    <a:pt x="499" y="634"/>
                  </a:lnTo>
                  <a:lnTo>
                    <a:pt x="512" y="628"/>
                  </a:lnTo>
                  <a:lnTo>
                    <a:pt x="523" y="621"/>
                  </a:lnTo>
                  <a:lnTo>
                    <a:pt x="535" y="613"/>
                  </a:lnTo>
                  <a:lnTo>
                    <a:pt x="546" y="606"/>
                  </a:lnTo>
                  <a:lnTo>
                    <a:pt x="557" y="598"/>
                  </a:lnTo>
                  <a:lnTo>
                    <a:pt x="568" y="588"/>
                  </a:lnTo>
                  <a:lnTo>
                    <a:pt x="578" y="578"/>
                  </a:lnTo>
                  <a:lnTo>
                    <a:pt x="588" y="568"/>
                  </a:lnTo>
                  <a:lnTo>
                    <a:pt x="596" y="559"/>
                  </a:lnTo>
                  <a:lnTo>
                    <a:pt x="605" y="548"/>
                  </a:lnTo>
                  <a:lnTo>
                    <a:pt x="613" y="537"/>
                  </a:lnTo>
                  <a:lnTo>
                    <a:pt x="620" y="525"/>
                  </a:lnTo>
                  <a:lnTo>
                    <a:pt x="626" y="513"/>
                  </a:lnTo>
                  <a:lnTo>
                    <a:pt x="634" y="500"/>
                  </a:lnTo>
                  <a:lnTo>
                    <a:pt x="639" y="488"/>
                  </a:lnTo>
                  <a:lnTo>
                    <a:pt x="645" y="475"/>
                  </a:lnTo>
                  <a:lnTo>
                    <a:pt x="648" y="462"/>
                  </a:lnTo>
                  <a:lnTo>
                    <a:pt x="652" y="448"/>
                  </a:lnTo>
                  <a:lnTo>
                    <a:pt x="656" y="434"/>
                  </a:lnTo>
                  <a:lnTo>
                    <a:pt x="658" y="420"/>
                  </a:lnTo>
                  <a:lnTo>
                    <a:pt x="660" y="406"/>
                  </a:lnTo>
                  <a:lnTo>
                    <a:pt x="660" y="391"/>
                  </a:lnTo>
                  <a:lnTo>
                    <a:pt x="662" y="377"/>
                  </a:lnTo>
                  <a:lnTo>
                    <a:pt x="660" y="350"/>
                  </a:lnTo>
                  <a:lnTo>
                    <a:pt x="657" y="324"/>
                  </a:lnTo>
                  <a:lnTo>
                    <a:pt x="651" y="299"/>
                  </a:lnTo>
                  <a:lnTo>
                    <a:pt x="642" y="275"/>
                  </a:lnTo>
                  <a:lnTo>
                    <a:pt x="632" y="250"/>
                  </a:lnTo>
                  <a:lnTo>
                    <a:pt x="619" y="227"/>
                  </a:lnTo>
                  <a:lnTo>
                    <a:pt x="605" y="207"/>
                  </a:lnTo>
                  <a:lnTo>
                    <a:pt x="588" y="186"/>
                  </a:lnTo>
                  <a:lnTo>
                    <a:pt x="631" y="143"/>
                  </a:lnTo>
                  <a:lnTo>
                    <a:pt x="641" y="156"/>
                  </a:lnTo>
                  <a:lnTo>
                    <a:pt x="652" y="168"/>
                  </a:lnTo>
                  <a:lnTo>
                    <a:pt x="660" y="181"/>
                  </a:lnTo>
                  <a:lnTo>
                    <a:pt x="670" y="194"/>
                  </a:lnTo>
                  <a:lnTo>
                    <a:pt x="677" y="208"/>
                  </a:lnTo>
                  <a:lnTo>
                    <a:pt x="685" y="222"/>
                  </a:lnTo>
                  <a:lnTo>
                    <a:pt x="692" y="237"/>
                  </a:lnTo>
                  <a:lnTo>
                    <a:pt x="698" y="252"/>
                  </a:lnTo>
                  <a:lnTo>
                    <a:pt x="704" y="266"/>
                  </a:lnTo>
                  <a:lnTo>
                    <a:pt x="708" y="281"/>
                  </a:lnTo>
                  <a:lnTo>
                    <a:pt x="713" y="296"/>
                  </a:lnTo>
                  <a:lnTo>
                    <a:pt x="715" y="312"/>
                  </a:lnTo>
                  <a:lnTo>
                    <a:pt x="719" y="328"/>
                  </a:lnTo>
                  <a:lnTo>
                    <a:pt x="720" y="344"/>
                  </a:lnTo>
                  <a:lnTo>
                    <a:pt x="721" y="361"/>
                  </a:lnTo>
                  <a:lnTo>
                    <a:pt x="721" y="377"/>
                  </a:lnTo>
                  <a:lnTo>
                    <a:pt x="721" y="395"/>
                  </a:lnTo>
                  <a:lnTo>
                    <a:pt x="720" y="412"/>
                  </a:lnTo>
                  <a:lnTo>
                    <a:pt x="717" y="429"/>
                  </a:lnTo>
                  <a:lnTo>
                    <a:pt x="715" y="446"/>
                  </a:lnTo>
                  <a:lnTo>
                    <a:pt x="710" y="463"/>
                  </a:lnTo>
                  <a:lnTo>
                    <a:pt x="707" y="480"/>
                  </a:lnTo>
                  <a:lnTo>
                    <a:pt x="700" y="496"/>
                  </a:lnTo>
                  <a:lnTo>
                    <a:pt x="694" y="511"/>
                  </a:lnTo>
                  <a:lnTo>
                    <a:pt x="687" y="527"/>
                  </a:lnTo>
                  <a:lnTo>
                    <a:pt x="680" y="542"/>
                  </a:lnTo>
                  <a:lnTo>
                    <a:pt x="671" y="556"/>
                  </a:lnTo>
                  <a:lnTo>
                    <a:pt x="663" y="570"/>
                  </a:lnTo>
                  <a:lnTo>
                    <a:pt x="653" y="583"/>
                  </a:lnTo>
                  <a:lnTo>
                    <a:pt x="642" y="596"/>
                  </a:lnTo>
                  <a:lnTo>
                    <a:pt x="631" y="610"/>
                  </a:lnTo>
                  <a:lnTo>
                    <a:pt x="620" y="621"/>
                  </a:lnTo>
                  <a:lnTo>
                    <a:pt x="608" y="633"/>
                  </a:lnTo>
                  <a:lnTo>
                    <a:pt x="596" y="644"/>
                  </a:lnTo>
                  <a:lnTo>
                    <a:pt x="583" y="653"/>
                  </a:lnTo>
                  <a:lnTo>
                    <a:pt x="569" y="663"/>
                  </a:lnTo>
                  <a:lnTo>
                    <a:pt x="555" y="673"/>
                  </a:lnTo>
                  <a:lnTo>
                    <a:pt x="540" y="681"/>
                  </a:lnTo>
                  <a:lnTo>
                    <a:pt x="526" y="689"/>
                  </a:lnTo>
                  <a:lnTo>
                    <a:pt x="510" y="696"/>
                  </a:lnTo>
                  <a:lnTo>
                    <a:pt x="494" y="702"/>
                  </a:lnTo>
                  <a:lnTo>
                    <a:pt x="478" y="707"/>
                  </a:lnTo>
                  <a:lnTo>
                    <a:pt x="462" y="712"/>
                  </a:lnTo>
                  <a:lnTo>
                    <a:pt x="446" y="715"/>
                  </a:lnTo>
                  <a:lnTo>
                    <a:pt x="429" y="719"/>
                  </a:lnTo>
                  <a:lnTo>
                    <a:pt x="412" y="720"/>
                  </a:lnTo>
                  <a:lnTo>
                    <a:pt x="393" y="723"/>
                  </a:lnTo>
                  <a:lnTo>
                    <a:pt x="375" y="723"/>
                  </a:lnTo>
                  <a:close/>
                  <a:moveTo>
                    <a:pt x="301" y="422"/>
                  </a:moveTo>
                  <a:lnTo>
                    <a:pt x="300" y="434"/>
                  </a:lnTo>
                  <a:lnTo>
                    <a:pt x="296" y="445"/>
                  </a:lnTo>
                  <a:lnTo>
                    <a:pt x="290" y="455"/>
                  </a:lnTo>
                  <a:lnTo>
                    <a:pt x="283" y="464"/>
                  </a:lnTo>
                  <a:lnTo>
                    <a:pt x="274" y="471"/>
                  </a:lnTo>
                  <a:lnTo>
                    <a:pt x="263" y="477"/>
                  </a:lnTo>
                  <a:lnTo>
                    <a:pt x="252" y="481"/>
                  </a:lnTo>
                  <a:lnTo>
                    <a:pt x="240" y="482"/>
                  </a:lnTo>
                  <a:lnTo>
                    <a:pt x="228" y="481"/>
                  </a:lnTo>
                  <a:lnTo>
                    <a:pt x="217" y="477"/>
                  </a:lnTo>
                  <a:lnTo>
                    <a:pt x="206" y="471"/>
                  </a:lnTo>
                  <a:lnTo>
                    <a:pt x="198" y="464"/>
                  </a:lnTo>
                  <a:lnTo>
                    <a:pt x="191" y="455"/>
                  </a:lnTo>
                  <a:lnTo>
                    <a:pt x="184" y="445"/>
                  </a:lnTo>
                  <a:lnTo>
                    <a:pt x="181" y="434"/>
                  </a:lnTo>
                  <a:lnTo>
                    <a:pt x="180" y="422"/>
                  </a:lnTo>
                  <a:lnTo>
                    <a:pt x="181" y="409"/>
                  </a:lnTo>
                  <a:lnTo>
                    <a:pt x="184" y="398"/>
                  </a:lnTo>
                  <a:lnTo>
                    <a:pt x="191" y="389"/>
                  </a:lnTo>
                  <a:lnTo>
                    <a:pt x="198" y="379"/>
                  </a:lnTo>
                  <a:lnTo>
                    <a:pt x="206" y="372"/>
                  </a:lnTo>
                  <a:lnTo>
                    <a:pt x="217" y="367"/>
                  </a:lnTo>
                  <a:lnTo>
                    <a:pt x="228" y="363"/>
                  </a:lnTo>
                  <a:lnTo>
                    <a:pt x="240" y="362"/>
                  </a:lnTo>
                  <a:lnTo>
                    <a:pt x="252" y="363"/>
                  </a:lnTo>
                  <a:lnTo>
                    <a:pt x="263" y="367"/>
                  </a:lnTo>
                  <a:lnTo>
                    <a:pt x="274" y="372"/>
                  </a:lnTo>
                  <a:lnTo>
                    <a:pt x="283" y="379"/>
                  </a:lnTo>
                  <a:lnTo>
                    <a:pt x="290" y="389"/>
                  </a:lnTo>
                  <a:lnTo>
                    <a:pt x="296" y="398"/>
                  </a:lnTo>
                  <a:lnTo>
                    <a:pt x="300" y="409"/>
                  </a:lnTo>
                  <a:lnTo>
                    <a:pt x="301" y="422"/>
                  </a:lnTo>
                  <a:close/>
                  <a:moveTo>
                    <a:pt x="271" y="332"/>
                  </a:moveTo>
                  <a:lnTo>
                    <a:pt x="259" y="330"/>
                  </a:lnTo>
                  <a:lnTo>
                    <a:pt x="246" y="327"/>
                  </a:lnTo>
                  <a:lnTo>
                    <a:pt x="237" y="321"/>
                  </a:lnTo>
                  <a:lnTo>
                    <a:pt x="228" y="313"/>
                  </a:lnTo>
                  <a:lnTo>
                    <a:pt x="221" y="305"/>
                  </a:lnTo>
                  <a:lnTo>
                    <a:pt x="215" y="295"/>
                  </a:lnTo>
                  <a:lnTo>
                    <a:pt x="211" y="283"/>
                  </a:lnTo>
                  <a:lnTo>
                    <a:pt x="210" y="271"/>
                  </a:lnTo>
                  <a:lnTo>
                    <a:pt x="211" y="259"/>
                  </a:lnTo>
                  <a:lnTo>
                    <a:pt x="215" y="248"/>
                  </a:lnTo>
                  <a:lnTo>
                    <a:pt x="221" y="238"/>
                  </a:lnTo>
                  <a:lnTo>
                    <a:pt x="228" y="228"/>
                  </a:lnTo>
                  <a:lnTo>
                    <a:pt x="237" y="221"/>
                  </a:lnTo>
                  <a:lnTo>
                    <a:pt x="246" y="216"/>
                  </a:lnTo>
                  <a:lnTo>
                    <a:pt x="259" y="213"/>
                  </a:lnTo>
                  <a:lnTo>
                    <a:pt x="271" y="211"/>
                  </a:lnTo>
                  <a:lnTo>
                    <a:pt x="283" y="213"/>
                  </a:lnTo>
                  <a:lnTo>
                    <a:pt x="294" y="216"/>
                  </a:lnTo>
                  <a:lnTo>
                    <a:pt x="303" y="221"/>
                  </a:lnTo>
                  <a:lnTo>
                    <a:pt x="313" y="228"/>
                  </a:lnTo>
                  <a:lnTo>
                    <a:pt x="320" y="238"/>
                  </a:lnTo>
                  <a:lnTo>
                    <a:pt x="325" y="248"/>
                  </a:lnTo>
                  <a:lnTo>
                    <a:pt x="329" y="259"/>
                  </a:lnTo>
                  <a:lnTo>
                    <a:pt x="330" y="271"/>
                  </a:lnTo>
                  <a:lnTo>
                    <a:pt x="329" y="283"/>
                  </a:lnTo>
                  <a:lnTo>
                    <a:pt x="325" y="295"/>
                  </a:lnTo>
                  <a:lnTo>
                    <a:pt x="320" y="305"/>
                  </a:lnTo>
                  <a:lnTo>
                    <a:pt x="313" y="313"/>
                  </a:lnTo>
                  <a:lnTo>
                    <a:pt x="303" y="321"/>
                  </a:lnTo>
                  <a:lnTo>
                    <a:pt x="294" y="327"/>
                  </a:lnTo>
                  <a:lnTo>
                    <a:pt x="283" y="330"/>
                  </a:lnTo>
                  <a:lnTo>
                    <a:pt x="271" y="332"/>
                  </a:lnTo>
                  <a:close/>
                  <a:moveTo>
                    <a:pt x="391" y="482"/>
                  </a:moveTo>
                  <a:lnTo>
                    <a:pt x="403" y="483"/>
                  </a:lnTo>
                  <a:lnTo>
                    <a:pt x="414" y="487"/>
                  </a:lnTo>
                  <a:lnTo>
                    <a:pt x="425" y="492"/>
                  </a:lnTo>
                  <a:lnTo>
                    <a:pt x="433" y="499"/>
                  </a:lnTo>
                  <a:lnTo>
                    <a:pt x="441" y="509"/>
                  </a:lnTo>
                  <a:lnTo>
                    <a:pt x="446" y="519"/>
                  </a:lnTo>
                  <a:lnTo>
                    <a:pt x="449" y="530"/>
                  </a:lnTo>
                  <a:lnTo>
                    <a:pt x="450" y="542"/>
                  </a:lnTo>
                  <a:lnTo>
                    <a:pt x="449" y="554"/>
                  </a:lnTo>
                  <a:lnTo>
                    <a:pt x="447" y="566"/>
                  </a:lnTo>
                  <a:lnTo>
                    <a:pt x="441" y="576"/>
                  </a:lnTo>
                  <a:lnTo>
                    <a:pt x="433" y="584"/>
                  </a:lnTo>
                  <a:lnTo>
                    <a:pt x="425" y="591"/>
                  </a:lnTo>
                  <a:lnTo>
                    <a:pt x="414" y="598"/>
                  </a:lnTo>
                  <a:lnTo>
                    <a:pt x="403" y="601"/>
                  </a:lnTo>
                  <a:lnTo>
                    <a:pt x="391" y="602"/>
                  </a:lnTo>
                  <a:lnTo>
                    <a:pt x="379" y="601"/>
                  </a:lnTo>
                  <a:lnTo>
                    <a:pt x="368" y="598"/>
                  </a:lnTo>
                  <a:lnTo>
                    <a:pt x="357" y="591"/>
                  </a:lnTo>
                  <a:lnTo>
                    <a:pt x="348" y="584"/>
                  </a:lnTo>
                  <a:lnTo>
                    <a:pt x="341" y="576"/>
                  </a:lnTo>
                  <a:lnTo>
                    <a:pt x="335" y="566"/>
                  </a:lnTo>
                  <a:lnTo>
                    <a:pt x="331" y="554"/>
                  </a:lnTo>
                  <a:lnTo>
                    <a:pt x="330" y="542"/>
                  </a:lnTo>
                  <a:lnTo>
                    <a:pt x="331" y="530"/>
                  </a:lnTo>
                  <a:lnTo>
                    <a:pt x="335" y="519"/>
                  </a:lnTo>
                  <a:lnTo>
                    <a:pt x="341" y="509"/>
                  </a:lnTo>
                  <a:lnTo>
                    <a:pt x="348" y="499"/>
                  </a:lnTo>
                  <a:lnTo>
                    <a:pt x="357" y="492"/>
                  </a:lnTo>
                  <a:lnTo>
                    <a:pt x="368" y="487"/>
                  </a:lnTo>
                  <a:lnTo>
                    <a:pt x="379" y="483"/>
                  </a:lnTo>
                  <a:lnTo>
                    <a:pt x="391" y="482"/>
                  </a:lnTo>
                  <a:close/>
                  <a:moveTo>
                    <a:pt x="449" y="305"/>
                  </a:moveTo>
                  <a:lnTo>
                    <a:pt x="460" y="294"/>
                  </a:lnTo>
                  <a:lnTo>
                    <a:pt x="503" y="250"/>
                  </a:lnTo>
                  <a:lnTo>
                    <a:pt x="512" y="239"/>
                  </a:lnTo>
                  <a:lnTo>
                    <a:pt x="523" y="230"/>
                  </a:lnTo>
                  <a:lnTo>
                    <a:pt x="530" y="239"/>
                  </a:lnTo>
                  <a:lnTo>
                    <a:pt x="537" y="249"/>
                  </a:lnTo>
                  <a:lnTo>
                    <a:pt x="540" y="260"/>
                  </a:lnTo>
                  <a:lnTo>
                    <a:pt x="541" y="271"/>
                  </a:lnTo>
                  <a:lnTo>
                    <a:pt x="540" y="283"/>
                  </a:lnTo>
                  <a:lnTo>
                    <a:pt x="537" y="295"/>
                  </a:lnTo>
                  <a:lnTo>
                    <a:pt x="530" y="305"/>
                  </a:lnTo>
                  <a:lnTo>
                    <a:pt x="523" y="313"/>
                  </a:lnTo>
                  <a:lnTo>
                    <a:pt x="515" y="321"/>
                  </a:lnTo>
                  <a:lnTo>
                    <a:pt x="504" y="327"/>
                  </a:lnTo>
                  <a:lnTo>
                    <a:pt x="493" y="330"/>
                  </a:lnTo>
                  <a:lnTo>
                    <a:pt x="481" y="332"/>
                  </a:lnTo>
                  <a:lnTo>
                    <a:pt x="469" y="330"/>
                  </a:lnTo>
                  <a:lnTo>
                    <a:pt x="458" y="327"/>
                  </a:lnTo>
                  <a:lnTo>
                    <a:pt x="448" y="322"/>
                  </a:lnTo>
                  <a:lnTo>
                    <a:pt x="438" y="315"/>
                  </a:lnTo>
                  <a:lnTo>
                    <a:pt x="449" y="305"/>
                  </a:lnTo>
                  <a:close/>
                  <a:moveTo>
                    <a:pt x="571" y="422"/>
                  </a:moveTo>
                  <a:lnTo>
                    <a:pt x="569" y="434"/>
                  </a:lnTo>
                  <a:lnTo>
                    <a:pt x="567" y="445"/>
                  </a:lnTo>
                  <a:lnTo>
                    <a:pt x="561" y="455"/>
                  </a:lnTo>
                  <a:lnTo>
                    <a:pt x="554" y="464"/>
                  </a:lnTo>
                  <a:lnTo>
                    <a:pt x="545" y="471"/>
                  </a:lnTo>
                  <a:lnTo>
                    <a:pt x="534" y="477"/>
                  </a:lnTo>
                  <a:lnTo>
                    <a:pt x="523" y="481"/>
                  </a:lnTo>
                  <a:lnTo>
                    <a:pt x="511" y="482"/>
                  </a:lnTo>
                  <a:lnTo>
                    <a:pt x="499" y="481"/>
                  </a:lnTo>
                  <a:lnTo>
                    <a:pt x="488" y="477"/>
                  </a:lnTo>
                  <a:lnTo>
                    <a:pt x="477" y="471"/>
                  </a:lnTo>
                  <a:lnTo>
                    <a:pt x="469" y="464"/>
                  </a:lnTo>
                  <a:lnTo>
                    <a:pt x="461" y="455"/>
                  </a:lnTo>
                  <a:lnTo>
                    <a:pt x="455" y="445"/>
                  </a:lnTo>
                  <a:lnTo>
                    <a:pt x="452" y="434"/>
                  </a:lnTo>
                  <a:lnTo>
                    <a:pt x="450" y="422"/>
                  </a:lnTo>
                  <a:lnTo>
                    <a:pt x="452" y="409"/>
                  </a:lnTo>
                  <a:lnTo>
                    <a:pt x="455" y="398"/>
                  </a:lnTo>
                  <a:lnTo>
                    <a:pt x="461" y="389"/>
                  </a:lnTo>
                  <a:lnTo>
                    <a:pt x="469" y="379"/>
                  </a:lnTo>
                  <a:lnTo>
                    <a:pt x="477" y="372"/>
                  </a:lnTo>
                  <a:lnTo>
                    <a:pt x="488" y="367"/>
                  </a:lnTo>
                  <a:lnTo>
                    <a:pt x="499" y="363"/>
                  </a:lnTo>
                  <a:lnTo>
                    <a:pt x="511" y="362"/>
                  </a:lnTo>
                  <a:lnTo>
                    <a:pt x="523" y="363"/>
                  </a:lnTo>
                  <a:lnTo>
                    <a:pt x="534" y="367"/>
                  </a:lnTo>
                  <a:lnTo>
                    <a:pt x="545" y="372"/>
                  </a:lnTo>
                  <a:lnTo>
                    <a:pt x="554" y="379"/>
                  </a:lnTo>
                  <a:lnTo>
                    <a:pt x="561" y="389"/>
                  </a:lnTo>
                  <a:lnTo>
                    <a:pt x="567" y="398"/>
                  </a:lnTo>
                  <a:lnTo>
                    <a:pt x="569" y="409"/>
                  </a:lnTo>
                  <a:lnTo>
                    <a:pt x="571" y="422"/>
                  </a:lnTo>
                  <a:close/>
                  <a:moveTo>
                    <a:pt x="641" y="112"/>
                  </a:moveTo>
                  <a:lnTo>
                    <a:pt x="640" y="109"/>
                  </a:lnTo>
                  <a:lnTo>
                    <a:pt x="636" y="108"/>
                  </a:lnTo>
                  <a:lnTo>
                    <a:pt x="634" y="108"/>
                  </a:lnTo>
                  <a:lnTo>
                    <a:pt x="631" y="107"/>
                  </a:lnTo>
                  <a:lnTo>
                    <a:pt x="628" y="108"/>
                  </a:lnTo>
                  <a:lnTo>
                    <a:pt x="625" y="108"/>
                  </a:lnTo>
                  <a:lnTo>
                    <a:pt x="623" y="109"/>
                  </a:lnTo>
                  <a:lnTo>
                    <a:pt x="620" y="112"/>
                  </a:lnTo>
                  <a:lnTo>
                    <a:pt x="556" y="175"/>
                  </a:lnTo>
                  <a:lnTo>
                    <a:pt x="391" y="340"/>
                  </a:lnTo>
                  <a:lnTo>
                    <a:pt x="391" y="106"/>
                  </a:lnTo>
                  <a:lnTo>
                    <a:pt x="391" y="16"/>
                  </a:lnTo>
                  <a:lnTo>
                    <a:pt x="390" y="10"/>
                  </a:lnTo>
                  <a:lnTo>
                    <a:pt x="386" y="5"/>
                  </a:lnTo>
                  <a:lnTo>
                    <a:pt x="381" y="1"/>
                  </a:lnTo>
                  <a:lnTo>
                    <a:pt x="375" y="0"/>
                  </a:lnTo>
                  <a:lnTo>
                    <a:pt x="357" y="1"/>
                  </a:lnTo>
                  <a:lnTo>
                    <a:pt x="337" y="3"/>
                  </a:lnTo>
                  <a:lnTo>
                    <a:pt x="318" y="5"/>
                  </a:lnTo>
                  <a:lnTo>
                    <a:pt x="300" y="9"/>
                  </a:lnTo>
                  <a:lnTo>
                    <a:pt x="282" y="12"/>
                  </a:lnTo>
                  <a:lnTo>
                    <a:pt x="263" y="17"/>
                  </a:lnTo>
                  <a:lnTo>
                    <a:pt x="246" y="23"/>
                  </a:lnTo>
                  <a:lnTo>
                    <a:pt x="229" y="31"/>
                  </a:lnTo>
                  <a:lnTo>
                    <a:pt x="212" y="38"/>
                  </a:lnTo>
                  <a:lnTo>
                    <a:pt x="197" y="46"/>
                  </a:lnTo>
                  <a:lnTo>
                    <a:pt x="181" y="56"/>
                  </a:lnTo>
                  <a:lnTo>
                    <a:pt x="165" y="66"/>
                  </a:lnTo>
                  <a:lnTo>
                    <a:pt x="150" y="75"/>
                  </a:lnTo>
                  <a:lnTo>
                    <a:pt x="137" y="88"/>
                  </a:lnTo>
                  <a:lnTo>
                    <a:pt x="123" y="99"/>
                  </a:lnTo>
                  <a:lnTo>
                    <a:pt x="110" y="112"/>
                  </a:lnTo>
                  <a:lnTo>
                    <a:pt x="97" y="124"/>
                  </a:lnTo>
                  <a:lnTo>
                    <a:pt x="86" y="139"/>
                  </a:lnTo>
                  <a:lnTo>
                    <a:pt x="74" y="152"/>
                  </a:lnTo>
                  <a:lnTo>
                    <a:pt x="64" y="167"/>
                  </a:lnTo>
                  <a:lnTo>
                    <a:pt x="55" y="182"/>
                  </a:lnTo>
                  <a:lnTo>
                    <a:pt x="45" y="198"/>
                  </a:lnTo>
                  <a:lnTo>
                    <a:pt x="36" y="214"/>
                  </a:lnTo>
                  <a:lnTo>
                    <a:pt x="29" y="231"/>
                  </a:lnTo>
                  <a:lnTo>
                    <a:pt x="23" y="248"/>
                  </a:lnTo>
                  <a:lnTo>
                    <a:pt x="17" y="265"/>
                  </a:lnTo>
                  <a:lnTo>
                    <a:pt x="12" y="283"/>
                  </a:lnTo>
                  <a:lnTo>
                    <a:pt x="7" y="301"/>
                  </a:lnTo>
                  <a:lnTo>
                    <a:pt x="4" y="320"/>
                  </a:lnTo>
                  <a:lnTo>
                    <a:pt x="1" y="339"/>
                  </a:lnTo>
                  <a:lnTo>
                    <a:pt x="0" y="357"/>
                  </a:lnTo>
                  <a:lnTo>
                    <a:pt x="0" y="377"/>
                  </a:lnTo>
                  <a:lnTo>
                    <a:pt x="0" y="396"/>
                  </a:lnTo>
                  <a:lnTo>
                    <a:pt x="1" y="415"/>
                  </a:lnTo>
                  <a:lnTo>
                    <a:pt x="4" y="434"/>
                  </a:lnTo>
                  <a:lnTo>
                    <a:pt x="7" y="452"/>
                  </a:lnTo>
                  <a:lnTo>
                    <a:pt x="12" y="470"/>
                  </a:lnTo>
                  <a:lnTo>
                    <a:pt x="17" y="488"/>
                  </a:lnTo>
                  <a:lnTo>
                    <a:pt x="23" y="505"/>
                  </a:lnTo>
                  <a:lnTo>
                    <a:pt x="29" y="523"/>
                  </a:lnTo>
                  <a:lnTo>
                    <a:pt x="36" y="539"/>
                  </a:lnTo>
                  <a:lnTo>
                    <a:pt x="45" y="556"/>
                  </a:lnTo>
                  <a:lnTo>
                    <a:pt x="55" y="572"/>
                  </a:lnTo>
                  <a:lnTo>
                    <a:pt x="64" y="587"/>
                  </a:lnTo>
                  <a:lnTo>
                    <a:pt x="74" y="601"/>
                  </a:lnTo>
                  <a:lnTo>
                    <a:pt x="86" y="616"/>
                  </a:lnTo>
                  <a:lnTo>
                    <a:pt x="97" y="629"/>
                  </a:lnTo>
                  <a:lnTo>
                    <a:pt x="110" y="642"/>
                  </a:lnTo>
                  <a:lnTo>
                    <a:pt x="123" y="655"/>
                  </a:lnTo>
                  <a:lnTo>
                    <a:pt x="137" y="667"/>
                  </a:lnTo>
                  <a:lnTo>
                    <a:pt x="150" y="678"/>
                  </a:lnTo>
                  <a:lnTo>
                    <a:pt x="165" y="689"/>
                  </a:lnTo>
                  <a:lnTo>
                    <a:pt x="181" y="698"/>
                  </a:lnTo>
                  <a:lnTo>
                    <a:pt x="197" y="707"/>
                  </a:lnTo>
                  <a:lnTo>
                    <a:pt x="212" y="715"/>
                  </a:lnTo>
                  <a:lnTo>
                    <a:pt x="229" y="723"/>
                  </a:lnTo>
                  <a:lnTo>
                    <a:pt x="246" y="730"/>
                  </a:lnTo>
                  <a:lnTo>
                    <a:pt x="263" y="736"/>
                  </a:lnTo>
                  <a:lnTo>
                    <a:pt x="282" y="741"/>
                  </a:lnTo>
                  <a:lnTo>
                    <a:pt x="300" y="744"/>
                  </a:lnTo>
                  <a:lnTo>
                    <a:pt x="318" y="748"/>
                  </a:lnTo>
                  <a:lnTo>
                    <a:pt x="337" y="751"/>
                  </a:lnTo>
                  <a:lnTo>
                    <a:pt x="357" y="752"/>
                  </a:lnTo>
                  <a:lnTo>
                    <a:pt x="375" y="753"/>
                  </a:lnTo>
                  <a:lnTo>
                    <a:pt x="395" y="752"/>
                  </a:lnTo>
                  <a:lnTo>
                    <a:pt x="414" y="751"/>
                  </a:lnTo>
                  <a:lnTo>
                    <a:pt x="433" y="748"/>
                  </a:lnTo>
                  <a:lnTo>
                    <a:pt x="452" y="744"/>
                  </a:lnTo>
                  <a:lnTo>
                    <a:pt x="470" y="741"/>
                  </a:lnTo>
                  <a:lnTo>
                    <a:pt x="487" y="736"/>
                  </a:lnTo>
                  <a:lnTo>
                    <a:pt x="505" y="730"/>
                  </a:lnTo>
                  <a:lnTo>
                    <a:pt x="522" y="723"/>
                  </a:lnTo>
                  <a:lnTo>
                    <a:pt x="539" y="715"/>
                  </a:lnTo>
                  <a:lnTo>
                    <a:pt x="555" y="707"/>
                  </a:lnTo>
                  <a:lnTo>
                    <a:pt x="571" y="698"/>
                  </a:lnTo>
                  <a:lnTo>
                    <a:pt x="585" y="689"/>
                  </a:lnTo>
                  <a:lnTo>
                    <a:pt x="601" y="678"/>
                  </a:lnTo>
                  <a:lnTo>
                    <a:pt x="614" y="667"/>
                  </a:lnTo>
                  <a:lnTo>
                    <a:pt x="629" y="655"/>
                  </a:lnTo>
                  <a:lnTo>
                    <a:pt x="641" y="642"/>
                  </a:lnTo>
                  <a:lnTo>
                    <a:pt x="654" y="629"/>
                  </a:lnTo>
                  <a:lnTo>
                    <a:pt x="665" y="616"/>
                  </a:lnTo>
                  <a:lnTo>
                    <a:pt x="677" y="601"/>
                  </a:lnTo>
                  <a:lnTo>
                    <a:pt x="687" y="587"/>
                  </a:lnTo>
                  <a:lnTo>
                    <a:pt x="697" y="572"/>
                  </a:lnTo>
                  <a:lnTo>
                    <a:pt x="707" y="556"/>
                  </a:lnTo>
                  <a:lnTo>
                    <a:pt x="715" y="539"/>
                  </a:lnTo>
                  <a:lnTo>
                    <a:pt x="722" y="523"/>
                  </a:lnTo>
                  <a:lnTo>
                    <a:pt x="728" y="505"/>
                  </a:lnTo>
                  <a:lnTo>
                    <a:pt x="734" y="488"/>
                  </a:lnTo>
                  <a:lnTo>
                    <a:pt x="739" y="470"/>
                  </a:lnTo>
                  <a:lnTo>
                    <a:pt x="744" y="452"/>
                  </a:lnTo>
                  <a:lnTo>
                    <a:pt x="748" y="434"/>
                  </a:lnTo>
                  <a:lnTo>
                    <a:pt x="750" y="415"/>
                  </a:lnTo>
                  <a:lnTo>
                    <a:pt x="751" y="396"/>
                  </a:lnTo>
                  <a:lnTo>
                    <a:pt x="751" y="377"/>
                  </a:lnTo>
                  <a:lnTo>
                    <a:pt x="751" y="358"/>
                  </a:lnTo>
                  <a:lnTo>
                    <a:pt x="750" y="340"/>
                  </a:lnTo>
                  <a:lnTo>
                    <a:pt x="748" y="322"/>
                  </a:lnTo>
                  <a:lnTo>
                    <a:pt x="744" y="304"/>
                  </a:lnTo>
                  <a:lnTo>
                    <a:pt x="741" y="286"/>
                  </a:lnTo>
                  <a:lnTo>
                    <a:pt x="736" y="267"/>
                  </a:lnTo>
                  <a:lnTo>
                    <a:pt x="730" y="250"/>
                  </a:lnTo>
                  <a:lnTo>
                    <a:pt x="724" y="233"/>
                  </a:lnTo>
                  <a:lnTo>
                    <a:pt x="716" y="216"/>
                  </a:lnTo>
                  <a:lnTo>
                    <a:pt x="708" y="201"/>
                  </a:lnTo>
                  <a:lnTo>
                    <a:pt x="698" y="185"/>
                  </a:lnTo>
                  <a:lnTo>
                    <a:pt x="688" y="169"/>
                  </a:lnTo>
                  <a:lnTo>
                    <a:pt x="679" y="154"/>
                  </a:lnTo>
                  <a:lnTo>
                    <a:pt x="666" y="140"/>
                  </a:lnTo>
                  <a:lnTo>
                    <a:pt x="654" y="125"/>
                  </a:lnTo>
                  <a:lnTo>
                    <a:pt x="641"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1296">
              <a:extLst>
                <a:ext uri="{FF2B5EF4-FFF2-40B4-BE49-F238E27FC236}">
                  <a16:creationId xmlns:a16="http://schemas.microsoft.com/office/drawing/2014/main" id="{9484AEF1-A203-445D-A71E-3AE6E86A1DDE}"/>
                </a:ext>
              </a:extLst>
            </p:cNvPr>
            <p:cNvSpPr>
              <a:spLocks noEditPoints="1"/>
            </p:cNvSpPr>
            <p:nvPr/>
          </p:nvSpPr>
          <p:spPr bwMode="auto">
            <a:xfrm>
              <a:off x="5600700" y="2500313"/>
              <a:ext cx="90488" cy="123825"/>
            </a:xfrm>
            <a:custGeom>
              <a:avLst/>
              <a:gdLst>
                <a:gd name="T0" fmla="*/ 45 w 286"/>
                <a:gd name="T1" fmla="*/ 31 h 391"/>
                <a:gd name="T2" fmla="*/ 75 w 286"/>
                <a:gd name="T3" fmla="*/ 35 h 391"/>
                <a:gd name="T4" fmla="*/ 105 w 286"/>
                <a:gd name="T5" fmla="*/ 42 h 391"/>
                <a:gd name="T6" fmla="*/ 134 w 286"/>
                <a:gd name="T7" fmla="*/ 51 h 391"/>
                <a:gd name="T8" fmla="*/ 162 w 286"/>
                <a:gd name="T9" fmla="*/ 62 h 391"/>
                <a:gd name="T10" fmla="*/ 188 w 286"/>
                <a:gd name="T11" fmla="*/ 76 h 391"/>
                <a:gd name="T12" fmla="*/ 214 w 286"/>
                <a:gd name="T13" fmla="*/ 92 h 391"/>
                <a:gd name="T14" fmla="*/ 237 w 286"/>
                <a:gd name="T15" fmla="*/ 110 h 391"/>
                <a:gd name="T16" fmla="*/ 205 w 286"/>
                <a:gd name="T17" fmla="*/ 164 h 391"/>
                <a:gd name="T18" fmla="*/ 167 w 286"/>
                <a:gd name="T19" fmla="*/ 133 h 391"/>
                <a:gd name="T20" fmla="*/ 124 w 286"/>
                <a:gd name="T21" fmla="*/ 112 h 391"/>
                <a:gd name="T22" fmla="*/ 78 w 286"/>
                <a:gd name="T23" fmla="*/ 97 h 391"/>
                <a:gd name="T24" fmla="*/ 29 w 286"/>
                <a:gd name="T25" fmla="*/ 91 h 391"/>
                <a:gd name="T26" fmla="*/ 152 w 286"/>
                <a:gd name="T27" fmla="*/ 238 h 391"/>
                <a:gd name="T28" fmla="*/ 100 w 286"/>
                <a:gd name="T29" fmla="*/ 292 h 391"/>
                <a:gd name="T30" fmla="*/ 78 w 286"/>
                <a:gd name="T31" fmla="*/ 313 h 391"/>
                <a:gd name="T32" fmla="*/ 65 w 286"/>
                <a:gd name="T33" fmla="*/ 294 h 391"/>
                <a:gd name="T34" fmla="*/ 61 w 286"/>
                <a:gd name="T35" fmla="*/ 269 h 391"/>
                <a:gd name="T36" fmla="*/ 65 w 286"/>
                <a:gd name="T37" fmla="*/ 246 h 391"/>
                <a:gd name="T38" fmla="*/ 78 w 286"/>
                <a:gd name="T39" fmla="*/ 227 h 391"/>
                <a:gd name="T40" fmla="*/ 97 w 286"/>
                <a:gd name="T41" fmla="*/ 215 h 391"/>
                <a:gd name="T42" fmla="*/ 120 w 286"/>
                <a:gd name="T43" fmla="*/ 210 h 391"/>
                <a:gd name="T44" fmla="*/ 133 w 286"/>
                <a:gd name="T45" fmla="*/ 211 h 391"/>
                <a:gd name="T46" fmla="*/ 143 w 286"/>
                <a:gd name="T47" fmla="*/ 215 h 391"/>
                <a:gd name="T48" fmla="*/ 163 w 286"/>
                <a:gd name="T49" fmla="*/ 228 h 391"/>
                <a:gd name="T50" fmla="*/ 9 w 286"/>
                <a:gd name="T51" fmla="*/ 391 h 391"/>
                <a:gd name="T52" fmla="*/ 15 w 286"/>
                <a:gd name="T53" fmla="*/ 391 h 391"/>
                <a:gd name="T54" fmla="*/ 26 w 286"/>
                <a:gd name="T55" fmla="*/ 386 h 391"/>
                <a:gd name="T56" fmla="*/ 218 w 286"/>
                <a:gd name="T57" fmla="*/ 195 h 391"/>
                <a:gd name="T58" fmla="*/ 218 w 286"/>
                <a:gd name="T59" fmla="*/ 193 h 391"/>
                <a:gd name="T60" fmla="*/ 283 w 286"/>
                <a:gd name="T61" fmla="*/ 129 h 391"/>
                <a:gd name="T62" fmla="*/ 286 w 286"/>
                <a:gd name="T63" fmla="*/ 123 h 391"/>
                <a:gd name="T64" fmla="*/ 284 w 286"/>
                <a:gd name="T65" fmla="*/ 114 h 391"/>
                <a:gd name="T66" fmla="*/ 267 w 286"/>
                <a:gd name="T67" fmla="*/ 96 h 391"/>
                <a:gd name="T68" fmla="*/ 239 w 286"/>
                <a:gd name="T69" fmla="*/ 73 h 391"/>
                <a:gd name="T70" fmla="*/ 208 w 286"/>
                <a:gd name="T71" fmla="*/ 52 h 391"/>
                <a:gd name="T72" fmla="*/ 176 w 286"/>
                <a:gd name="T73" fmla="*/ 35 h 391"/>
                <a:gd name="T74" fmla="*/ 142 w 286"/>
                <a:gd name="T75" fmla="*/ 21 h 391"/>
                <a:gd name="T76" fmla="*/ 107 w 286"/>
                <a:gd name="T77" fmla="*/ 11 h 391"/>
                <a:gd name="T78" fmla="*/ 71 w 286"/>
                <a:gd name="T79" fmla="*/ 4 h 391"/>
                <a:gd name="T80" fmla="*/ 34 w 286"/>
                <a:gd name="T81" fmla="*/ 0 h 391"/>
                <a:gd name="T82" fmla="*/ 9 w 286"/>
                <a:gd name="T83" fmla="*/ 1 h 391"/>
                <a:gd name="T84" fmla="*/ 1 w 286"/>
                <a:gd name="T85" fmla="*/ 8 h 391"/>
                <a:gd name="T86" fmla="*/ 0 w 286"/>
                <a:gd name="T87" fmla="*/ 104 h 391"/>
                <a:gd name="T88" fmla="*/ 0 w 286"/>
                <a:gd name="T89" fmla="*/ 380 h 391"/>
                <a:gd name="T90" fmla="*/ 5 w 286"/>
                <a:gd name="T91" fmla="*/ 387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6" h="391">
                  <a:moveTo>
                    <a:pt x="29" y="31"/>
                  </a:moveTo>
                  <a:lnTo>
                    <a:pt x="45" y="31"/>
                  </a:lnTo>
                  <a:lnTo>
                    <a:pt x="61" y="34"/>
                  </a:lnTo>
                  <a:lnTo>
                    <a:pt x="75" y="35"/>
                  </a:lnTo>
                  <a:lnTo>
                    <a:pt x="90" y="39"/>
                  </a:lnTo>
                  <a:lnTo>
                    <a:pt x="105" y="42"/>
                  </a:lnTo>
                  <a:lnTo>
                    <a:pt x="119" y="46"/>
                  </a:lnTo>
                  <a:lnTo>
                    <a:pt x="134" y="51"/>
                  </a:lnTo>
                  <a:lnTo>
                    <a:pt x="148" y="56"/>
                  </a:lnTo>
                  <a:lnTo>
                    <a:pt x="162" y="62"/>
                  </a:lnTo>
                  <a:lnTo>
                    <a:pt x="175" y="69"/>
                  </a:lnTo>
                  <a:lnTo>
                    <a:pt x="188" y="76"/>
                  </a:lnTo>
                  <a:lnTo>
                    <a:pt x="201" y="84"/>
                  </a:lnTo>
                  <a:lnTo>
                    <a:pt x="214" y="92"/>
                  </a:lnTo>
                  <a:lnTo>
                    <a:pt x="226" y="102"/>
                  </a:lnTo>
                  <a:lnTo>
                    <a:pt x="237" y="110"/>
                  </a:lnTo>
                  <a:lnTo>
                    <a:pt x="249" y="121"/>
                  </a:lnTo>
                  <a:lnTo>
                    <a:pt x="205" y="164"/>
                  </a:lnTo>
                  <a:lnTo>
                    <a:pt x="187" y="148"/>
                  </a:lnTo>
                  <a:lnTo>
                    <a:pt x="167" y="133"/>
                  </a:lnTo>
                  <a:lnTo>
                    <a:pt x="146" y="123"/>
                  </a:lnTo>
                  <a:lnTo>
                    <a:pt x="124" y="112"/>
                  </a:lnTo>
                  <a:lnTo>
                    <a:pt x="101" y="103"/>
                  </a:lnTo>
                  <a:lnTo>
                    <a:pt x="78" y="97"/>
                  </a:lnTo>
                  <a:lnTo>
                    <a:pt x="55" y="93"/>
                  </a:lnTo>
                  <a:lnTo>
                    <a:pt x="29" y="91"/>
                  </a:lnTo>
                  <a:lnTo>
                    <a:pt x="29" y="31"/>
                  </a:lnTo>
                  <a:close/>
                  <a:moveTo>
                    <a:pt x="152" y="238"/>
                  </a:moveTo>
                  <a:lnTo>
                    <a:pt x="142" y="249"/>
                  </a:lnTo>
                  <a:lnTo>
                    <a:pt x="100" y="292"/>
                  </a:lnTo>
                  <a:lnTo>
                    <a:pt x="89" y="303"/>
                  </a:lnTo>
                  <a:lnTo>
                    <a:pt x="78" y="313"/>
                  </a:lnTo>
                  <a:lnTo>
                    <a:pt x="71" y="303"/>
                  </a:lnTo>
                  <a:lnTo>
                    <a:pt x="65" y="294"/>
                  </a:lnTo>
                  <a:lnTo>
                    <a:pt x="61" y="282"/>
                  </a:lnTo>
                  <a:lnTo>
                    <a:pt x="61" y="269"/>
                  </a:lnTo>
                  <a:lnTo>
                    <a:pt x="62" y="258"/>
                  </a:lnTo>
                  <a:lnTo>
                    <a:pt x="65" y="246"/>
                  </a:lnTo>
                  <a:lnTo>
                    <a:pt x="71" y="237"/>
                  </a:lnTo>
                  <a:lnTo>
                    <a:pt x="78" y="227"/>
                  </a:lnTo>
                  <a:lnTo>
                    <a:pt x="86" y="220"/>
                  </a:lnTo>
                  <a:lnTo>
                    <a:pt x="97" y="215"/>
                  </a:lnTo>
                  <a:lnTo>
                    <a:pt x="108" y="211"/>
                  </a:lnTo>
                  <a:lnTo>
                    <a:pt x="120" y="210"/>
                  </a:lnTo>
                  <a:lnTo>
                    <a:pt x="126" y="210"/>
                  </a:lnTo>
                  <a:lnTo>
                    <a:pt x="133" y="211"/>
                  </a:lnTo>
                  <a:lnTo>
                    <a:pt x="139" y="212"/>
                  </a:lnTo>
                  <a:lnTo>
                    <a:pt x="143" y="215"/>
                  </a:lnTo>
                  <a:lnTo>
                    <a:pt x="154" y="221"/>
                  </a:lnTo>
                  <a:lnTo>
                    <a:pt x="163" y="228"/>
                  </a:lnTo>
                  <a:lnTo>
                    <a:pt x="152" y="238"/>
                  </a:lnTo>
                  <a:close/>
                  <a:moveTo>
                    <a:pt x="9" y="391"/>
                  </a:moveTo>
                  <a:lnTo>
                    <a:pt x="12" y="391"/>
                  </a:lnTo>
                  <a:lnTo>
                    <a:pt x="15" y="391"/>
                  </a:lnTo>
                  <a:lnTo>
                    <a:pt x="21" y="390"/>
                  </a:lnTo>
                  <a:lnTo>
                    <a:pt x="26" y="386"/>
                  </a:lnTo>
                  <a:lnTo>
                    <a:pt x="205" y="206"/>
                  </a:lnTo>
                  <a:lnTo>
                    <a:pt x="218" y="195"/>
                  </a:lnTo>
                  <a:lnTo>
                    <a:pt x="218" y="194"/>
                  </a:lnTo>
                  <a:lnTo>
                    <a:pt x="218" y="193"/>
                  </a:lnTo>
                  <a:lnTo>
                    <a:pt x="281" y="130"/>
                  </a:lnTo>
                  <a:lnTo>
                    <a:pt x="283" y="129"/>
                  </a:lnTo>
                  <a:lnTo>
                    <a:pt x="284" y="126"/>
                  </a:lnTo>
                  <a:lnTo>
                    <a:pt x="286" y="123"/>
                  </a:lnTo>
                  <a:lnTo>
                    <a:pt x="286" y="120"/>
                  </a:lnTo>
                  <a:lnTo>
                    <a:pt x="284" y="114"/>
                  </a:lnTo>
                  <a:lnTo>
                    <a:pt x="281" y="109"/>
                  </a:lnTo>
                  <a:lnTo>
                    <a:pt x="267" y="96"/>
                  </a:lnTo>
                  <a:lnTo>
                    <a:pt x="254" y="84"/>
                  </a:lnTo>
                  <a:lnTo>
                    <a:pt x="239" y="73"/>
                  </a:lnTo>
                  <a:lnTo>
                    <a:pt x="224" y="62"/>
                  </a:lnTo>
                  <a:lnTo>
                    <a:pt x="208" y="52"/>
                  </a:lnTo>
                  <a:lnTo>
                    <a:pt x="192" y="44"/>
                  </a:lnTo>
                  <a:lnTo>
                    <a:pt x="176" y="35"/>
                  </a:lnTo>
                  <a:lnTo>
                    <a:pt x="159" y="28"/>
                  </a:lnTo>
                  <a:lnTo>
                    <a:pt x="142" y="21"/>
                  </a:lnTo>
                  <a:lnTo>
                    <a:pt x="125" y="16"/>
                  </a:lnTo>
                  <a:lnTo>
                    <a:pt x="107" y="11"/>
                  </a:lnTo>
                  <a:lnTo>
                    <a:pt x="89" y="6"/>
                  </a:lnTo>
                  <a:lnTo>
                    <a:pt x="71" y="4"/>
                  </a:lnTo>
                  <a:lnTo>
                    <a:pt x="52" y="1"/>
                  </a:lnTo>
                  <a:lnTo>
                    <a:pt x="34" y="0"/>
                  </a:lnTo>
                  <a:lnTo>
                    <a:pt x="15" y="0"/>
                  </a:lnTo>
                  <a:lnTo>
                    <a:pt x="9" y="1"/>
                  </a:lnTo>
                  <a:lnTo>
                    <a:pt x="4" y="4"/>
                  </a:lnTo>
                  <a:lnTo>
                    <a:pt x="1" y="8"/>
                  </a:lnTo>
                  <a:lnTo>
                    <a:pt x="0" y="14"/>
                  </a:lnTo>
                  <a:lnTo>
                    <a:pt x="0" y="104"/>
                  </a:lnTo>
                  <a:lnTo>
                    <a:pt x="0" y="375"/>
                  </a:lnTo>
                  <a:lnTo>
                    <a:pt x="0" y="380"/>
                  </a:lnTo>
                  <a:lnTo>
                    <a:pt x="3" y="384"/>
                  </a:lnTo>
                  <a:lnTo>
                    <a:pt x="5" y="387"/>
                  </a:lnTo>
                  <a:lnTo>
                    <a:pt x="9" y="3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0" name="TextBox 79">
            <a:extLst>
              <a:ext uri="{FF2B5EF4-FFF2-40B4-BE49-F238E27FC236}">
                <a16:creationId xmlns:a16="http://schemas.microsoft.com/office/drawing/2014/main" id="{C6E8933E-7136-412E-994C-8E39C53B44F6}"/>
              </a:ext>
            </a:extLst>
          </p:cNvPr>
          <p:cNvSpPr txBox="1"/>
          <p:nvPr/>
        </p:nvSpPr>
        <p:spPr>
          <a:xfrm>
            <a:off x="1835169" y="3786883"/>
            <a:ext cx="9089505" cy="369332"/>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To Analyze customer ordering behavior to streamline the ordering process and improve service. </a:t>
            </a:r>
            <a:endParaRPr lang="en-US" dirty="0"/>
          </a:p>
        </p:txBody>
      </p:sp>
      <p:sp>
        <p:nvSpPr>
          <p:cNvPr id="82" name="TextBox 81">
            <a:extLst>
              <a:ext uri="{FF2B5EF4-FFF2-40B4-BE49-F238E27FC236}">
                <a16:creationId xmlns:a16="http://schemas.microsoft.com/office/drawing/2014/main" id="{0727F56E-EB3E-468A-8D24-2D8FB887DF74}"/>
              </a:ext>
            </a:extLst>
          </p:cNvPr>
          <p:cNvSpPr txBox="1"/>
          <p:nvPr/>
        </p:nvSpPr>
        <p:spPr>
          <a:xfrm>
            <a:off x="1835170" y="4455652"/>
            <a:ext cx="6112042" cy="369332"/>
          </a:xfrm>
          <a:prstGeom prst="rect">
            <a:avLst/>
          </a:prstGeom>
          <a:noFill/>
        </p:spPr>
        <p:txBody>
          <a:bodyPr wrap="square">
            <a:spAutoFit/>
          </a:bodyPr>
          <a:lstStyle/>
          <a:p>
            <a:r>
              <a:rPr lang="en-US" sz="1800" dirty="0">
                <a:effectLst/>
                <a:latin typeface="Times New Roman" panose="02020603050405020304" pitchFamily="18" charset="0"/>
                <a:ea typeface="Calibri" panose="020F0502020204030204" pitchFamily="34" charset="0"/>
              </a:rPr>
              <a:t>To Track revenue growth over time.</a:t>
            </a:r>
            <a:endParaRPr lang="en-US" dirty="0"/>
          </a:p>
        </p:txBody>
      </p:sp>
    </p:spTree>
    <p:extLst>
      <p:ext uri="{BB962C8B-B14F-4D97-AF65-F5344CB8AC3E}">
        <p14:creationId xmlns:p14="http://schemas.microsoft.com/office/powerpoint/2010/main" val="2949549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4F45B61-75B2-41D0-8B9A-A15BDD2D7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182" y="1786597"/>
            <a:ext cx="5601012" cy="4535420"/>
          </a:xfrm>
          <a:prstGeom prst="rect">
            <a:avLst/>
          </a:prstGeom>
        </p:spPr>
      </p:pic>
      <p:sp>
        <p:nvSpPr>
          <p:cNvPr id="11" name="TextBox 10">
            <a:extLst>
              <a:ext uri="{FF2B5EF4-FFF2-40B4-BE49-F238E27FC236}">
                <a16:creationId xmlns:a16="http://schemas.microsoft.com/office/drawing/2014/main" id="{DB48B235-B2D1-40CD-80DC-B1B9A03D649D}"/>
              </a:ext>
            </a:extLst>
          </p:cNvPr>
          <p:cNvSpPr txBox="1"/>
          <p:nvPr/>
        </p:nvSpPr>
        <p:spPr>
          <a:xfrm>
            <a:off x="661182" y="674522"/>
            <a:ext cx="6295949" cy="677108"/>
          </a:xfrm>
          <a:prstGeom prst="rect">
            <a:avLst/>
          </a:prstGeom>
          <a:noFill/>
        </p:spPr>
        <p:txBody>
          <a:bodyPr wrap="square" lIns="0" tIns="0" rIns="0" bIns="0" rtlCol="0">
            <a:spAutoFit/>
          </a:bodyPr>
          <a:lstStyle/>
          <a:p>
            <a:pPr>
              <a:spcAft>
                <a:spcPts val="600"/>
              </a:spcAft>
            </a:pPr>
            <a:r>
              <a:rPr lang="en-US" sz="4400" b="1" dirty="0">
                <a:solidFill>
                  <a:srgbClr val="FF0000"/>
                </a:solidFill>
                <a:latin typeface="+mj-lt"/>
              </a:rPr>
              <a:t>Finding and Insights</a:t>
            </a:r>
            <a:endParaRPr lang="en-US" sz="4400" dirty="0">
              <a:solidFill>
                <a:srgbClr val="FF0000"/>
              </a:solidFill>
              <a:latin typeface="+mj-lt"/>
            </a:endParaRPr>
          </a:p>
        </p:txBody>
      </p:sp>
      <p:pic>
        <p:nvPicPr>
          <p:cNvPr id="13" name="Picture 12">
            <a:extLst>
              <a:ext uri="{FF2B5EF4-FFF2-40B4-BE49-F238E27FC236}">
                <a16:creationId xmlns:a16="http://schemas.microsoft.com/office/drawing/2014/main" id="{0BE2FB98-3DCC-4779-97EE-F148EA01A0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7653" y="0"/>
            <a:ext cx="3604347" cy="2703260"/>
          </a:xfrm>
          <a:prstGeom prst="rect">
            <a:avLst/>
          </a:prstGeom>
          <a:effectLst>
            <a:outerShdw blurRad="50800" dist="38100" dir="5400000" algn="t" rotWithShape="0">
              <a:prstClr val="black">
                <a:alpha val="40000"/>
              </a:prstClr>
            </a:outerShdw>
          </a:effectLst>
        </p:spPr>
      </p:pic>
      <p:sp>
        <p:nvSpPr>
          <p:cNvPr id="14" name="TextBox 13">
            <a:extLst>
              <a:ext uri="{FF2B5EF4-FFF2-40B4-BE49-F238E27FC236}">
                <a16:creationId xmlns:a16="http://schemas.microsoft.com/office/drawing/2014/main" id="{1B4C3A2B-306F-44DC-A524-ABDB7B46E414}"/>
              </a:ext>
            </a:extLst>
          </p:cNvPr>
          <p:cNvSpPr txBox="1"/>
          <p:nvPr/>
        </p:nvSpPr>
        <p:spPr>
          <a:xfrm>
            <a:off x="6692145" y="2985688"/>
            <a:ext cx="5215634" cy="2215991"/>
          </a:xfrm>
          <a:prstGeom prst="rect">
            <a:avLst/>
          </a:prstGeom>
          <a:noFill/>
        </p:spPr>
        <p:txBody>
          <a:bodyPr wrap="square" lIns="0" tIns="0" rIns="0" bIns="0" rtlCol="0" anchor="t">
            <a:spAutoFit/>
          </a:bodyPr>
          <a:lstStyle/>
          <a:p>
            <a:pPr algn="just">
              <a:spcAft>
                <a:spcPts val="600"/>
              </a:spcAft>
            </a:pPr>
            <a:r>
              <a:rPr lang="en-US" dirty="0"/>
              <a:t>The results from the chart reveals the hourly trend of pizza sales. It indicates that </a:t>
            </a:r>
            <a:r>
              <a:rPr lang="en-US" b="1" dirty="0"/>
              <a:t>6776 </a:t>
            </a:r>
            <a:r>
              <a:rPr lang="en-US" dirty="0"/>
              <a:t>and </a:t>
            </a:r>
            <a:r>
              <a:rPr lang="en-US" b="1" dirty="0"/>
              <a:t>6413 sales </a:t>
            </a:r>
            <a:r>
              <a:rPr lang="en-US" dirty="0"/>
              <a:t>were generated around </a:t>
            </a:r>
            <a:r>
              <a:rPr lang="en-US" b="1" dirty="0"/>
              <a:t>12PM </a:t>
            </a:r>
            <a:r>
              <a:rPr lang="en-US" dirty="0"/>
              <a:t>and</a:t>
            </a:r>
            <a:r>
              <a:rPr lang="en-US" b="1" dirty="0"/>
              <a:t> 1PM </a:t>
            </a:r>
            <a:r>
              <a:rPr lang="en-US" dirty="0"/>
              <a:t>respectively. This is mostly during Brunch/Lunchtime Break, and is the fastest and quickest available meal. Also, within the hours of </a:t>
            </a:r>
            <a:r>
              <a:rPr lang="en-US" b="1" dirty="0"/>
              <a:t>5PM </a:t>
            </a:r>
            <a:r>
              <a:rPr lang="en-US" dirty="0"/>
              <a:t>and</a:t>
            </a:r>
            <a:r>
              <a:rPr lang="en-US" b="1" dirty="0"/>
              <a:t> 6PM </a:t>
            </a:r>
            <a:r>
              <a:rPr lang="en-US" dirty="0"/>
              <a:t>, the evening dinner rush sees another surge in sales, as people begin to prepare for dinner or opt for takeout after a busy day.</a:t>
            </a:r>
          </a:p>
        </p:txBody>
      </p:sp>
    </p:spTree>
    <p:extLst>
      <p:ext uri="{BB962C8B-B14F-4D97-AF65-F5344CB8AC3E}">
        <p14:creationId xmlns:p14="http://schemas.microsoft.com/office/powerpoint/2010/main" val="1546735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05BE12-DCBA-40D4-B0A2-0F4264656F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139" y="251337"/>
            <a:ext cx="5505155" cy="3575075"/>
          </a:xfrm>
          <a:prstGeom prst="rect">
            <a:avLst/>
          </a:prstGeom>
        </p:spPr>
      </p:pic>
      <p:sp>
        <p:nvSpPr>
          <p:cNvPr id="7" name="TextBox 6">
            <a:extLst>
              <a:ext uri="{FF2B5EF4-FFF2-40B4-BE49-F238E27FC236}">
                <a16:creationId xmlns:a16="http://schemas.microsoft.com/office/drawing/2014/main" id="{F5379C90-7B04-42FC-8211-8BD491A89131}"/>
              </a:ext>
            </a:extLst>
          </p:cNvPr>
          <p:cNvSpPr txBox="1"/>
          <p:nvPr/>
        </p:nvSpPr>
        <p:spPr>
          <a:xfrm>
            <a:off x="1041010" y="4209576"/>
            <a:ext cx="9887243" cy="1938992"/>
          </a:xfrm>
          <a:prstGeom prst="rect">
            <a:avLst/>
          </a:prstGeom>
          <a:noFill/>
        </p:spPr>
        <p:txBody>
          <a:bodyPr wrap="square" lIns="0" tIns="0" rIns="0" bIns="0" rtlCol="0" anchor="t">
            <a:spAutoFit/>
          </a:bodyPr>
          <a:lstStyle/>
          <a:p>
            <a:pPr algn="just">
              <a:spcAft>
                <a:spcPts val="600"/>
              </a:spcAft>
            </a:pPr>
            <a:r>
              <a:rPr lang="en-US" dirty="0"/>
              <a:t>The chart above shows the monthly order placed and monthly sales generated for all pizza types. For the monthly order placed and sales generated, the </a:t>
            </a:r>
            <a:r>
              <a:rPr lang="en-US" b="1" dirty="0">
                <a:solidFill>
                  <a:srgbClr val="00B050"/>
                </a:solidFill>
              </a:rPr>
              <a:t>highest orders and sales </a:t>
            </a:r>
            <a:r>
              <a:rPr lang="en-US" dirty="0"/>
              <a:t>were recorded in the month of </a:t>
            </a:r>
            <a:r>
              <a:rPr lang="en-US" b="1" dirty="0"/>
              <a:t>July and May. </a:t>
            </a:r>
            <a:r>
              <a:rPr lang="en-US" dirty="0"/>
              <a:t>Each month having </a:t>
            </a:r>
            <a:r>
              <a:rPr lang="en-US" b="1" dirty="0"/>
              <a:t>4,301 pizza </a:t>
            </a:r>
            <a:r>
              <a:rPr lang="en-US" dirty="0"/>
              <a:t>orders with </a:t>
            </a:r>
            <a:r>
              <a:rPr lang="en-US" b="1" dirty="0"/>
              <a:t>72.6K sales </a:t>
            </a:r>
            <a:r>
              <a:rPr lang="en-US" dirty="0"/>
              <a:t>generated, and </a:t>
            </a:r>
            <a:r>
              <a:rPr lang="en-US" b="1" dirty="0"/>
              <a:t>4,239 pizza </a:t>
            </a:r>
            <a:r>
              <a:rPr lang="en-US" dirty="0"/>
              <a:t>orders with </a:t>
            </a:r>
            <a:r>
              <a:rPr lang="en-US" b="1" dirty="0"/>
              <a:t>71.4K sales </a:t>
            </a:r>
            <a:r>
              <a:rPr lang="en-US" dirty="0"/>
              <a:t>generated respectively, this is due to the social gathering and outdoor events during holidays (e.g. Independence Day, Memorial Day). However, the </a:t>
            </a:r>
            <a:r>
              <a:rPr lang="en-US" b="1" dirty="0">
                <a:solidFill>
                  <a:srgbClr val="FF0000"/>
                </a:solidFill>
              </a:rPr>
              <a:t>decrease in sales </a:t>
            </a:r>
            <a:r>
              <a:rPr lang="en-US" dirty="0"/>
              <a:t>in the month of </a:t>
            </a:r>
            <a:r>
              <a:rPr lang="en-US" b="1" dirty="0"/>
              <a:t>October and  September </a:t>
            </a:r>
            <a:r>
              <a:rPr lang="en-US" dirty="0"/>
              <a:t>recorded the least pizza orders of </a:t>
            </a:r>
            <a:r>
              <a:rPr lang="en-US" b="1" dirty="0"/>
              <a:t>3,797 pizza </a:t>
            </a:r>
            <a:r>
              <a:rPr lang="en-US" dirty="0"/>
              <a:t>orders with </a:t>
            </a:r>
            <a:r>
              <a:rPr lang="en-US" b="1" dirty="0"/>
              <a:t>64.0K sales </a:t>
            </a:r>
            <a:r>
              <a:rPr lang="en-US" dirty="0"/>
              <a:t>generated and </a:t>
            </a:r>
            <a:r>
              <a:rPr lang="en-US" b="1" dirty="0"/>
              <a:t>3,819 pizza </a:t>
            </a:r>
            <a:r>
              <a:rPr lang="en-US" dirty="0"/>
              <a:t>orders with </a:t>
            </a:r>
            <a:r>
              <a:rPr lang="en-US" b="1" dirty="0"/>
              <a:t>64.2K sales </a:t>
            </a:r>
            <a:r>
              <a:rPr lang="en-US" dirty="0"/>
              <a:t>generated respectively, this could be affected by the back-to-school season.</a:t>
            </a:r>
          </a:p>
        </p:txBody>
      </p:sp>
      <p:pic>
        <p:nvPicPr>
          <p:cNvPr id="4" name="Picture 3">
            <a:extLst>
              <a:ext uri="{FF2B5EF4-FFF2-40B4-BE49-F238E27FC236}">
                <a16:creationId xmlns:a16="http://schemas.microsoft.com/office/drawing/2014/main" id="{1BE49238-EEEB-79D8-5343-1873538CAC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1" y="275785"/>
            <a:ext cx="5720860" cy="3550627"/>
          </a:xfrm>
          <a:prstGeom prst="rect">
            <a:avLst/>
          </a:prstGeom>
        </p:spPr>
      </p:pic>
    </p:spTree>
    <p:extLst>
      <p:ext uri="{BB962C8B-B14F-4D97-AF65-F5344CB8AC3E}">
        <p14:creationId xmlns:p14="http://schemas.microsoft.com/office/powerpoint/2010/main" val="3353039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B47E8854-2FF9-4E5B-87DF-A978BC40494D}"/>
              </a:ext>
            </a:extLst>
          </p:cNvPr>
          <p:cNvSpPr/>
          <p:nvPr/>
        </p:nvSpPr>
        <p:spPr>
          <a:xfrm>
            <a:off x="7563728" y="4680216"/>
            <a:ext cx="3710215" cy="841828"/>
          </a:xfrm>
          <a:prstGeom prst="roundRect">
            <a:avLst>
              <a:gd name="adj" fmla="val 50000"/>
            </a:avLst>
          </a:prstGeom>
          <a:solidFill>
            <a:srgbClr val="2027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D6D62EB5-52B5-41D0-966B-AB2894722D71}"/>
              </a:ext>
            </a:extLst>
          </p:cNvPr>
          <p:cNvSpPr/>
          <p:nvPr/>
        </p:nvSpPr>
        <p:spPr>
          <a:xfrm>
            <a:off x="483600" y="4699658"/>
            <a:ext cx="3710215" cy="841828"/>
          </a:xfrm>
          <a:prstGeom prst="roundRect">
            <a:avLst>
              <a:gd name="adj" fmla="val 50000"/>
            </a:avLst>
          </a:prstGeom>
          <a:solidFill>
            <a:srgbClr val="EFAB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Rounded Corners 40">
            <a:extLst>
              <a:ext uri="{FF2B5EF4-FFF2-40B4-BE49-F238E27FC236}">
                <a16:creationId xmlns:a16="http://schemas.microsoft.com/office/drawing/2014/main" id="{9196D424-ACFA-475B-880A-A695CDBABE09}"/>
              </a:ext>
            </a:extLst>
          </p:cNvPr>
          <p:cNvSpPr/>
          <p:nvPr/>
        </p:nvSpPr>
        <p:spPr>
          <a:xfrm>
            <a:off x="483600" y="2002149"/>
            <a:ext cx="3710215" cy="841828"/>
          </a:xfrm>
          <a:prstGeom prst="roundRect">
            <a:avLst>
              <a:gd name="adj" fmla="val 50000"/>
            </a:avLst>
          </a:prstGeom>
          <a:solidFill>
            <a:srgbClr val="2027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0BD9D2B0-B34D-4669-87B3-3D4434D0FB5A}"/>
              </a:ext>
            </a:extLst>
          </p:cNvPr>
          <p:cNvSpPr/>
          <p:nvPr/>
        </p:nvSpPr>
        <p:spPr>
          <a:xfrm>
            <a:off x="7686691" y="1999552"/>
            <a:ext cx="3710215" cy="841828"/>
          </a:xfrm>
          <a:prstGeom prst="roundRect">
            <a:avLst>
              <a:gd name="adj" fmla="val 50000"/>
            </a:avLst>
          </a:prstGeom>
          <a:solidFill>
            <a:srgbClr val="EFAB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C2D175-E9D0-4A19-859E-7A41E1B59623}"/>
              </a:ext>
            </a:extLst>
          </p:cNvPr>
          <p:cNvSpPr/>
          <p:nvPr/>
        </p:nvSpPr>
        <p:spPr>
          <a:xfrm>
            <a:off x="0" y="6721475"/>
            <a:ext cx="12192000" cy="136525"/>
          </a:xfrm>
          <a:prstGeom prst="rect">
            <a:avLst/>
          </a:prstGeom>
          <a:solidFill>
            <a:srgbClr val="2027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454CC0D-842A-449A-9B09-AB4F9EE44177}"/>
              </a:ext>
            </a:extLst>
          </p:cNvPr>
          <p:cNvSpPr txBox="1"/>
          <p:nvPr/>
        </p:nvSpPr>
        <p:spPr>
          <a:xfrm>
            <a:off x="266700" y="617060"/>
            <a:ext cx="11658600" cy="430887"/>
          </a:xfrm>
          <a:prstGeom prst="rect">
            <a:avLst/>
          </a:prstGeom>
          <a:noFill/>
        </p:spPr>
        <p:txBody>
          <a:bodyPr wrap="square" lIns="0" tIns="0" rIns="0" bIns="0" rtlCol="0">
            <a:spAutoFit/>
          </a:bodyPr>
          <a:lstStyle/>
          <a:p>
            <a:pPr algn="ctr">
              <a:spcAft>
                <a:spcPts val="600"/>
              </a:spcAft>
            </a:pPr>
            <a:r>
              <a:rPr lang="en-US" sz="2800" b="1" dirty="0">
                <a:solidFill>
                  <a:srgbClr val="FF0000"/>
                </a:solidFill>
                <a:latin typeface="+mj-lt"/>
              </a:rPr>
              <a:t>PIZZA SALES BY CATEGORY PERFORMANCE</a:t>
            </a:r>
            <a:endParaRPr lang="en-US" sz="2800" dirty="0">
              <a:solidFill>
                <a:srgbClr val="FF0000"/>
              </a:solidFill>
              <a:latin typeface="+mj-lt"/>
            </a:endParaRPr>
          </a:p>
        </p:txBody>
      </p:sp>
      <p:sp>
        <p:nvSpPr>
          <p:cNvPr id="42" name="TextBox 41">
            <a:extLst>
              <a:ext uri="{FF2B5EF4-FFF2-40B4-BE49-F238E27FC236}">
                <a16:creationId xmlns:a16="http://schemas.microsoft.com/office/drawing/2014/main" id="{5E22DB3A-4F10-4FDB-815D-16EBC4BE4F48}"/>
              </a:ext>
            </a:extLst>
          </p:cNvPr>
          <p:cNvSpPr txBox="1"/>
          <p:nvPr/>
        </p:nvSpPr>
        <p:spPr>
          <a:xfrm flipH="1">
            <a:off x="851658" y="2073248"/>
            <a:ext cx="2702013" cy="646331"/>
          </a:xfrm>
          <a:prstGeom prst="rect">
            <a:avLst/>
          </a:prstGeom>
          <a:noFill/>
        </p:spPr>
        <p:txBody>
          <a:bodyPr wrap="square" lIns="0" tIns="0" rIns="0" bIns="0" rtlCol="0" anchor="ctr">
            <a:spAutoFit/>
          </a:bodyPr>
          <a:lstStyle/>
          <a:p>
            <a:pPr algn="r">
              <a:spcAft>
                <a:spcPts val="600"/>
              </a:spcAft>
            </a:pPr>
            <a:r>
              <a:rPr lang="en-US" sz="1400" b="1" dirty="0">
                <a:solidFill>
                  <a:schemeClr val="bg1"/>
                </a:solidFill>
              </a:rPr>
              <a:t>Classic Pizza </a:t>
            </a:r>
            <a:r>
              <a:rPr lang="en-US" sz="1400" dirty="0">
                <a:solidFill>
                  <a:schemeClr val="bg1"/>
                </a:solidFill>
              </a:rPr>
              <a:t>recorded about </a:t>
            </a:r>
            <a:r>
              <a:rPr lang="en-US" sz="1400" b="1" dirty="0">
                <a:solidFill>
                  <a:schemeClr val="bg1"/>
                </a:solidFill>
              </a:rPr>
              <a:t>14888</a:t>
            </a:r>
            <a:r>
              <a:rPr lang="en-US" sz="1400" dirty="0">
                <a:solidFill>
                  <a:schemeClr val="bg1"/>
                </a:solidFill>
              </a:rPr>
              <a:t> orders  and attributes to </a:t>
            </a:r>
            <a:r>
              <a:rPr lang="en-US" sz="1400" b="1" dirty="0">
                <a:solidFill>
                  <a:schemeClr val="bg1"/>
                </a:solidFill>
              </a:rPr>
              <a:t>26.90%</a:t>
            </a:r>
            <a:r>
              <a:rPr lang="en-US" sz="1400" dirty="0">
                <a:solidFill>
                  <a:schemeClr val="bg1"/>
                </a:solidFill>
              </a:rPr>
              <a:t> sales generated.   </a:t>
            </a:r>
          </a:p>
        </p:txBody>
      </p:sp>
      <p:sp>
        <p:nvSpPr>
          <p:cNvPr id="43" name="TextBox 42">
            <a:extLst>
              <a:ext uri="{FF2B5EF4-FFF2-40B4-BE49-F238E27FC236}">
                <a16:creationId xmlns:a16="http://schemas.microsoft.com/office/drawing/2014/main" id="{BC5F89BB-8654-4F88-93FC-058AF77BEC31}"/>
              </a:ext>
            </a:extLst>
          </p:cNvPr>
          <p:cNvSpPr txBox="1"/>
          <p:nvPr/>
        </p:nvSpPr>
        <p:spPr>
          <a:xfrm flipH="1">
            <a:off x="909656" y="4795092"/>
            <a:ext cx="2644015" cy="646331"/>
          </a:xfrm>
          <a:prstGeom prst="rect">
            <a:avLst/>
          </a:prstGeom>
          <a:noFill/>
        </p:spPr>
        <p:txBody>
          <a:bodyPr wrap="square" lIns="0" tIns="0" rIns="0" bIns="0" rtlCol="0" anchor="ctr">
            <a:spAutoFit/>
          </a:bodyPr>
          <a:lstStyle/>
          <a:p>
            <a:pPr algn="r">
              <a:spcAft>
                <a:spcPts val="600"/>
              </a:spcAft>
            </a:pPr>
            <a:r>
              <a:rPr lang="en-US" sz="1400" dirty="0"/>
              <a:t>The </a:t>
            </a:r>
            <a:r>
              <a:rPr lang="en-US" sz="1400" b="1" dirty="0"/>
              <a:t>Chicken Pizza</a:t>
            </a:r>
            <a:r>
              <a:rPr lang="en-US" sz="1400" dirty="0"/>
              <a:t> recorded about </a:t>
            </a:r>
            <a:r>
              <a:rPr lang="en-US" sz="1400" b="1" dirty="0"/>
              <a:t>11649</a:t>
            </a:r>
            <a:r>
              <a:rPr lang="en-US" sz="1400" dirty="0"/>
              <a:t> orders  and attributes to </a:t>
            </a:r>
            <a:r>
              <a:rPr lang="en-US" sz="1400" b="1" dirty="0"/>
              <a:t>23.88%</a:t>
            </a:r>
            <a:r>
              <a:rPr lang="en-US" sz="1400" dirty="0"/>
              <a:t> sales generated</a:t>
            </a:r>
            <a:r>
              <a:rPr lang="en-US" sz="1400" dirty="0">
                <a:solidFill>
                  <a:schemeClr val="bg1"/>
                </a:solidFill>
              </a:rPr>
              <a:t>. </a:t>
            </a:r>
          </a:p>
        </p:txBody>
      </p:sp>
      <p:sp>
        <p:nvSpPr>
          <p:cNvPr id="45" name="TextBox 44">
            <a:extLst>
              <a:ext uri="{FF2B5EF4-FFF2-40B4-BE49-F238E27FC236}">
                <a16:creationId xmlns:a16="http://schemas.microsoft.com/office/drawing/2014/main" id="{2CE9BAAE-054D-4B3E-8443-53033B3F1251}"/>
              </a:ext>
            </a:extLst>
          </p:cNvPr>
          <p:cNvSpPr txBox="1"/>
          <p:nvPr/>
        </p:nvSpPr>
        <p:spPr>
          <a:xfrm flipH="1">
            <a:off x="8284315" y="2083164"/>
            <a:ext cx="2852206" cy="646331"/>
          </a:xfrm>
          <a:prstGeom prst="rect">
            <a:avLst/>
          </a:prstGeom>
          <a:noFill/>
        </p:spPr>
        <p:txBody>
          <a:bodyPr wrap="square" lIns="0" tIns="0" rIns="0" bIns="0" rtlCol="0" anchor="ctr">
            <a:spAutoFit/>
          </a:bodyPr>
          <a:lstStyle/>
          <a:p>
            <a:pPr>
              <a:spcAft>
                <a:spcPts val="600"/>
              </a:spcAft>
            </a:pPr>
            <a:r>
              <a:rPr lang="en-US" sz="1400" dirty="0"/>
              <a:t>The </a:t>
            </a:r>
            <a:r>
              <a:rPr lang="en-US" sz="1400" b="1" dirty="0"/>
              <a:t>Supreme Pizza </a:t>
            </a:r>
            <a:r>
              <a:rPr lang="en-US" sz="1400" dirty="0"/>
              <a:t>recorded about </a:t>
            </a:r>
            <a:r>
              <a:rPr lang="en-US" sz="1400" b="1" dirty="0"/>
              <a:t>11987 </a:t>
            </a:r>
            <a:r>
              <a:rPr lang="en-US" sz="1400" dirty="0"/>
              <a:t>orders  and attributes to </a:t>
            </a:r>
            <a:r>
              <a:rPr lang="en-US" sz="1400" b="1" dirty="0"/>
              <a:t>25.50% </a:t>
            </a:r>
            <a:r>
              <a:rPr lang="en-US" sz="1400" dirty="0"/>
              <a:t>sales generated</a:t>
            </a:r>
          </a:p>
        </p:txBody>
      </p:sp>
      <p:sp>
        <p:nvSpPr>
          <p:cNvPr id="47" name="TextBox 46">
            <a:extLst>
              <a:ext uri="{FF2B5EF4-FFF2-40B4-BE49-F238E27FC236}">
                <a16:creationId xmlns:a16="http://schemas.microsoft.com/office/drawing/2014/main" id="{8BE6E0B0-A557-4683-ABE9-6BEEB3444D48}"/>
              </a:ext>
            </a:extLst>
          </p:cNvPr>
          <p:cNvSpPr txBox="1"/>
          <p:nvPr/>
        </p:nvSpPr>
        <p:spPr>
          <a:xfrm flipH="1">
            <a:off x="8284315" y="4777173"/>
            <a:ext cx="2852205" cy="646331"/>
          </a:xfrm>
          <a:prstGeom prst="rect">
            <a:avLst/>
          </a:prstGeom>
          <a:noFill/>
        </p:spPr>
        <p:txBody>
          <a:bodyPr wrap="square" lIns="0" tIns="0" rIns="0" bIns="0" rtlCol="0" anchor="ctr">
            <a:spAutoFit/>
          </a:bodyPr>
          <a:lstStyle/>
          <a:p>
            <a:pPr>
              <a:spcAft>
                <a:spcPts val="600"/>
              </a:spcAft>
            </a:pPr>
            <a:r>
              <a:rPr lang="en-US" sz="1400" dirty="0">
                <a:solidFill>
                  <a:schemeClr val="bg1"/>
                </a:solidFill>
              </a:rPr>
              <a:t>The </a:t>
            </a:r>
            <a:r>
              <a:rPr lang="en-US" sz="1400" b="1" dirty="0">
                <a:solidFill>
                  <a:schemeClr val="bg1"/>
                </a:solidFill>
              </a:rPr>
              <a:t>Veggies Pizza </a:t>
            </a:r>
            <a:r>
              <a:rPr lang="en-US" sz="1400" dirty="0">
                <a:solidFill>
                  <a:schemeClr val="bg1"/>
                </a:solidFill>
              </a:rPr>
              <a:t>recorded about </a:t>
            </a:r>
            <a:r>
              <a:rPr lang="en-US" sz="1400" b="1" dirty="0">
                <a:solidFill>
                  <a:schemeClr val="bg1"/>
                </a:solidFill>
              </a:rPr>
              <a:t>11050 </a:t>
            </a:r>
            <a:r>
              <a:rPr lang="en-US" sz="1400" dirty="0">
                <a:solidFill>
                  <a:schemeClr val="bg1"/>
                </a:solidFill>
              </a:rPr>
              <a:t>orders  and attributes to </a:t>
            </a:r>
            <a:r>
              <a:rPr lang="en-US" sz="1400" b="1" dirty="0">
                <a:solidFill>
                  <a:schemeClr val="bg1"/>
                </a:solidFill>
              </a:rPr>
              <a:t>23.72%</a:t>
            </a:r>
            <a:r>
              <a:rPr lang="en-US" sz="1400" dirty="0">
                <a:solidFill>
                  <a:schemeClr val="bg1"/>
                </a:solidFill>
              </a:rPr>
              <a:t> sales generated</a:t>
            </a:r>
          </a:p>
        </p:txBody>
      </p:sp>
      <p:sp>
        <p:nvSpPr>
          <p:cNvPr id="51" name="Freeform 3042">
            <a:extLst>
              <a:ext uri="{FF2B5EF4-FFF2-40B4-BE49-F238E27FC236}">
                <a16:creationId xmlns:a16="http://schemas.microsoft.com/office/drawing/2014/main" id="{E2520B69-B1A8-40C2-A8B5-FC7530417137}"/>
              </a:ext>
            </a:extLst>
          </p:cNvPr>
          <p:cNvSpPr>
            <a:spLocks noEditPoints="1"/>
          </p:cNvSpPr>
          <p:nvPr/>
        </p:nvSpPr>
        <p:spPr bwMode="auto">
          <a:xfrm>
            <a:off x="2624458" y="3019691"/>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3042">
            <a:extLst>
              <a:ext uri="{FF2B5EF4-FFF2-40B4-BE49-F238E27FC236}">
                <a16:creationId xmlns:a16="http://schemas.microsoft.com/office/drawing/2014/main" id="{270C077B-70E5-4484-B053-4FB5057BFEB6}"/>
              </a:ext>
            </a:extLst>
          </p:cNvPr>
          <p:cNvSpPr>
            <a:spLocks noEditPoints="1"/>
          </p:cNvSpPr>
          <p:nvPr/>
        </p:nvSpPr>
        <p:spPr bwMode="auto">
          <a:xfrm>
            <a:off x="2950653" y="3019691"/>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3042">
            <a:extLst>
              <a:ext uri="{FF2B5EF4-FFF2-40B4-BE49-F238E27FC236}">
                <a16:creationId xmlns:a16="http://schemas.microsoft.com/office/drawing/2014/main" id="{98078C52-5DBE-4DA0-8A97-577B7EF416C6}"/>
              </a:ext>
            </a:extLst>
          </p:cNvPr>
          <p:cNvSpPr>
            <a:spLocks noEditPoints="1"/>
          </p:cNvSpPr>
          <p:nvPr/>
        </p:nvSpPr>
        <p:spPr bwMode="auto">
          <a:xfrm>
            <a:off x="2950653" y="5842735"/>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3042">
            <a:extLst>
              <a:ext uri="{FF2B5EF4-FFF2-40B4-BE49-F238E27FC236}">
                <a16:creationId xmlns:a16="http://schemas.microsoft.com/office/drawing/2014/main" id="{39C68D9C-C77B-49FA-88B9-8041BE23864F}"/>
              </a:ext>
            </a:extLst>
          </p:cNvPr>
          <p:cNvSpPr>
            <a:spLocks noEditPoints="1"/>
          </p:cNvSpPr>
          <p:nvPr/>
        </p:nvSpPr>
        <p:spPr bwMode="auto">
          <a:xfrm>
            <a:off x="2299232" y="3020173"/>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3042">
            <a:extLst>
              <a:ext uri="{FF2B5EF4-FFF2-40B4-BE49-F238E27FC236}">
                <a16:creationId xmlns:a16="http://schemas.microsoft.com/office/drawing/2014/main" id="{D1B73727-E301-4A4F-AB2B-BB56A42A3EF4}"/>
              </a:ext>
            </a:extLst>
          </p:cNvPr>
          <p:cNvSpPr>
            <a:spLocks noEditPoints="1"/>
          </p:cNvSpPr>
          <p:nvPr/>
        </p:nvSpPr>
        <p:spPr bwMode="auto">
          <a:xfrm>
            <a:off x="3271814" y="3021085"/>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3042">
            <a:extLst>
              <a:ext uri="{FF2B5EF4-FFF2-40B4-BE49-F238E27FC236}">
                <a16:creationId xmlns:a16="http://schemas.microsoft.com/office/drawing/2014/main" id="{6E19C845-FFF0-41C3-8829-C78351E4FD48}"/>
              </a:ext>
            </a:extLst>
          </p:cNvPr>
          <p:cNvSpPr>
            <a:spLocks noEditPoints="1"/>
          </p:cNvSpPr>
          <p:nvPr/>
        </p:nvSpPr>
        <p:spPr bwMode="auto">
          <a:xfrm>
            <a:off x="1973148" y="3020173"/>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3042">
            <a:extLst>
              <a:ext uri="{FF2B5EF4-FFF2-40B4-BE49-F238E27FC236}">
                <a16:creationId xmlns:a16="http://schemas.microsoft.com/office/drawing/2014/main" id="{FDB6A648-074A-4F22-BB82-5B47CFB77CFD}"/>
              </a:ext>
            </a:extLst>
          </p:cNvPr>
          <p:cNvSpPr>
            <a:spLocks noEditPoints="1"/>
          </p:cNvSpPr>
          <p:nvPr/>
        </p:nvSpPr>
        <p:spPr bwMode="auto">
          <a:xfrm>
            <a:off x="3267921" y="5835723"/>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3042">
            <a:extLst>
              <a:ext uri="{FF2B5EF4-FFF2-40B4-BE49-F238E27FC236}">
                <a16:creationId xmlns:a16="http://schemas.microsoft.com/office/drawing/2014/main" id="{EE65FE36-ED52-49C4-95FB-0671517F20EC}"/>
              </a:ext>
            </a:extLst>
          </p:cNvPr>
          <p:cNvSpPr>
            <a:spLocks noEditPoints="1"/>
          </p:cNvSpPr>
          <p:nvPr/>
        </p:nvSpPr>
        <p:spPr bwMode="auto">
          <a:xfrm>
            <a:off x="1961465" y="5848726"/>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3042">
            <a:extLst>
              <a:ext uri="{FF2B5EF4-FFF2-40B4-BE49-F238E27FC236}">
                <a16:creationId xmlns:a16="http://schemas.microsoft.com/office/drawing/2014/main" id="{64216E0C-4DBE-4B9F-89BA-8A209C1A67F7}"/>
              </a:ext>
            </a:extLst>
          </p:cNvPr>
          <p:cNvSpPr>
            <a:spLocks noEditPoints="1"/>
          </p:cNvSpPr>
          <p:nvPr/>
        </p:nvSpPr>
        <p:spPr bwMode="auto">
          <a:xfrm>
            <a:off x="2296600" y="5826889"/>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3042">
            <a:extLst>
              <a:ext uri="{FF2B5EF4-FFF2-40B4-BE49-F238E27FC236}">
                <a16:creationId xmlns:a16="http://schemas.microsoft.com/office/drawing/2014/main" id="{6C54E504-7DFD-4EC5-A585-66F44ECCBF0D}"/>
              </a:ext>
            </a:extLst>
          </p:cNvPr>
          <p:cNvSpPr>
            <a:spLocks noEditPoints="1"/>
          </p:cNvSpPr>
          <p:nvPr/>
        </p:nvSpPr>
        <p:spPr bwMode="auto">
          <a:xfrm>
            <a:off x="2629933" y="5825511"/>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3042">
            <a:extLst>
              <a:ext uri="{FF2B5EF4-FFF2-40B4-BE49-F238E27FC236}">
                <a16:creationId xmlns:a16="http://schemas.microsoft.com/office/drawing/2014/main" id="{4838985E-58B5-43F8-9726-88EC85CC40EE}"/>
              </a:ext>
            </a:extLst>
          </p:cNvPr>
          <p:cNvSpPr>
            <a:spLocks noEditPoints="1"/>
          </p:cNvSpPr>
          <p:nvPr/>
        </p:nvSpPr>
        <p:spPr bwMode="auto">
          <a:xfrm>
            <a:off x="8360901" y="3021085"/>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3042">
            <a:extLst>
              <a:ext uri="{FF2B5EF4-FFF2-40B4-BE49-F238E27FC236}">
                <a16:creationId xmlns:a16="http://schemas.microsoft.com/office/drawing/2014/main" id="{53BE91D7-08B3-4861-A165-2A8B40097CFE}"/>
              </a:ext>
            </a:extLst>
          </p:cNvPr>
          <p:cNvSpPr>
            <a:spLocks noEditPoints="1"/>
          </p:cNvSpPr>
          <p:nvPr/>
        </p:nvSpPr>
        <p:spPr bwMode="auto">
          <a:xfrm>
            <a:off x="8790576" y="3019691"/>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3042">
            <a:extLst>
              <a:ext uri="{FF2B5EF4-FFF2-40B4-BE49-F238E27FC236}">
                <a16:creationId xmlns:a16="http://schemas.microsoft.com/office/drawing/2014/main" id="{F7422C63-4780-4FAC-BA13-2EC4F445982A}"/>
              </a:ext>
            </a:extLst>
          </p:cNvPr>
          <p:cNvSpPr>
            <a:spLocks noEditPoints="1"/>
          </p:cNvSpPr>
          <p:nvPr/>
        </p:nvSpPr>
        <p:spPr bwMode="auto">
          <a:xfrm>
            <a:off x="9208918" y="3019691"/>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0" name="Freeform 3042">
            <a:extLst>
              <a:ext uri="{FF2B5EF4-FFF2-40B4-BE49-F238E27FC236}">
                <a16:creationId xmlns:a16="http://schemas.microsoft.com/office/drawing/2014/main" id="{057D5937-2254-4412-B18D-6B047EF6DEDA}"/>
              </a:ext>
            </a:extLst>
          </p:cNvPr>
          <p:cNvSpPr>
            <a:spLocks noEditPoints="1"/>
          </p:cNvSpPr>
          <p:nvPr/>
        </p:nvSpPr>
        <p:spPr bwMode="auto">
          <a:xfrm>
            <a:off x="10005118" y="3019691"/>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3042">
            <a:extLst>
              <a:ext uri="{FF2B5EF4-FFF2-40B4-BE49-F238E27FC236}">
                <a16:creationId xmlns:a16="http://schemas.microsoft.com/office/drawing/2014/main" id="{51EC2F4A-8B5F-430C-9965-47652CD796D4}"/>
              </a:ext>
            </a:extLst>
          </p:cNvPr>
          <p:cNvSpPr>
            <a:spLocks noEditPoints="1"/>
          </p:cNvSpPr>
          <p:nvPr/>
        </p:nvSpPr>
        <p:spPr bwMode="auto">
          <a:xfrm>
            <a:off x="9607018" y="3019691"/>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3042">
            <a:extLst>
              <a:ext uri="{FF2B5EF4-FFF2-40B4-BE49-F238E27FC236}">
                <a16:creationId xmlns:a16="http://schemas.microsoft.com/office/drawing/2014/main" id="{9BC033A8-8415-4D83-B2EF-FF17568E9AFB}"/>
              </a:ext>
            </a:extLst>
          </p:cNvPr>
          <p:cNvSpPr>
            <a:spLocks noEditPoints="1"/>
          </p:cNvSpPr>
          <p:nvPr/>
        </p:nvSpPr>
        <p:spPr bwMode="auto">
          <a:xfrm>
            <a:off x="10058760" y="5822156"/>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3042">
            <a:extLst>
              <a:ext uri="{FF2B5EF4-FFF2-40B4-BE49-F238E27FC236}">
                <a16:creationId xmlns:a16="http://schemas.microsoft.com/office/drawing/2014/main" id="{C446CFB0-16EA-49ED-9113-25BCBC11C08B}"/>
              </a:ext>
            </a:extLst>
          </p:cNvPr>
          <p:cNvSpPr>
            <a:spLocks noEditPoints="1"/>
          </p:cNvSpPr>
          <p:nvPr/>
        </p:nvSpPr>
        <p:spPr bwMode="auto">
          <a:xfrm>
            <a:off x="9351793" y="5835501"/>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3042">
            <a:extLst>
              <a:ext uri="{FF2B5EF4-FFF2-40B4-BE49-F238E27FC236}">
                <a16:creationId xmlns:a16="http://schemas.microsoft.com/office/drawing/2014/main" id="{711A8937-48D2-4A81-9B1C-F25ACCCC2575}"/>
              </a:ext>
            </a:extLst>
          </p:cNvPr>
          <p:cNvSpPr>
            <a:spLocks noEditPoints="1"/>
          </p:cNvSpPr>
          <p:nvPr/>
        </p:nvSpPr>
        <p:spPr bwMode="auto">
          <a:xfrm>
            <a:off x="8665075" y="5835723"/>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3042">
            <a:extLst>
              <a:ext uri="{FF2B5EF4-FFF2-40B4-BE49-F238E27FC236}">
                <a16:creationId xmlns:a16="http://schemas.microsoft.com/office/drawing/2014/main" id="{2AF876DD-6BE6-42C0-9F76-6197C6D1B210}"/>
              </a:ext>
            </a:extLst>
          </p:cNvPr>
          <p:cNvSpPr>
            <a:spLocks noEditPoints="1"/>
          </p:cNvSpPr>
          <p:nvPr/>
        </p:nvSpPr>
        <p:spPr bwMode="auto">
          <a:xfrm>
            <a:off x="9013417" y="5835723"/>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rgbClr val="EFAB04"/>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3042">
            <a:extLst>
              <a:ext uri="{FF2B5EF4-FFF2-40B4-BE49-F238E27FC236}">
                <a16:creationId xmlns:a16="http://schemas.microsoft.com/office/drawing/2014/main" id="{9530285A-C1B0-4D98-BD84-285F795B9691}"/>
              </a:ext>
            </a:extLst>
          </p:cNvPr>
          <p:cNvSpPr>
            <a:spLocks noEditPoints="1"/>
          </p:cNvSpPr>
          <p:nvPr/>
        </p:nvSpPr>
        <p:spPr bwMode="auto">
          <a:xfrm>
            <a:off x="9710418" y="5835723"/>
            <a:ext cx="285750" cy="285750"/>
          </a:xfrm>
          <a:custGeom>
            <a:avLst/>
            <a:gdLst>
              <a:gd name="T0" fmla="*/ 507 w 718"/>
              <a:gd name="T1" fmla="*/ 573 h 718"/>
              <a:gd name="T2" fmla="*/ 504 w 718"/>
              <a:gd name="T3" fmla="*/ 580 h 718"/>
              <a:gd name="T4" fmla="*/ 498 w 718"/>
              <a:gd name="T5" fmla="*/ 579 h 718"/>
              <a:gd name="T6" fmla="*/ 215 w 718"/>
              <a:gd name="T7" fmla="*/ 580 h 718"/>
              <a:gd name="T8" fmla="*/ 209 w 718"/>
              <a:gd name="T9" fmla="*/ 573 h 718"/>
              <a:gd name="T10" fmla="*/ 138 w 718"/>
              <a:gd name="T11" fmla="*/ 301 h 718"/>
              <a:gd name="T12" fmla="*/ 142 w 718"/>
              <a:gd name="T13" fmla="*/ 294 h 718"/>
              <a:gd name="T14" fmla="*/ 355 w 718"/>
              <a:gd name="T15" fmla="*/ 151 h 718"/>
              <a:gd name="T16" fmla="*/ 364 w 718"/>
              <a:gd name="T17" fmla="*/ 153 h 718"/>
              <a:gd name="T18" fmla="*/ 578 w 718"/>
              <a:gd name="T19" fmla="*/ 295 h 718"/>
              <a:gd name="T20" fmla="*/ 578 w 718"/>
              <a:gd name="T21" fmla="*/ 304 h 718"/>
              <a:gd name="T22" fmla="*/ 322 w 718"/>
              <a:gd name="T23" fmla="*/ 2 h 718"/>
              <a:gd name="T24" fmla="*/ 268 w 718"/>
              <a:gd name="T25" fmla="*/ 12 h 718"/>
              <a:gd name="T26" fmla="*/ 218 w 718"/>
              <a:gd name="T27" fmla="*/ 28 h 718"/>
              <a:gd name="T28" fmla="*/ 172 w 718"/>
              <a:gd name="T29" fmla="*/ 52 h 718"/>
              <a:gd name="T30" fmla="*/ 130 w 718"/>
              <a:gd name="T31" fmla="*/ 82 h 718"/>
              <a:gd name="T32" fmla="*/ 92 w 718"/>
              <a:gd name="T33" fmla="*/ 117 h 718"/>
              <a:gd name="T34" fmla="*/ 60 w 718"/>
              <a:gd name="T35" fmla="*/ 158 h 718"/>
              <a:gd name="T36" fmla="*/ 34 w 718"/>
              <a:gd name="T37" fmla="*/ 203 h 718"/>
              <a:gd name="T38" fmla="*/ 15 w 718"/>
              <a:gd name="T39" fmla="*/ 252 h 718"/>
              <a:gd name="T40" fmla="*/ 3 w 718"/>
              <a:gd name="T41" fmla="*/ 304 h 718"/>
              <a:gd name="T42" fmla="*/ 0 w 718"/>
              <a:gd name="T43" fmla="*/ 359 h 718"/>
              <a:gd name="T44" fmla="*/ 3 w 718"/>
              <a:gd name="T45" fmla="*/ 414 h 718"/>
              <a:gd name="T46" fmla="*/ 15 w 718"/>
              <a:gd name="T47" fmla="*/ 466 h 718"/>
              <a:gd name="T48" fmla="*/ 34 w 718"/>
              <a:gd name="T49" fmla="*/ 515 h 718"/>
              <a:gd name="T50" fmla="*/ 60 w 718"/>
              <a:gd name="T51" fmla="*/ 560 h 718"/>
              <a:gd name="T52" fmla="*/ 92 w 718"/>
              <a:gd name="T53" fmla="*/ 600 h 718"/>
              <a:gd name="T54" fmla="*/ 130 w 718"/>
              <a:gd name="T55" fmla="*/ 636 h 718"/>
              <a:gd name="T56" fmla="*/ 172 w 718"/>
              <a:gd name="T57" fmla="*/ 666 h 718"/>
              <a:gd name="T58" fmla="*/ 218 w 718"/>
              <a:gd name="T59" fmla="*/ 690 h 718"/>
              <a:gd name="T60" fmla="*/ 268 w 718"/>
              <a:gd name="T61" fmla="*/ 707 h 718"/>
              <a:gd name="T62" fmla="*/ 322 w 718"/>
              <a:gd name="T63" fmla="*/ 717 h 718"/>
              <a:gd name="T64" fmla="*/ 377 w 718"/>
              <a:gd name="T65" fmla="*/ 718 h 718"/>
              <a:gd name="T66" fmla="*/ 430 w 718"/>
              <a:gd name="T67" fmla="*/ 711 h 718"/>
              <a:gd name="T68" fmla="*/ 481 w 718"/>
              <a:gd name="T69" fmla="*/ 697 h 718"/>
              <a:gd name="T70" fmla="*/ 530 w 718"/>
              <a:gd name="T71" fmla="*/ 675 h 718"/>
              <a:gd name="T72" fmla="*/ 573 w 718"/>
              <a:gd name="T73" fmla="*/ 647 h 718"/>
              <a:gd name="T74" fmla="*/ 612 w 718"/>
              <a:gd name="T75" fmla="*/ 614 h 718"/>
              <a:gd name="T76" fmla="*/ 647 w 718"/>
              <a:gd name="T77" fmla="*/ 574 h 718"/>
              <a:gd name="T78" fmla="*/ 674 w 718"/>
              <a:gd name="T79" fmla="*/ 530 h 718"/>
              <a:gd name="T80" fmla="*/ 695 w 718"/>
              <a:gd name="T81" fmla="*/ 483 h 718"/>
              <a:gd name="T82" fmla="*/ 711 w 718"/>
              <a:gd name="T83" fmla="*/ 432 h 718"/>
              <a:gd name="T84" fmla="*/ 717 w 718"/>
              <a:gd name="T85" fmla="*/ 378 h 718"/>
              <a:gd name="T86" fmla="*/ 716 w 718"/>
              <a:gd name="T87" fmla="*/ 322 h 718"/>
              <a:gd name="T88" fmla="*/ 706 w 718"/>
              <a:gd name="T89" fmla="*/ 270 h 718"/>
              <a:gd name="T90" fmla="*/ 689 w 718"/>
              <a:gd name="T91" fmla="*/ 220 h 718"/>
              <a:gd name="T92" fmla="*/ 666 w 718"/>
              <a:gd name="T93" fmla="*/ 173 h 718"/>
              <a:gd name="T94" fmla="*/ 636 w 718"/>
              <a:gd name="T95" fmla="*/ 131 h 718"/>
              <a:gd name="T96" fmla="*/ 600 w 718"/>
              <a:gd name="T97" fmla="*/ 94 h 718"/>
              <a:gd name="T98" fmla="*/ 559 w 718"/>
              <a:gd name="T99" fmla="*/ 62 h 718"/>
              <a:gd name="T100" fmla="*/ 515 w 718"/>
              <a:gd name="T101" fmla="*/ 35 h 718"/>
              <a:gd name="T102" fmla="*/ 465 w 718"/>
              <a:gd name="T103" fmla="*/ 16 h 718"/>
              <a:gd name="T104" fmla="*/ 413 w 718"/>
              <a:gd name="T105" fmla="*/ 4 h 718"/>
              <a:gd name="T106" fmla="*/ 359 w 718"/>
              <a:gd name="T107" fmla="*/ 0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8" h="718">
                <a:moveTo>
                  <a:pt x="578" y="304"/>
                </a:moveTo>
                <a:lnTo>
                  <a:pt x="456" y="407"/>
                </a:lnTo>
                <a:lnTo>
                  <a:pt x="507" y="573"/>
                </a:lnTo>
                <a:lnTo>
                  <a:pt x="507" y="577"/>
                </a:lnTo>
                <a:lnTo>
                  <a:pt x="505" y="580"/>
                </a:lnTo>
                <a:lnTo>
                  <a:pt x="504" y="580"/>
                </a:lnTo>
                <a:lnTo>
                  <a:pt x="503" y="580"/>
                </a:lnTo>
                <a:lnTo>
                  <a:pt x="500" y="580"/>
                </a:lnTo>
                <a:lnTo>
                  <a:pt x="498" y="579"/>
                </a:lnTo>
                <a:lnTo>
                  <a:pt x="359" y="474"/>
                </a:lnTo>
                <a:lnTo>
                  <a:pt x="218" y="579"/>
                </a:lnTo>
                <a:lnTo>
                  <a:pt x="215" y="580"/>
                </a:lnTo>
                <a:lnTo>
                  <a:pt x="211" y="580"/>
                </a:lnTo>
                <a:lnTo>
                  <a:pt x="209" y="577"/>
                </a:lnTo>
                <a:lnTo>
                  <a:pt x="209" y="573"/>
                </a:lnTo>
                <a:lnTo>
                  <a:pt x="261" y="407"/>
                </a:lnTo>
                <a:lnTo>
                  <a:pt x="139" y="304"/>
                </a:lnTo>
                <a:lnTo>
                  <a:pt x="138" y="301"/>
                </a:lnTo>
                <a:lnTo>
                  <a:pt x="138" y="297"/>
                </a:lnTo>
                <a:lnTo>
                  <a:pt x="140" y="295"/>
                </a:lnTo>
                <a:lnTo>
                  <a:pt x="142" y="294"/>
                </a:lnTo>
                <a:lnTo>
                  <a:pt x="295" y="294"/>
                </a:lnTo>
                <a:lnTo>
                  <a:pt x="353" y="153"/>
                </a:lnTo>
                <a:lnTo>
                  <a:pt x="355" y="151"/>
                </a:lnTo>
                <a:lnTo>
                  <a:pt x="359" y="150"/>
                </a:lnTo>
                <a:lnTo>
                  <a:pt x="361" y="151"/>
                </a:lnTo>
                <a:lnTo>
                  <a:pt x="364" y="153"/>
                </a:lnTo>
                <a:lnTo>
                  <a:pt x="422" y="294"/>
                </a:lnTo>
                <a:lnTo>
                  <a:pt x="574" y="294"/>
                </a:lnTo>
                <a:lnTo>
                  <a:pt x="578" y="295"/>
                </a:lnTo>
                <a:lnTo>
                  <a:pt x="580" y="297"/>
                </a:lnTo>
                <a:lnTo>
                  <a:pt x="580" y="301"/>
                </a:lnTo>
                <a:lnTo>
                  <a:pt x="578" y="304"/>
                </a:lnTo>
                <a:close/>
                <a:moveTo>
                  <a:pt x="359" y="0"/>
                </a:moveTo>
                <a:lnTo>
                  <a:pt x="340" y="0"/>
                </a:lnTo>
                <a:lnTo>
                  <a:pt x="322" y="2"/>
                </a:lnTo>
                <a:lnTo>
                  <a:pt x="304" y="4"/>
                </a:lnTo>
                <a:lnTo>
                  <a:pt x="286" y="7"/>
                </a:lnTo>
                <a:lnTo>
                  <a:pt x="268" y="12"/>
                </a:lnTo>
                <a:lnTo>
                  <a:pt x="252" y="16"/>
                </a:lnTo>
                <a:lnTo>
                  <a:pt x="235" y="21"/>
                </a:lnTo>
                <a:lnTo>
                  <a:pt x="218" y="28"/>
                </a:lnTo>
                <a:lnTo>
                  <a:pt x="203" y="35"/>
                </a:lnTo>
                <a:lnTo>
                  <a:pt x="187" y="44"/>
                </a:lnTo>
                <a:lnTo>
                  <a:pt x="172" y="52"/>
                </a:lnTo>
                <a:lnTo>
                  <a:pt x="158" y="62"/>
                </a:lnTo>
                <a:lnTo>
                  <a:pt x="143" y="71"/>
                </a:lnTo>
                <a:lnTo>
                  <a:pt x="130" y="82"/>
                </a:lnTo>
                <a:lnTo>
                  <a:pt x="117" y="94"/>
                </a:lnTo>
                <a:lnTo>
                  <a:pt x="104" y="106"/>
                </a:lnTo>
                <a:lnTo>
                  <a:pt x="92" y="117"/>
                </a:lnTo>
                <a:lnTo>
                  <a:pt x="82" y="131"/>
                </a:lnTo>
                <a:lnTo>
                  <a:pt x="71" y="145"/>
                </a:lnTo>
                <a:lnTo>
                  <a:pt x="60" y="158"/>
                </a:lnTo>
                <a:lnTo>
                  <a:pt x="51" y="173"/>
                </a:lnTo>
                <a:lnTo>
                  <a:pt x="42" y="188"/>
                </a:lnTo>
                <a:lnTo>
                  <a:pt x="34" y="203"/>
                </a:lnTo>
                <a:lnTo>
                  <a:pt x="27" y="220"/>
                </a:lnTo>
                <a:lnTo>
                  <a:pt x="21" y="235"/>
                </a:lnTo>
                <a:lnTo>
                  <a:pt x="15" y="252"/>
                </a:lnTo>
                <a:lnTo>
                  <a:pt x="10" y="270"/>
                </a:lnTo>
                <a:lnTo>
                  <a:pt x="7" y="286"/>
                </a:lnTo>
                <a:lnTo>
                  <a:pt x="3" y="304"/>
                </a:lnTo>
                <a:lnTo>
                  <a:pt x="1" y="322"/>
                </a:lnTo>
                <a:lnTo>
                  <a:pt x="0" y="341"/>
                </a:lnTo>
                <a:lnTo>
                  <a:pt x="0" y="359"/>
                </a:lnTo>
                <a:lnTo>
                  <a:pt x="0" y="378"/>
                </a:lnTo>
                <a:lnTo>
                  <a:pt x="1" y="396"/>
                </a:lnTo>
                <a:lnTo>
                  <a:pt x="3" y="414"/>
                </a:lnTo>
                <a:lnTo>
                  <a:pt x="7" y="432"/>
                </a:lnTo>
                <a:lnTo>
                  <a:pt x="10" y="449"/>
                </a:lnTo>
                <a:lnTo>
                  <a:pt x="15" y="466"/>
                </a:lnTo>
                <a:lnTo>
                  <a:pt x="21" y="483"/>
                </a:lnTo>
                <a:lnTo>
                  <a:pt x="27" y="499"/>
                </a:lnTo>
                <a:lnTo>
                  <a:pt x="34" y="515"/>
                </a:lnTo>
                <a:lnTo>
                  <a:pt x="42" y="530"/>
                </a:lnTo>
                <a:lnTo>
                  <a:pt x="51" y="546"/>
                </a:lnTo>
                <a:lnTo>
                  <a:pt x="60" y="560"/>
                </a:lnTo>
                <a:lnTo>
                  <a:pt x="71" y="574"/>
                </a:lnTo>
                <a:lnTo>
                  <a:pt x="82" y="587"/>
                </a:lnTo>
                <a:lnTo>
                  <a:pt x="92" y="600"/>
                </a:lnTo>
                <a:lnTo>
                  <a:pt x="104" y="614"/>
                </a:lnTo>
                <a:lnTo>
                  <a:pt x="117" y="625"/>
                </a:lnTo>
                <a:lnTo>
                  <a:pt x="130" y="636"/>
                </a:lnTo>
                <a:lnTo>
                  <a:pt x="143" y="647"/>
                </a:lnTo>
                <a:lnTo>
                  <a:pt x="158" y="658"/>
                </a:lnTo>
                <a:lnTo>
                  <a:pt x="172" y="666"/>
                </a:lnTo>
                <a:lnTo>
                  <a:pt x="187" y="675"/>
                </a:lnTo>
                <a:lnTo>
                  <a:pt x="203" y="683"/>
                </a:lnTo>
                <a:lnTo>
                  <a:pt x="218" y="690"/>
                </a:lnTo>
                <a:lnTo>
                  <a:pt x="235" y="697"/>
                </a:lnTo>
                <a:lnTo>
                  <a:pt x="252" y="703"/>
                </a:lnTo>
                <a:lnTo>
                  <a:pt x="268" y="707"/>
                </a:lnTo>
                <a:lnTo>
                  <a:pt x="286" y="711"/>
                </a:lnTo>
                <a:lnTo>
                  <a:pt x="304" y="715"/>
                </a:lnTo>
                <a:lnTo>
                  <a:pt x="322" y="717"/>
                </a:lnTo>
                <a:lnTo>
                  <a:pt x="340" y="718"/>
                </a:lnTo>
                <a:lnTo>
                  <a:pt x="359" y="718"/>
                </a:lnTo>
                <a:lnTo>
                  <a:pt x="377" y="718"/>
                </a:lnTo>
                <a:lnTo>
                  <a:pt x="396" y="717"/>
                </a:lnTo>
                <a:lnTo>
                  <a:pt x="413" y="715"/>
                </a:lnTo>
                <a:lnTo>
                  <a:pt x="430" y="711"/>
                </a:lnTo>
                <a:lnTo>
                  <a:pt x="448" y="707"/>
                </a:lnTo>
                <a:lnTo>
                  <a:pt x="465" y="703"/>
                </a:lnTo>
                <a:lnTo>
                  <a:pt x="481" y="697"/>
                </a:lnTo>
                <a:lnTo>
                  <a:pt x="498" y="690"/>
                </a:lnTo>
                <a:lnTo>
                  <a:pt x="515" y="683"/>
                </a:lnTo>
                <a:lnTo>
                  <a:pt x="530" y="675"/>
                </a:lnTo>
                <a:lnTo>
                  <a:pt x="544" y="666"/>
                </a:lnTo>
                <a:lnTo>
                  <a:pt x="559" y="658"/>
                </a:lnTo>
                <a:lnTo>
                  <a:pt x="573" y="647"/>
                </a:lnTo>
                <a:lnTo>
                  <a:pt x="587" y="636"/>
                </a:lnTo>
                <a:lnTo>
                  <a:pt x="600" y="625"/>
                </a:lnTo>
                <a:lnTo>
                  <a:pt x="612" y="614"/>
                </a:lnTo>
                <a:lnTo>
                  <a:pt x="624" y="600"/>
                </a:lnTo>
                <a:lnTo>
                  <a:pt x="636" y="587"/>
                </a:lnTo>
                <a:lnTo>
                  <a:pt x="647" y="574"/>
                </a:lnTo>
                <a:lnTo>
                  <a:pt x="656" y="560"/>
                </a:lnTo>
                <a:lnTo>
                  <a:pt x="666" y="546"/>
                </a:lnTo>
                <a:lnTo>
                  <a:pt x="674" y="530"/>
                </a:lnTo>
                <a:lnTo>
                  <a:pt x="682" y="515"/>
                </a:lnTo>
                <a:lnTo>
                  <a:pt x="689" y="499"/>
                </a:lnTo>
                <a:lnTo>
                  <a:pt x="695" y="483"/>
                </a:lnTo>
                <a:lnTo>
                  <a:pt x="701" y="466"/>
                </a:lnTo>
                <a:lnTo>
                  <a:pt x="706" y="449"/>
                </a:lnTo>
                <a:lnTo>
                  <a:pt x="711" y="432"/>
                </a:lnTo>
                <a:lnTo>
                  <a:pt x="713" y="414"/>
                </a:lnTo>
                <a:lnTo>
                  <a:pt x="716" y="396"/>
                </a:lnTo>
                <a:lnTo>
                  <a:pt x="717" y="378"/>
                </a:lnTo>
                <a:lnTo>
                  <a:pt x="718" y="359"/>
                </a:lnTo>
                <a:lnTo>
                  <a:pt x="717" y="341"/>
                </a:lnTo>
                <a:lnTo>
                  <a:pt x="716" y="322"/>
                </a:lnTo>
                <a:lnTo>
                  <a:pt x="713" y="304"/>
                </a:lnTo>
                <a:lnTo>
                  <a:pt x="711" y="286"/>
                </a:lnTo>
                <a:lnTo>
                  <a:pt x="706" y="270"/>
                </a:lnTo>
                <a:lnTo>
                  <a:pt x="701" y="252"/>
                </a:lnTo>
                <a:lnTo>
                  <a:pt x="695" y="235"/>
                </a:lnTo>
                <a:lnTo>
                  <a:pt x="689" y="220"/>
                </a:lnTo>
                <a:lnTo>
                  <a:pt x="682" y="203"/>
                </a:lnTo>
                <a:lnTo>
                  <a:pt x="674" y="188"/>
                </a:lnTo>
                <a:lnTo>
                  <a:pt x="666" y="173"/>
                </a:lnTo>
                <a:lnTo>
                  <a:pt x="656" y="158"/>
                </a:lnTo>
                <a:lnTo>
                  <a:pt x="647" y="145"/>
                </a:lnTo>
                <a:lnTo>
                  <a:pt x="636" y="131"/>
                </a:lnTo>
                <a:lnTo>
                  <a:pt x="624" y="117"/>
                </a:lnTo>
                <a:lnTo>
                  <a:pt x="612" y="106"/>
                </a:lnTo>
                <a:lnTo>
                  <a:pt x="600" y="94"/>
                </a:lnTo>
                <a:lnTo>
                  <a:pt x="587" y="82"/>
                </a:lnTo>
                <a:lnTo>
                  <a:pt x="573" y="71"/>
                </a:lnTo>
                <a:lnTo>
                  <a:pt x="559" y="62"/>
                </a:lnTo>
                <a:lnTo>
                  <a:pt x="544" y="52"/>
                </a:lnTo>
                <a:lnTo>
                  <a:pt x="530" y="44"/>
                </a:lnTo>
                <a:lnTo>
                  <a:pt x="515" y="35"/>
                </a:lnTo>
                <a:lnTo>
                  <a:pt x="498" y="28"/>
                </a:lnTo>
                <a:lnTo>
                  <a:pt x="481" y="21"/>
                </a:lnTo>
                <a:lnTo>
                  <a:pt x="465" y="16"/>
                </a:lnTo>
                <a:lnTo>
                  <a:pt x="448" y="12"/>
                </a:lnTo>
                <a:lnTo>
                  <a:pt x="430" y="7"/>
                </a:lnTo>
                <a:lnTo>
                  <a:pt x="413" y="4"/>
                </a:lnTo>
                <a:lnTo>
                  <a:pt x="396" y="2"/>
                </a:lnTo>
                <a:lnTo>
                  <a:pt x="377" y="0"/>
                </a:lnTo>
                <a:lnTo>
                  <a:pt x="359" y="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49" name="Picture 48">
            <a:extLst>
              <a:ext uri="{FF2B5EF4-FFF2-40B4-BE49-F238E27FC236}">
                <a16:creationId xmlns:a16="http://schemas.microsoft.com/office/drawing/2014/main" id="{39794F82-9240-4727-A760-3EF20A910B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3538580" y="1136110"/>
            <a:ext cx="4600575" cy="4924425"/>
          </a:xfrm>
          <a:prstGeom prst="rect">
            <a:avLst/>
          </a:prstGeom>
        </p:spPr>
      </p:pic>
    </p:spTree>
    <p:extLst>
      <p:ext uri="{BB962C8B-B14F-4D97-AF65-F5344CB8AC3E}">
        <p14:creationId xmlns:p14="http://schemas.microsoft.com/office/powerpoint/2010/main" val="453216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8295B9E-84CD-4E79-9D76-5040BBC7A15A}"/>
              </a:ext>
            </a:extLst>
          </p:cNvPr>
          <p:cNvSpPr txBox="1"/>
          <p:nvPr/>
        </p:nvSpPr>
        <p:spPr>
          <a:xfrm>
            <a:off x="2020486" y="4648488"/>
            <a:ext cx="7682133" cy="1661993"/>
          </a:xfrm>
          <a:prstGeom prst="rect">
            <a:avLst/>
          </a:prstGeom>
          <a:noFill/>
        </p:spPr>
        <p:txBody>
          <a:bodyPr wrap="square" lIns="0" tIns="0" rIns="0" bIns="0" rtlCol="0" anchor="t">
            <a:spAutoFit/>
          </a:bodyPr>
          <a:lstStyle/>
          <a:p>
            <a:pPr algn="just">
              <a:spcAft>
                <a:spcPts val="600"/>
              </a:spcAft>
            </a:pPr>
            <a:r>
              <a:rPr lang="en-US" dirty="0"/>
              <a:t>The chart above shows the top 5 pizzas with the highest revenue generated and also the bottom 5 pizzas with the least revenue generated for all pizza types. The pizza type which contributes to the </a:t>
            </a:r>
            <a:r>
              <a:rPr lang="en-US" b="1" dirty="0">
                <a:solidFill>
                  <a:srgbClr val="00B050"/>
                </a:solidFill>
              </a:rPr>
              <a:t>most revenue</a:t>
            </a:r>
            <a:r>
              <a:rPr lang="en-US" dirty="0"/>
              <a:t> generated is “</a:t>
            </a:r>
            <a:r>
              <a:rPr lang="en-US" b="1" dirty="0"/>
              <a:t>The Thai Chicken Pizza</a:t>
            </a:r>
            <a:r>
              <a:rPr lang="en-US" dirty="0"/>
              <a:t>” generating over </a:t>
            </a:r>
            <a:r>
              <a:rPr lang="en-US" b="1" dirty="0"/>
              <a:t>$43,343 </a:t>
            </a:r>
            <a:r>
              <a:rPr lang="en-US" dirty="0"/>
              <a:t>maximum revenue. While the pizza type which generates the </a:t>
            </a:r>
            <a:r>
              <a:rPr lang="en-US" b="1" dirty="0">
                <a:solidFill>
                  <a:srgbClr val="FF0000"/>
                </a:solidFill>
              </a:rPr>
              <a:t>least revenue</a:t>
            </a:r>
            <a:r>
              <a:rPr lang="en-US" dirty="0"/>
              <a:t> is “</a:t>
            </a:r>
            <a:r>
              <a:rPr lang="en-US" b="1" dirty="0"/>
              <a:t>The Brie Carre Pizza</a:t>
            </a:r>
            <a:r>
              <a:rPr lang="en-US" dirty="0"/>
              <a:t>” which generated </a:t>
            </a:r>
            <a:r>
              <a:rPr lang="en-US" b="1" dirty="0"/>
              <a:t>$11,588 </a:t>
            </a:r>
            <a:r>
              <a:rPr lang="en-US" dirty="0"/>
              <a:t>revenue.</a:t>
            </a:r>
          </a:p>
        </p:txBody>
      </p:sp>
      <p:pic>
        <p:nvPicPr>
          <p:cNvPr id="4" name="Picture 3">
            <a:extLst>
              <a:ext uri="{FF2B5EF4-FFF2-40B4-BE49-F238E27FC236}">
                <a16:creationId xmlns:a16="http://schemas.microsoft.com/office/drawing/2014/main" id="{D85C6794-E004-9572-A15D-DC8812A85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011" y="210930"/>
            <a:ext cx="5503542" cy="3940446"/>
          </a:xfrm>
          <a:prstGeom prst="rect">
            <a:avLst/>
          </a:prstGeom>
        </p:spPr>
      </p:pic>
      <p:pic>
        <p:nvPicPr>
          <p:cNvPr id="8" name="Picture 7">
            <a:extLst>
              <a:ext uri="{FF2B5EF4-FFF2-40B4-BE49-F238E27FC236}">
                <a16:creationId xmlns:a16="http://schemas.microsoft.com/office/drawing/2014/main" id="{1437CD09-9EFB-0D24-F163-E7AD345CB1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210930"/>
            <a:ext cx="5673983" cy="3868699"/>
          </a:xfrm>
          <a:prstGeom prst="rect">
            <a:avLst/>
          </a:prstGeom>
        </p:spPr>
      </p:pic>
    </p:spTree>
    <p:extLst>
      <p:ext uri="{BB962C8B-B14F-4D97-AF65-F5344CB8AC3E}">
        <p14:creationId xmlns:p14="http://schemas.microsoft.com/office/powerpoint/2010/main" val="1033043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3F3CA10-0F3D-4580-8376-52E98A853BBB}"/>
              </a:ext>
            </a:extLst>
          </p:cNvPr>
          <p:cNvSpPr txBox="1"/>
          <p:nvPr/>
        </p:nvSpPr>
        <p:spPr>
          <a:xfrm>
            <a:off x="2264900" y="4744149"/>
            <a:ext cx="7371470" cy="1384995"/>
          </a:xfrm>
          <a:prstGeom prst="rect">
            <a:avLst/>
          </a:prstGeom>
          <a:noFill/>
        </p:spPr>
        <p:txBody>
          <a:bodyPr wrap="square" lIns="0" tIns="0" rIns="0" bIns="0" rtlCol="0" anchor="t">
            <a:spAutoFit/>
          </a:bodyPr>
          <a:lstStyle/>
          <a:p>
            <a:pPr algn="just">
              <a:spcAft>
                <a:spcPts val="600"/>
              </a:spcAft>
            </a:pPr>
            <a:r>
              <a:rPr lang="en-US" dirty="0"/>
              <a:t>The chart shows the top 5 most ordered pizza and the bottom 5 least ordered pizza for all pizza types. The pizza type which is the </a:t>
            </a:r>
            <a:r>
              <a:rPr lang="en-US" b="1" dirty="0">
                <a:solidFill>
                  <a:srgbClr val="00B050"/>
                </a:solidFill>
              </a:rPr>
              <a:t>most ordered </a:t>
            </a:r>
            <a:r>
              <a:rPr lang="en-US" dirty="0"/>
              <a:t>is “</a:t>
            </a:r>
            <a:r>
              <a:rPr lang="en-US" b="1" dirty="0"/>
              <a:t>The Classic Deluxe Pizza</a:t>
            </a:r>
            <a:r>
              <a:rPr lang="en-US" dirty="0"/>
              <a:t>” generating over </a:t>
            </a:r>
            <a:r>
              <a:rPr lang="en-US" b="1" dirty="0"/>
              <a:t>2,453</a:t>
            </a:r>
            <a:r>
              <a:rPr lang="en-US" dirty="0"/>
              <a:t> maximum order sales. While the pizza type which is the </a:t>
            </a:r>
            <a:r>
              <a:rPr lang="en-US" b="1" dirty="0">
                <a:solidFill>
                  <a:srgbClr val="FF0000"/>
                </a:solidFill>
              </a:rPr>
              <a:t>least ordered </a:t>
            </a:r>
            <a:r>
              <a:rPr lang="en-US" dirty="0"/>
              <a:t>pizza is “</a:t>
            </a:r>
            <a:r>
              <a:rPr lang="en-US" b="1" dirty="0"/>
              <a:t>The Brie Carre Pizza</a:t>
            </a:r>
            <a:r>
              <a:rPr lang="en-US" dirty="0"/>
              <a:t>” which generated only </a:t>
            </a:r>
            <a:r>
              <a:rPr lang="en-US" b="1" dirty="0"/>
              <a:t>490 </a:t>
            </a:r>
            <a:r>
              <a:rPr lang="en-US" dirty="0"/>
              <a:t>pizza sales.</a:t>
            </a:r>
          </a:p>
        </p:txBody>
      </p:sp>
      <p:pic>
        <p:nvPicPr>
          <p:cNvPr id="11" name="Picture 10">
            <a:extLst>
              <a:ext uri="{FF2B5EF4-FFF2-40B4-BE49-F238E27FC236}">
                <a16:creationId xmlns:a16="http://schemas.microsoft.com/office/drawing/2014/main" id="{0E2D029F-2CDE-46BF-9072-07DF4369B2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045" y="447259"/>
            <a:ext cx="5449060" cy="3829318"/>
          </a:xfrm>
          <a:prstGeom prst="rect">
            <a:avLst/>
          </a:prstGeom>
        </p:spPr>
      </p:pic>
      <p:pic>
        <p:nvPicPr>
          <p:cNvPr id="13" name="Picture 12">
            <a:extLst>
              <a:ext uri="{FF2B5EF4-FFF2-40B4-BE49-F238E27FC236}">
                <a16:creationId xmlns:a16="http://schemas.microsoft.com/office/drawing/2014/main" id="{5A61D582-72BB-454B-8650-8B248CF22D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6031" y="447258"/>
            <a:ext cx="5258534" cy="3829319"/>
          </a:xfrm>
          <a:prstGeom prst="rect">
            <a:avLst/>
          </a:prstGeom>
        </p:spPr>
      </p:pic>
    </p:spTree>
    <p:extLst>
      <p:ext uri="{BB962C8B-B14F-4D97-AF65-F5344CB8AC3E}">
        <p14:creationId xmlns:p14="http://schemas.microsoft.com/office/powerpoint/2010/main" val="2995103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ED76C3-1700-45DD-AB31-D03B3ED5A8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029" y="1144646"/>
            <a:ext cx="1535741" cy="1025503"/>
          </a:xfrm>
          <a:prstGeom prst="rect">
            <a:avLst/>
          </a:prstGeom>
        </p:spPr>
      </p:pic>
      <p:sp>
        <p:nvSpPr>
          <p:cNvPr id="4" name="TextBox 3">
            <a:extLst>
              <a:ext uri="{FF2B5EF4-FFF2-40B4-BE49-F238E27FC236}">
                <a16:creationId xmlns:a16="http://schemas.microsoft.com/office/drawing/2014/main" id="{A7A457A8-E306-47BC-80C4-F6150EC28614}"/>
              </a:ext>
            </a:extLst>
          </p:cNvPr>
          <p:cNvSpPr txBox="1"/>
          <p:nvPr/>
        </p:nvSpPr>
        <p:spPr>
          <a:xfrm>
            <a:off x="-661768" y="289668"/>
            <a:ext cx="11658600" cy="553998"/>
          </a:xfrm>
          <a:prstGeom prst="rect">
            <a:avLst/>
          </a:prstGeom>
          <a:noFill/>
        </p:spPr>
        <p:txBody>
          <a:bodyPr wrap="square" lIns="0" tIns="0" rIns="0" bIns="0" rtlCol="0">
            <a:spAutoFit/>
          </a:bodyPr>
          <a:lstStyle/>
          <a:p>
            <a:pPr algn="ctr">
              <a:spcAft>
                <a:spcPts val="600"/>
              </a:spcAft>
            </a:pPr>
            <a:r>
              <a:rPr lang="en-US" sz="3600" b="1" dirty="0">
                <a:solidFill>
                  <a:srgbClr val="FF0000"/>
                </a:solidFill>
                <a:latin typeface="+mj-lt"/>
              </a:rPr>
              <a:t>Most used Pizza Ingredients</a:t>
            </a:r>
            <a:endParaRPr lang="en-US" sz="3600" dirty="0">
              <a:solidFill>
                <a:srgbClr val="FF0000"/>
              </a:solidFill>
              <a:latin typeface="+mj-lt"/>
            </a:endParaRPr>
          </a:p>
        </p:txBody>
      </p:sp>
      <p:sp>
        <p:nvSpPr>
          <p:cNvPr id="5" name="TextBox 4">
            <a:extLst>
              <a:ext uri="{FF2B5EF4-FFF2-40B4-BE49-F238E27FC236}">
                <a16:creationId xmlns:a16="http://schemas.microsoft.com/office/drawing/2014/main" id="{3E2F8164-3111-4265-B339-C6B816D947DA}"/>
              </a:ext>
            </a:extLst>
          </p:cNvPr>
          <p:cNvSpPr txBox="1"/>
          <p:nvPr/>
        </p:nvSpPr>
        <p:spPr>
          <a:xfrm>
            <a:off x="2172161" y="1472394"/>
            <a:ext cx="5172874" cy="553998"/>
          </a:xfrm>
          <a:prstGeom prst="rect">
            <a:avLst/>
          </a:prstGeom>
          <a:noFill/>
        </p:spPr>
        <p:txBody>
          <a:bodyPr wrap="square" lIns="0" tIns="0" rIns="0" bIns="0" rtlCol="0" anchor="ctr">
            <a:spAutoFit/>
          </a:bodyPr>
          <a:lstStyle/>
          <a:p>
            <a:pPr>
              <a:spcAft>
                <a:spcPts val="600"/>
              </a:spcAft>
            </a:pPr>
            <a:r>
              <a:rPr lang="en-US" dirty="0"/>
              <a:t>Pepperoni, Mushrooms, Red Onions, Red Peppers, Bacon</a:t>
            </a:r>
          </a:p>
        </p:txBody>
      </p:sp>
      <p:pic>
        <p:nvPicPr>
          <p:cNvPr id="6" name="Picture 5">
            <a:extLst>
              <a:ext uri="{FF2B5EF4-FFF2-40B4-BE49-F238E27FC236}">
                <a16:creationId xmlns:a16="http://schemas.microsoft.com/office/drawing/2014/main" id="{19D6035B-C34A-41C5-B5B8-0FA71F13B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7052" y="0"/>
            <a:ext cx="3244948" cy="2433711"/>
          </a:xfrm>
          <a:prstGeom prst="rect">
            <a:avLst/>
          </a:prstGeom>
          <a:effectLst>
            <a:outerShdw blurRad="50800" dist="38100" dir="5400000" algn="t" rotWithShape="0">
              <a:prstClr val="black">
                <a:alpha val="40000"/>
              </a:prstClr>
            </a:outerShdw>
          </a:effectLst>
        </p:spPr>
      </p:pic>
      <p:sp>
        <p:nvSpPr>
          <p:cNvPr id="8" name="TextBox 13">
            <a:extLst>
              <a:ext uri="{FF2B5EF4-FFF2-40B4-BE49-F238E27FC236}">
                <a16:creationId xmlns:a16="http://schemas.microsoft.com/office/drawing/2014/main" id="{D6B14E20-9958-44D8-9464-47202C2DB73E}"/>
              </a:ext>
            </a:extLst>
          </p:cNvPr>
          <p:cNvSpPr txBox="1">
            <a:spLocks noChangeArrowheads="1"/>
          </p:cNvSpPr>
          <p:nvPr/>
        </p:nvSpPr>
        <p:spPr bwMode="auto">
          <a:xfrm>
            <a:off x="304354" y="1444595"/>
            <a:ext cx="562954"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01</a:t>
            </a:r>
            <a:endParaRPr lang="ko-KR" altLang="en-US" sz="2500" b="1" dirty="0">
              <a:solidFill>
                <a:srgbClr val="2D2F2D"/>
              </a:solidFill>
              <a:latin typeface="+mj-lt"/>
              <a:ea typeface="맑은 고딕" pitchFamily="50" charset="-127"/>
            </a:endParaRPr>
          </a:p>
        </p:txBody>
      </p:sp>
      <p:sp>
        <p:nvSpPr>
          <p:cNvPr id="9" name="Oval 3">
            <a:extLst>
              <a:ext uri="{FF2B5EF4-FFF2-40B4-BE49-F238E27FC236}">
                <a16:creationId xmlns:a16="http://schemas.microsoft.com/office/drawing/2014/main" id="{C94D33D7-8504-4846-A1F3-FCD4530E9A63}"/>
              </a:ext>
            </a:extLst>
          </p:cNvPr>
          <p:cNvSpPr>
            <a:spLocks noChangeArrowheads="1"/>
          </p:cNvSpPr>
          <p:nvPr/>
        </p:nvSpPr>
        <p:spPr bwMode="auto">
          <a:xfrm>
            <a:off x="890975" y="1458499"/>
            <a:ext cx="47335"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0" name="TextBox 13">
            <a:extLst>
              <a:ext uri="{FF2B5EF4-FFF2-40B4-BE49-F238E27FC236}">
                <a16:creationId xmlns:a16="http://schemas.microsoft.com/office/drawing/2014/main" id="{6F2272D8-D5D5-454A-A06A-E26A8638A064}"/>
              </a:ext>
            </a:extLst>
          </p:cNvPr>
          <p:cNvSpPr txBox="1">
            <a:spLocks noChangeArrowheads="1"/>
          </p:cNvSpPr>
          <p:nvPr/>
        </p:nvSpPr>
        <p:spPr bwMode="auto">
          <a:xfrm>
            <a:off x="304354" y="2667702"/>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02</a:t>
            </a:r>
            <a:endParaRPr lang="ko-KR" altLang="en-US" sz="2500" b="1" dirty="0">
              <a:solidFill>
                <a:srgbClr val="2D2F2D"/>
              </a:solidFill>
              <a:latin typeface="+mj-lt"/>
              <a:ea typeface="맑은 고딕" pitchFamily="50" charset="-127"/>
            </a:endParaRPr>
          </a:p>
        </p:txBody>
      </p:sp>
      <p:sp>
        <p:nvSpPr>
          <p:cNvPr id="11" name="Oval 3">
            <a:extLst>
              <a:ext uri="{FF2B5EF4-FFF2-40B4-BE49-F238E27FC236}">
                <a16:creationId xmlns:a16="http://schemas.microsoft.com/office/drawing/2014/main" id="{FEE65CF6-239E-4450-9361-E19D08460850}"/>
              </a:ext>
            </a:extLst>
          </p:cNvPr>
          <p:cNvSpPr>
            <a:spLocks noChangeArrowheads="1"/>
          </p:cNvSpPr>
          <p:nvPr/>
        </p:nvSpPr>
        <p:spPr bwMode="auto">
          <a:xfrm>
            <a:off x="890975" y="2728751"/>
            <a:ext cx="47335"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2" name="Oval 3">
            <a:extLst>
              <a:ext uri="{FF2B5EF4-FFF2-40B4-BE49-F238E27FC236}">
                <a16:creationId xmlns:a16="http://schemas.microsoft.com/office/drawing/2014/main" id="{8D00C494-ADE3-4888-8F9B-DB2607865582}"/>
              </a:ext>
            </a:extLst>
          </p:cNvPr>
          <p:cNvSpPr>
            <a:spLocks noChangeArrowheads="1"/>
          </p:cNvSpPr>
          <p:nvPr/>
        </p:nvSpPr>
        <p:spPr bwMode="auto">
          <a:xfrm>
            <a:off x="890975" y="3712027"/>
            <a:ext cx="47335"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3" name="Oval 3">
            <a:extLst>
              <a:ext uri="{FF2B5EF4-FFF2-40B4-BE49-F238E27FC236}">
                <a16:creationId xmlns:a16="http://schemas.microsoft.com/office/drawing/2014/main" id="{60BE96B1-1F86-4502-8637-A7392B9221B5}"/>
              </a:ext>
            </a:extLst>
          </p:cNvPr>
          <p:cNvSpPr>
            <a:spLocks noChangeArrowheads="1"/>
          </p:cNvSpPr>
          <p:nvPr/>
        </p:nvSpPr>
        <p:spPr bwMode="auto">
          <a:xfrm>
            <a:off x="886086" y="4793255"/>
            <a:ext cx="47335"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4" name="Oval 3">
            <a:extLst>
              <a:ext uri="{FF2B5EF4-FFF2-40B4-BE49-F238E27FC236}">
                <a16:creationId xmlns:a16="http://schemas.microsoft.com/office/drawing/2014/main" id="{CF669918-BDDF-44D5-9691-D13C883EB156}"/>
              </a:ext>
            </a:extLst>
          </p:cNvPr>
          <p:cNvSpPr>
            <a:spLocks noChangeArrowheads="1"/>
          </p:cNvSpPr>
          <p:nvPr/>
        </p:nvSpPr>
        <p:spPr bwMode="auto">
          <a:xfrm>
            <a:off x="867308" y="5786492"/>
            <a:ext cx="47335"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5" name="TextBox 13">
            <a:extLst>
              <a:ext uri="{FF2B5EF4-FFF2-40B4-BE49-F238E27FC236}">
                <a16:creationId xmlns:a16="http://schemas.microsoft.com/office/drawing/2014/main" id="{6DB41605-DA40-415D-9E53-693C12B11DFB}"/>
              </a:ext>
            </a:extLst>
          </p:cNvPr>
          <p:cNvSpPr txBox="1">
            <a:spLocks noChangeArrowheads="1"/>
          </p:cNvSpPr>
          <p:nvPr/>
        </p:nvSpPr>
        <p:spPr bwMode="auto">
          <a:xfrm>
            <a:off x="304353" y="3712027"/>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03</a:t>
            </a:r>
            <a:endParaRPr lang="ko-KR" altLang="en-US" sz="2500" b="1" dirty="0">
              <a:solidFill>
                <a:srgbClr val="2D2F2D"/>
              </a:solidFill>
              <a:latin typeface="+mj-lt"/>
              <a:ea typeface="맑은 고딕" pitchFamily="50" charset="-127"/>
            </a:endParaRPr>
          </a:p>
        </p:txBody>
      </p:sp>
      <p:sp>
        <p:nvSpPr>
          <p:cNvPr id="16" name="TextBox 13">
            <a:extLst>
              <a:ext uri="{FF2B5EF4-FFF2-40B4-BE49-F238E27FC236}">
                <a16:creationId xmlns:a16="http://schemas.microsoft.com/office/drawing/2014/main" id="{48C89FEB-353B-494D-B9B2-D5286041BFF0}"/>
              </a:ext>
            </a:extLst>
          </p:cNvPr>
          <p:cNvSpPr txBox="1">
            <a:spLocks noChangeArrowheads="1"/>
          </p:cNvSpPr>
          <p:nvPr/>
        </p:nvSpPr>
        <p:spPr bwMode="auto">
          <a:xfrm>
            <a:off x="303800" y="4790010"/>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04</a:t>
            </a:r>
            <a:endParaRPr lang="ko-KR" altLang="en-US" sz="2500" b="1" dirty="0">
              <a:solidFill>
                <a:srgbClr val="2D2F2D"/>
              </a:solidFill>
              <a:latin typeface="+mj-lt"/>
              <a:ea typeface="맑은 고딕" pitchFamily="50" charset="-127"/>
            </a:endParaRPr>
          </a:p>
        </p:txBody>
      </p:sp>
      <p:sp>
        <p:nvSpPr>
          <p:cNvPr id="17" name="TextBox 13">
            <a:extLst>
              <a:ext uri="{FF2B5EF4-FFF2-40B4-BE49-F238E27FC236}">
                <a16:creationId xmlns:a16="http://schemas.microsoft.com/office/drawing/2014/main" id="{7D6D5B27-950C-4FDB-B077-DAD179EF70F1}"/>
              </a:ext>
            </a:extLst>
          </p:cNvPr>
          <p:cNvSpPr txBox="1">
            <a:spLocks noChangeArrowheads="1"/>
          </p:cNvSpPr>
          <p:nvPr/>
        </p:nvSpPr>
        <p:spPr bwMode="auto">
          <a:xfrm>
            <a:off x="303799" y="5805248"/>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05</a:t>
            </a:r>
            <a:endParaRPr lang="ko-KR" altLang="en-US" sz="2500" b="1" dirty="0">
              <a:solidFill>
                <a:srgbClr val="2D2F2D"/>
              </a:solidFill>
              <a:latin typeface="+mj-lt"/>
              <a:ea typeface="맑은 고딕" pitchFamily="50" charset="-127"/>
            </a:endParaRPr>
          </a:p>
        </p:txBody>
      </p:sp>
      <p:pic>
        <p:nvPicPr>
          <p:cNvPr id="23" name="Picture 22">
            <a:extLst>
              <a:ext uri="{FF2B5EF4-FFF2-40B4-BE49-F238E27FC236}">
                <a16:creationId xmlns:a16="http://schemas.microsoft.com/office/drawing/2014/main" id="{8BB478FA-113C-4A72-BBE9-6EC2FF5C86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5701" y="2483977"/>
            <a:ext cx="881856" cy="881856"/>
          </a:xfrm>
          <a:prstGeom prst="rect">
            <a:avLst/>
          </a:prstGeom>
        </p:spPr>
      </p:pic>
      <p:pic>
        <p:nvPicPr>
          <p:cNvPr id="25" name="Picture 24">
            <a:extLst>
              <a:ext uri="{FF2B5EF4-FFF2-40B4-BE49-F238E27FC236}">
                <a16:creationId xmlns:a16="http://schemas.microsoft.com/office/drawing/2014/main" id="{6C6B9049-E42B-4360-802D-1E20B09E14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5700" y="3565417"/>
            <a:ext cx="881856" cy="881856"/>
          </a:xfrm>
          <a:prstGeom prst="rect">
            <a:avLst/>
          </a:prstGeom>
        </p:spPr>
      </p:pic>
      <p:sp>
        <p:nvSpPr>
          <p:cNvPr id="27" name="TextBox 26">
            <a:extLst>
              <a:ext uri="{FF2B5EF4-FFF2-40B4-BE49-F238E27FC236}">
                <a16:creationId xmlns:a16="http://schemas.microsoft.com/office/drawing/2014/main" id="{0745FE7D-07FC-4ABA-9627-B5E3C3B7E348}"/>
              </a:ext>
            </a:extLst>
          </p:cNvPr>
          <p:cNvSpPr txBox="1"/>
          <p:nvPr/>
        </p:nvSpPr>
        <p:spPr>
          <a:xfrm>
            <a:off x="2057556" y="2619382"/>
            <a:ext cx="6457070" cy="646331"/>
          </a:xfrm>
          <a:prstGeom prst="rect">
            <a:avLst/>
          </a:prstGeom>
          <a:noFill/>
        </p:spPr>
        <p:txBody>
          <a:bodyPr wrap="square">
            <a:spAutoFit/>
          </a:bodyPr>
          <a:lstStyle/>
          <a:p>
            <a:r>
              <a:rPr lang="en-US" dirty="0"/>
              <a:t>Barbecued Chicken, Red Peppers, Green Peppers, Tomatoes, Red Onions, Barbecue Sauce</a:t>
            </a:r>
          </a:p>
        </p:txBody>
      </p:sp>
      <p:sp>
        <p:nvSpPr>
          <p:cNvPr id="29" name="TextBox 28">
            <a:extLst>
              <a:ext uri="{FF2B5EF4-FFF2-40B4-BE49-F238E27FC236}">
                <a16:creationId xmlns:a16="http://schemas.microsoft.com/office/drawing/2014/main" id="{E96BBCC6-ED0B-48B6-9EA8-2894310979FC}"/>
              </a:ext>
            </a:extLst>
          </p:cNvPr>
          <p:cNvSpPr txBox="1"/>
          <p:nvPr/>
        </p:nvSpPr>
        <p:spPr>
          <a:xfrm>
            <a:off x="2057556" y="3812983"/>
            <a:ext cx="6457070" cy="369332"/>
          </a:xfrm>
          <a:prstGeom prst="rect">
            <a:avLst/>
          </a:prstGeom>
          <a:noFill/>
        </p:spPr>
        <p:txBody>
          <a:bodyPr wrap="square">
            <a:spAutoFit/>
          </a:bodyPr>
          <a:lstStyle/>
          <a:p>
            <a:r>
              <a:rPr lang="it-IT" dirty="0"/>
              <a:t>Sliced Ham, Pineapple, Mozzarella Cheese</a:t>
            </a:r>
          </a:p>
        </p:txBody>
      </p:sp>
      <p:pic>
        <p:nvPicPr>
          <p:cNvPr id="31" name="Picture 30">
            <a:extLst>
              <a:ext uri="{FF2B5EF4-FFF2-40B4-BE49-F238E27FC236}">
                <a16:creationId xmlns:a16="http://schemas.microsoft.com/office/drawing/2014/main" id="{EDA68C03-B459-4D35-A4BA-F45B26453D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4083" y="4502613"/>
            <a:ext cx="983859" cy="983859"/>
          </a:xfrm>
          <a:prstGeom prst="rect">
            <a:avLst/>
          </a:prstGeom>
        </p:spPr>
      </p:pic>
      <p:pic>
        <p:nvPicPr>
          <p:cNvPr id="33" name="Picture 32">
            <a:extLst>
              <a:ext uri="{FF2B5EF4-FFF2-40B4-BE49-F238E27FC236}">
                <a16:creationId xmlns:a16="http://schemas.microsoft.com/office/drawing/2014/main" id="{B26BB362-DC49-4E1A-8452-2298497ED4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8859" y="5584053"/>
            <a:ext cx="983859" cy="983859"/>
          </a:xfrm>
          <a:prstGeom prst="rect">
            <a:avLst/>
          </a:prstGeom>
        </p:spPr>
      </p:pic>
      <p:sp>
        <p:nvSpPr>
          <p:cNvPr id="35" name="TextBox 34">
            <a:extLst>
              <a:ext uri="{FF2B5EF4-FFF2-40B4-BE49-F238E27FC236}">
                <a16:creationId xmlns:a16="http://schemas.microsoft.com/office/drawing/2014/main" id="{87BFBA37-F134-4E60-BE94-FD1B1D55DFDE}"/>
              </a:ext>
            </a:extLst>
          </p:cNvPr>
          <p:cNvSpPr txBox="1"/>
          <p:nvPr/>
        </p:nvSpPr>
        <p:spPr>
          <a:xfrm>
            <a:off x="2089779" y="4814217"/>
            <a:ext cx="6457070" cy="369332"/>
          </a:xfrm>
          <a:prstGeom prst="rect">
            <a:avLst/>
          </a:prstGeom>
          <a:noFill/>
        </p:spPr>
        <p:txBody>
          <a:bodyPr wrap="square">
            <a:spAutoFit/>
          </a:bodyPr>
          <a:lstStyle/>
          <a:p>
            <a:r>
              <a:rPr lang="en-US" dirty="0"/>
              <a:t>Mozzarella Cheese, Pepperoni</a:t>
            </a:r>
          </a:p>
        </p:txBody>
      </p:sp>
      <p:sp>
        <p:nvSpPr>
          <p:cNvPr id="37" name="TextBox 36">
            <a:extLst>
              <a:ext uri="{FF2B5EF4-FFF2-40B4-BE49-F238E27FC236}">
                <a16:creationId xmlns:a16="http://schemas.microsoft.com/office/drawing/2014/main" id="{06FE8C9F-69E6-4F0A-AA28-D1F49D13F813}"/>
              </a:ext>
            </a:extLst>
          </p:cNvPr>
          <p:cNvSpPr txBox="1"/>
          <p:nvPr/>
        </p:nvSpPr>
        <p:spPr>
          <a:xfrm>
            <a:off x="2057556" y="5815452"/>
            <a:ext cx="6457070" cy="369332"/>
          </a:xfrm>
          <a:prstGeom prst="rect">
            <a:avLst/>
          </a:prstGeom>
          <a:noFill/>
        </p:spPr>
        <p:txBody>
          <a:bodyPr wrap="square">
            <a:spAutoFit/>
          </a:bodyPr>
          <a:lstStyle/>
          <a:p>
            <a:r>
              <a:rPr lang="en-US" dirty="0"/>
              <a:t>Chicken, Pineapple, Tomatoes, Red Peppers, Thai Sweet Chili Sauce</a:t>
            </a:r>
          </a:p>
        </p:txBody>
      </p:sp>
    </p:spTree>
    <p:extLst>
      <p:ext uri="{BB962C8B-B14F-4D97-AF65-F5344CB8AC3E}">
        <p14:creationId xmlns:p14="http://schemas.microsoft.com/office/powerpoint/2010/main" val="800507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ED76C3-1700-45DD-AB31-D03B3ED5A8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029" y="1144646"/>
            <a:ext cx="1535741" cy="1025503"/>
          </a:xfrm>
          <a:prstGeom prst="rect">
            <a:avLst/>
          </a:prstGeom>
        </p:spPr>
      </p:pic>
      <p:sp>
        <p:nvSpPr>
          <p:cNvPr id="4" name="TextBox 3">
            <a:extLst>
              <a:ext uri="{FF2B5EF4-FFF2-40B4-BE49-F238E27FC236}">
                <a16:creationId xmlns:a16="http://schemas.microsoft.com/office/drawing/2014/main" id="{A7A457A8-E306-47BC-80C4-F6150EC28614}"/>
              </a:ext>
            </a:extLst>
          </p:cNvPr>
          <p:cNvSpPr txBox="1"/>
          <p:nvPr/>
        </p:nvSpPr>
        <p:spPr>
          <a:xfrm>
            <a:off x="-661768" y="289668"/>
            <a:ext cx="11658600" cy="553998"/>
          </a:xfrm>
          <a:prstGeom prst="rect">
            <a:avLst/>
          </a:prstGeom>
          <a:noFill/>
        </p:spPr>
        <p:txBody>
          <a:bodyPr wrap="square" lIns="0" tIns="0" rIns="0" bIns="0" rtlCol="0">
            <a:spAutoFit/>
          </a:bodyPr>
          <a:lstStyle/>
          <a:p>
            <a:pPr algn="ctr">
              <a:spcAft>
                <a:spcPts val="600"/>
              </a:spcAft>
            </a:pPr>
            <a:r>
              <a:rPr lang="en-US" sz="3600" b="1" dirty="0">
                <a:solidFill>
                  <a:srgbClr val="FF0000"/>
                </a:solidFill>
                <a:latin typeface="+mj-lt"/>
              </a:rPr>
              <a:t>Least used Pizza Ingredients</a:t>
            </a:r>
            <a:endParaRPr lang="en-US" sz="3600" dirty="0">
              <a:solidFill>
                <a:srgbClr val="FF0000"/>
              </a:solidFill>
              <a:latin typeface="+mj-lt"/>
            </a:endParaRPr>
          </a:p>
        </p:txBody>
      </p:sp>
      <p:sp>
        <p:nvSpPr>
          <p:cNvPr id="5" name="TextBox 4">
            <a:extLst>
              <a:ext uri="{FF2B5EF4-FFF2-40B4-BE49-F238E27FC236}">
                <a16:creationId xmlns:a16="http://schemas.microsoft.com/office/drawing/2014/main" id="{3E2F8164-3111-4265-B339-C6B816D947DA}"/>
              </a:ext>
            </a:extLst>
          </p:cNvPr>
          <p:cNvSpPr txBox="1"/>
          <p:nvPr/>
        </p:nvSpPr>
        <p:spPr>
          <a:xfrm>
            <a:off x="2172161" y="1472394"/>
            <a:ext cx="5172874" cy="553998"/>
          </a:xfrm>
          <a:prstGeom prst="rect">
            <a:avLst/>
          </a:prstGeom>
          <a:noFill/>
        </p:spPr>
        <p:txBody>
          <a:bodyPr wrap="square" lIns="0" tIns="0" rIns="0" bIns="0" rtlCol="0" anchor="ctr">
            <a:spAutoFit/>
          </a:bodyPr>
          <a:lstStyle/>
          <a:p>
            <a:pPr>
              <a:spcAft>
                <a:spcPts val="600"/>
              </a:spcAft>
            </a:pPr>
            <a:r>
              <a:rPr lang="en-US" dirty="0"/>
              <a:t>Brie Carre Cheese, Prosciutto, Caramelized Onions, Pears, Thyme, Garlic</a:t>
            </a:r>
          </a:p>
        </p:txBody>
      </p:sp>
      <p:pic>
        <p:nvPicPr>
          <p:cNvPr id="6" name="Picture 5">
            <a:extLst>
              <a:ext uri="{FF2B5EF4-FFF2-40B4-BE49-F238E27FC236}">
                <a16:creationId xmlns:a16="http://schemas.microsoft.com/office/drawing/2014/main" id="{19D6035B-C34A-41C5-B5B8-0FA71F13B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7052" y="0"/>
            <a:ext cx="3244948" cy="2433711"/>
          </a:xfrm>
          <a:prstGeom prst="rect">
            <a:avLst/>
          </a:prstGeom>
          <a:effectLst>
            <a:outerShdw blurRad="50800" dist="38100" dir="5400000" algn="t" rotWithShape="0">
              <a:prstClr val="black">
                <a:alpha val="40000"/>
              </a:prstClr>
            </a:outerShdw>
          </a:effectLst>
        </p:spPr>
      </p:pic>
      <p:sp>
        <p:nvSpPr>
          <p:cNvPr id="8" name="TextBox 13">
            <a:extLst>
              <a:ext uri="{FF2B5EF4-FFF2-40B4-BE49-F238E27FC236}">
                <a16:creationId xmlns:a16="http://schemas.microsoft.com/office/drawing/2014/main" id="{D6B14E20-9958-44D8-9464-47202C2DB73E}"/>
              </a:ext>
            </a:extLst>
          </p:cNvPr>
          <p:cNvSpPr txBox="1">
            <a:spLocks noChangeArrowheads="1"/>
          </p:cNvSpPr>
          <p:nvPr/>
        </p:nvSpPr>
        <p:spPr bwMode="auto">
          <a:xfrm>
            <a:off x="304354" y="1444595"/>
            <a:ext cx="562954"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01</a:t>
            </a:r>
            <a:endParaRPr lang="ko-KR" altLang="en-US" sz="2500" b="1" dirty="0">
              <a:solidFill>
                <a:srgbClr val="2D2F2D"/>
              </a:solidFill>
              <a:latin typeface="+mj-lt"/>
              <a:ea typeface="맑은 고딕" pitchFamily="50" charset="-127"/>
            </a:endParaRPr>
          </a:p>
        </p:txBody>
      </p:sp>
      <p:sp>
        <p:nvSpPr>
          <p:cNvPr id="9" name="Oval 3">
            <a:extLst>
              <a:ext uri="{FF2B5EF4-FFF2-40B4-BE49-F238E27FC236}">
                <a16:creationId xmlns:a16="http://schemas.microsoft.com/office/drawing/2014/main" id="{C94D33D7-8504-4846-A1F3-FCD4530E9A63}"/>
              </a:ext>
            </a:extLst>
          </p:cNvPr>
          <p:cNvSpPr>
            <a:spLocks noChangeArrowheads="1"/>
          </p:cNvSpPr>
          <p:nvPr/>
        </p:nvSpPr>
        <p:spPr bwMode="auto">
          <a:xfrm>
            <a:off x="890975" y="1458499"/>
            <a:ext cx="47335"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0" name="TextBox 13">
            <a:extLst>
              <a:ext uri="{FF2B5EF4-FFF2-40B4-BE49-F238E27FC236}">
                <a16:creationId xmlns:a16="http://schemas.microsoft.com/office/drawing/2014/main" id="{6F2272D8-D5D5-454A-A06A-E26A8638A064}"/>
              </a:ext>
            </a:extLst>
          </p:cNvPr>
          <p:cNvSpPr txBox="1">
            <a:spLocks noChangeArrowheads="1"/>
          </p:cNvSpPr>
          <p:nvPr/>
        </p:nvSpPr>
        <p:spPr bwMode="auto">
          <a:xfrm>
            <a:off x="304354" y="2667702"/>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02</a:t>
            </a:r>
            <a:endParaRPr lang="ko-KR" altLang="en-US" sz="2500" b="1" dirty="0">
              <a:solidFill>
                <a:srgbClr val="2D2F2D"/>
              </a:solidFill>
              <a:latin typeface="+mj-lt"/>
              <a:ea typeface="맑은 고딕" pitchFamily="50" charset="-127"/>
            </a:endParaRPr>
          </a:p>
        </p:txBody>
      </p:sp>
      <p:sp>
        <p:nvSpPr>
          <p:cNvPr id="11" name="Oval 3">
            <a:extLst>
              <a:ext uri="{FF2B5EF4-FFF2-40B4-BE49-F238E27FC236}">
                <a16:creationId xmlns:a16="http://schemas.microsoft.com/office/drawing/2014/main" id="{FEE65CF6-239E-4450-9361-E19D08460850}"/>
              </a:ext>
            </a:extLst>
          </p:cNvPr>
          <p:cNvSpPr>
            <a:spLocks noChangeArrowheads="1"/>
          </p:cNvSpPr>
          <p:nvPr/>
        </p:nvSpPr>
        <p:spPr bwMode="auto">
          <a:xfrm>
            <a:off x="890975" y="2728751"/>
            <a:ext cx="47335"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2" name="Oval 3">
            <a:extLst>
              <a:ext uri="{FF2B5EF4-FFF2-40B4-BE49-F238E27FC236}">
                <a16:creationId xmlns:a16="http://schemas.microsoft.com/office/drawing/2014/main" id="{8D00C494-ADE3-4888-8F9B-DB2607865582}"/>
              </a:ext>
            </a:extLst>
          </p:cNvPr>
          <p:cNvSpPr>
            <a:spLocks noChangeArrowheads="1"/>
          </p:cNvSpPr>
          <p:nvPr/>
        </p:nvSpPr>
        <p:spPr bwMode="auto">
          <a:xfrm>
            <a:off x="890975" y="3712027"/>
            <a:ext cx="47335"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3" name="Oval 3">
            <a:extLst>
              <a:ext uri="{FF2B5EF4-FFF2-40B4-BE49-F238E27FC236}">
                <a16:creationId xmlns:a16="http://schemas.microsoft.com/office/drawing/2014/main" id="{60BE96B1-1F86-4502-8637-A7392B9221B5}"/>
              </a:ext>
            </a:extLst>
          </p:cNvPr>
          <p:cNvSpPr>
            <a:spLocks noChangeArrowheads="1"/>
          </p:cNvSpPr>
          <p:nvPr/>
        </p:nvSpPr>
        <p:spPr bwMode="auto">
          <a:xfrm>
            <a:off x="886086" y="4793255"/>
            <a:ext cx="47335"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4" name="Oval 3">
            <a:extLst>
              <a:ext uri="{FF2B5EF4-FFF2-40B4-BE49-F238E27FC236}">
                <a16:creationId xmlns:a16="http://schemas.microsoft.com/office/drawing/2014/main" id="{CF669918-BDDF-44D5-9691-D13C883EB156}"/>
              </a:ext>
            </a:extLst>
          </p:cNvPr>
          <p:cNvSpPr>
            <a:spLocks noChangeArrowheads="1"/>
          </p:cNvSpPr>
          <p:nvPr/>
        </p:nvSpPr>
        <p:spPr bwMode="auto">
          <a:xfrm>
            <a:off x="867308" y="5786492"/>
            <a:ext cx="47335" cy="504825"/>
          </a:xfrm>
          <a:prstGeom prst="homePlate">
            <a:avLst>
              <a:gd name="adj" fmla="val 0"/>
            </a:avLst>
          </a:prstGeom>
          <a:solidFill>
            <a:srgbClr val="EB6B31"/>
          </a:solidFill>
          <a:ln>
            <a:noFill/>
          </a:ln>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80000"/>
              </a:lnSpc>
              <a:defRPr/>
            </a:pPr>
            <a:endParaRPr lang="ko-KR" altLang="en-US" dirty="0">
              <a:solidFill>
                <a:schemeClr val="accent6">
                  <a:lumMod val="75000"/>
                </a:schemeClr>
              </a:solidFill>
              <a:latin typeface="+mj-lt"/>
              <a:ea typeface="맑은 고딕" pitchFamily="50" charset="-127"/>
            </a:endParaRPr>
          </a:p>
        </p:txBody>
      </p:sp>
      <p:sp>
        <p:nvSpPr>
          <p:cNvPr id="15" name="TextBox 13">
            <a:extLst>
              <a:ext uri="{FF2B5EF4-FFF2-40B4-BE49-F238E27FC236}">
                <a16:creationId xmlns:a16="http://schemas.microsoft.com/office/drawing/2014/main" id="{6DB41605-DA40-415D-9E53-693C12B11DFB}"/>
              </a:ext>
            </a:extLst>
          </p:cNvPr>
          <p:cNvSpPr txBox="1">
            <a:spLocks noChangeArrowheads="1"/>
          </p:cNvSpPr>
          <p:nvPr/>
        </p:nvSpPr>
        <p:spPr bwMode="auto">
          <a:xfrm>
            <a:off x="304353" y="3712027"/>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03</a:t>
            </a:r>
            <a:endParaRPr lang="ko-KR" altLang="en-US" sz="2500" b="1" dirty="0">
              <a:solidFill>
                <a:srgbClr val="2D2F2D"/>
              </a:solidFill>
              <a:latin typeface="+mj-lt"/>
              <a:ea typeface="맑은 고딕" pitchFamily="50" charset="-127"/>
            </a:endParaRPr>
          </a:p>
        </p:txBody>
      </p:sp>
      <p:sp>
        <p:nvSpPr>
          <p:cNvPr id="16" name="TextBox 13">
            <a:extLst>
              <a:ext uri="{FF2B5EF4-FFF2-40B4-BE49-F238E27FC236}">
                <a16:creationId xmlns:a16="http://schemas.microsoft.com/office/drawing/2014/main" id="{48C89FEB-353B-494D-B9B2-D5286041BFF0}"/>
              </a:ext>
            </a:extLst>
          </p:cNvPr>
          <p:cNvSpPr txBox="1">
            <a:spLocks noChangeArrowheads="1"/>
          </p:cNvSpPr>
          <p:nvPr/>
        </p:nvSpPr>
        <p:spPr bwMode="auto">
          <a:xfrm>
            <a:off x="303800" y="4790010"/>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04</a:t>
            </a:r>
            <a:endParaRPr lang="ko-KR" altLang="en-US" sz="2500" b="1" dirty="0">
              <a:solidFill>
                <a:srgbClr val="2D2F2D"/>
              </a:solidFill>
              <a:latin typeface="+mj-lt"/>
              <a:ea typeface="맑은 고딕" pitchFamily="50" charset="-127"/>
            </a:endParaRPr>
          </a:p>
        </p:txBody>
      </p:sp>
      <p:sp>
        <p:nvSpPr>
          <p:cNvPr id="17" name="TextBox 13">
            <a:extLst>
              <a:ext uri="{FF2B5EF4-FFF2-40B4-BE49-F238E27FC236}">
                <a16:creationId xmlns:a16="http://schemas.microsoft.com/office/drawing/2014/main" id="{7D6D5B27-950C-4FDB-B077-DAD179EF70F1}"/>
              </a:ext>
            </a:extLst>
          </p:cNvPr>
          <p:cNvSpPr txBox="1">
            <a:spLocks noChangeArrowheads="1"/>
          </p:cNvSpPr>
          <p:nvPr/>
        </p:nvSpPr>
        <p:spPr bwMode="auto">
          <a:xfrm>
            <a:off x="303799" y="5805248"/>
            <a:ext cx="543739" cy="477054"/>
          </a:xfrm>
          <a:prstGeom prst="rect">
            <a:avLst/>
          </a:prstGeom>
          <a:noFill/>
          <a:ln w="9525">
            <a:noFill/>
            <a:miter lim="800000"/>
            <a:headEnd/>
            <a:tailEnd/>
          </a:ln>
        </p:spPr>
        <p:txBody>
          <a:bodyPr wrap="none">
            <a:spAutoFit/>
          </a:bodyPr>
          <a:lstStyle/>
          <a:p>
            <a:r>
              <a:rPr lang="en-US" altLang="ko-KR" sz="2500" b="1" dirty="0">
                <a:solidFill>
                  <a:srgbClr val="2D2F2D"/>
                </a:solidFill>
                <a:latin typeface="+mj-lt"/>
                <a:ea typeface="맑은 고딕" pitchFamily="50" charset="-127"/>
              </a:rPr>
              <a:t>05</a:t>
            </a:r>
            <a:endParaRPr lang="ko-KR" altLang="en-US" sz="2500" b="1" dirty="0">
              <a:solidFill>
                <a:srgbClr val="2D2F2D"/>
              </a:solidFill>
              <a:latin typeface="+mj-lt"/>
              <a:ea typeface="맑은 고딕" pitchFamily="50" charset="-127"/>
            </a:endParaRPr>
          </a:p>
        </p:txBody>
      </p:sp>
      <p:pic>
        <p:nvPicPr>
          <p:cNvPr id="23" name="Picture 22">
            <a:extLst>
              <a:ext uri="{FF2B5EF4-FFF2-40B4-BE49-F238E27FC236}">
                <a16:creationId xmlns:a16="http://schemas.microsoft.com/office/drawing/2014/main" id="{8BB478FA-113C-4A72-BBE9-6EC2FF5C86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5701" y="2483977"/>
            <a:ext cx="881856" cy="881856"/>
          </a:xfrm>
          <a:prstGeom prst="rect">
            <a:avLst/>
          </a:prstGeom>
        </p:spPr>
      </p:pic>
      <p:pic>
        <p:nvPicPr>
          <p:cNvPr id="25" name="Picture 24">
            <a:extLst>
              <a:ext uri="{FF2B5EF4-FFF2-40B4-BE49-F238E27FC236}">
                <a16:creationId xmlns:a16="http://schemas.microsoft.com/office/drawing/2014/main" id="{6C6B9049-E42B-4360-802D-1E20B09E14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5700" y="3565417"/>
            <a:ext cx="881856" cy="881856"/>
          </a:xfrm>
          <a:prstGeom prst="rect">
            <a:avLst/>
          </a:prstGeom>
        </p:spPr>
      </p:pic>
      <p:sp>
        <p:nvSpPr>
          <p:cNvPr id="27" name="TextBox 26">
            <a:extLst>
              <a:ext uri="{FF2B5EF4-FFF2-40B4-BE49-F238E27FC236}">
                <a16:creationId xmlns:a16="http://schemas.microsoft.com/office/drawing/2014/main" id="{0745FE7D-07FC-4ABA-9627-B5E3C3B7E348}"/>
              </a:ext>
            </a:extLst>
          </p:cNvPr>
          <p:cNvSpPr txBox="1"/>
          <p:nvPr/>
        </p:nvSpPr>
        <p:spPr>
          <a:xfrm>
            <a:off x="2057556" y="2619382"/>
            <a:ext cx="6457070" cy="646331"/>
          </a:xfrm>
          <a:prstGeom prst="rect">
            <a:avLst/>
          </a:prstGeom>
          <a:noFill/>
        </p:spPr>
        <p:txBody>
          <a:bodyPr wrap="square">
            <a:spAutoFit/>
          </a:bodyPr>
          <a:lstStyle/>
          <a:p>
            <a:r>
              <a:rPr lang="en-US" dirty="0"/>
              <a:t>Spinach, Artichokes, Kalamata Olives, Sun-Dried Tomatoes, Feta Cheese, Plum Tomatoes, Red Onions</a:t>
            </a:r>
          </a:p>
        </p:txBody>
      </p:sp>
      <p:sp>
        <p:nvSpPr>
          <p:cNvPr id="29" name="TextBox 28">
            <a:extLst>
              <a:ext uri="{FF2B5EF4-FFF2-40B4-BE49-F238E27FC236}">
                <a16:creationId xmlns:a16="http://schemas.microsoft.com/office/drawing/2014/main" id="{E96BBCC6-ED0B-48B6-9EA8-2894310979FC}"/>
              </a:ext>
            </a:extLst>
          </p:cNvPr>
          <p:cNvSpPr txBox="1"/>
          <p:nvPr/>
        </p:nvSpPr>
        <p:spPr>
          <a:xfrm>
            <a:off x="2057556" y="3671852"/>
            <a:ext cx="6457070" cy="646331"/>
          </a:xfrm>
          <a:prstGeom prst="rect">
            <a:avLst/>
          </a:prstGeom>
          <a:noFill/>
        </p:spPr>
        <p:txBody>
          <a:bodyPr wrap="square">
            <a:spAutoFit/>
          </a:bodyPr>
          <a:lstStyle/>
          <a:p>
            <a:r>
              <a:rPr lang="it-IT" dirty="0"/>
              <a:t>Duja Salami, Pancetta, Tomatoes, Red Onions, Friggitello Peppers, Garlic</a:t>
            </a:r>
          </a:p>
        </p:txBody>
      </p:sp>
      <p:pic>
        <p:nvPicPr>
          <p:cNvPr id="31" name="Picture 30">
            <a:extLst>
              <a:ext uri="{FF2B5EF4-FFF2-40B4-BE49-F238E27FC236}">
                <a16:creationId xmlns:a16="http://schemas.microsoft.com/office/drawing/2014/main" id="{EDA68C03-B459-4D35-A4BA-F45B26453D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4083" y="4502613"/>
            <a:ext cx="983859" cy="983859"/>
          </a:xfrm>
          <a:prstGeom prst="rect">
            <a:avLst/>
          </a:prstGeom>
        </p:spPr>
      </p:pic>
      <p:pic>
        <p:nvPicPr>
          <p:cNvPr id="33" name="Picture 32">
            <a:extLst>
              <a:ext uri="{FF2B5EF4-FFF2-40B4-BE49-F238E27FC236}">
                <a16:creationId xmlns:a16="http://schemas.microsoft.com/office/drawing/2014/main" id="{B26BB362-DC49-4E1A-8452-2298497ED4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8859" y="5584053"/>
            <a:ext cx="983859" cy="983859"/>
          </a:xfrm>
          <a:prstGeom prst="rect">
            <a:avLst/>
          </a:prstGeom>
        </p:spPr>
      </p:pic>
      <p:sp>
        <p:nvSpPr>
          <p:cNvPr id="35" name="TextBox 34">
            <a:extLst>
              <a:ext uri="{FF2B5EF4-FFF2-40B4-BE49-F238E27FC236}">
                <a16:creationId xmlns:a16="http://schemas.microsoft.com/office/drawing/2014/main" id="{87BFBA37-F134-4E60-BE94-FD1B1D55DFDE}"/>
              </a:ext>
            </a:extLst>
          </p:cNvPr>
          <p:cNvSpPr txBox="1"/>
          <p:nvPr/>
        </p:nvSpPr>
        <p:spPr>
          <a:xfrm>
            <a:off x="2077942" y="4681466"/>
            <a:ext cx="6457070" cy="646331"/>
          </a:xfrm>
          <a:prstGeom prst="rect">
            <a:avLst/>
          </a:prstGeom>
          <a:noFill/>
        </p:spPr>
        <p:txBody>
          <a:bodyPr wrap="square">
            <a:spAutoFit/>
          </a:bodyPr>
          <a:lstStyle/>
          <a:p>
            <a:r>
              <a:rPr lang="en-US" dirty="0"/>
              <a:t>Spinach, Red Onions, Pepperoni, Tomatoes, Artichokes, Kalamata Olives, Garlic, Asiago Cheese</a:t>
            </a:r>
          </a:p>
        </p:txBody>
      </p:sp>
      <p:sp>
        <p:nvSpPr>
          <p:cNvPr id="37" name="TextBox 36">
            <a:extLst>
              <a:ext uri="{FF2B5EF4-FFF2-40B4-BE49-F238E27FC236}">
                <a16:creationId xmlns:a16="http://schemas.microsoft.com/office/drawing/2014/main" id="{06FE8C9F-69E6-4F0A-AA28-D1F49D13F813}"/>
              </a:ext>
            </a:extLst>
          </p:cNvPr>
          <p:cNvSpPr txBox="1"/>
          <p:nvPr/>
        </p:nvSpPr>
        <p:spPr>
          <a:xfrm>
            <a:off x="2077942" y="5747716"/>
            <a:ext cx="6457070" cy="646331"/>
          </a:xfrm>
          <a:prstGeom prst="rect">
            <a:avLst/>
          </a:prstGeom>
          <a:noFill/>
        </p:spPr>
        <p:txBody>
          <a:bodyPr wrap="square">
            <a:spAutoFit/>
          </a:bodyPr>
          <a:lstStyle/>
          <a:p>
            <a:r>
              <a:rPr lang="it-IT" dirty="0"/>
              <a:t>Soppressata Salami, Fontina Cheese, Mozzarella Cheese, Mushrooms, Garlic</a:t>
            </a:r>
          </a:p>
        </p:txBody>
      </p:sp>
    </p:spTree>
    <p:extLst>
      <p:ext uri="{BB962C8B-B14F-4D97-AF65-F5344CB8AC3E}">
        <p14:creationId xmlns:p14="http://schemas.microsoft.com/office/powerpoint/2010/main" val="1840171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A452B57-3161-4C40-859F-BABE2827A2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4440" y="0"/>
            <a:ext cx="6753026" cy="5976895"/>
          </a:xfrm>
          <a:prstGeom prst="rect">
            <a:avLst/>
          </a:prstGeom>
          <a:effectLst>
            <a:outerShdw blurRad="50800" dist="38100" dir="5400000" algn="t" rotWithShape="0">
              <a:prstClr val="black">
                <a:alpha val="40000"/>
              </a:prstClr>
            </a:outerShdw>
          </a:effectLst>
        </p:spPr>
      </p:pic>
      <p:sp>
        <p:nvSpPr>
          <p:cNvPr id="10" name="Rectangle 9">
            <a:extLst>
              <a:ext uri="{FF2B5EF4-FFF2-40B4-BE49-F238E27FC236}">
                <a16:creationId xmlns:a16="http://schemas.microsoft.com/office/drawing/2014/main" id="{1AC2D175-E9D0-4A19-859E-7A41E1B59623}"/>
              </a:ext>
            </a:extLst>
          </p:cNvPr>
          <p:cNvSpPr/>
          <p:nvPr/>
        </p:nvSpPr>
        <p:spPr>
          <a:xfrm>
            <a:off x="0" y="6721475"/>
            <a:ext cx="12192000" cy="136525"/>
          </a:xfrm>
          <a:prstGeom prst="rect">
            <a:avLst/>
          </a:prstGeom>
          <a:solidFill>
            <a:srgbClr val="2027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49BB7A4B-6687-44F1-80AB-1076C9D13C71}"/>
              </a:ext>
            </a:extLst>
          </p:cNvPr>
          <p:cNvGrpSpPr/>
          <p:nvPr/>
        </p:nvGrpSpPr>
        <p:grpSpPr>
          <a:xfrm>
            <a:off x="5824194" y="281743"/>
            <a:ext cx="810263" cy="907139"/>
            <a:chOff x="4539344" y="540378"/>
            <a:chExt cx="907140" cy="907140"/>
          </a:xfrm>
        </p:grpSpPr>
        <p:sp>
          <p:nvSpPr>
            <p:cNvPr id="12" name="Oval 11">
              <a:extLst>
                <a:ext uri="{FF2B5EF4-FFF2-40B4-BE49-F238E27FC236}">
                  <a16:creationId xmlns:a16="http://schemas.microsoft.com/office/drawing/2014/main" id="{0F363DFF-890E-4189-90A6-F9ADE89B2555}"/>
                </a:ext>
              </a:extLst>
            </p:cNvPr>
            <p:cNvSpPr/>
            <p:nvPr/>
          </p:nvSpPr>
          <p:spPr>
            <a:xfrm>
              <a:off x="4539344" y="540378"/>
              <a:ext cx="907140" cy="907140"/>
            </a:xfrm>
            <a:prstGeom prst="ellipse">
              <a:avLst/>
            </a:prstGeom>
            <a:solidFill>
              <a:srgbClr val="20272D">
                <a:alpha val="77000"/>
              </a:srgb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96C5FAB-654E-44F2-8742-4668874B9D42}"/>
                </a:ext>
              </a:extLst>
            </p:cNvPr>
            <p:cNvSpPr/>
            <p:nvPr/>
          </p:nvSpPr>
          <p:spPr>
            <a:xfrm>
              <a:off x="4643087" y="644120"/>
              <a:ext cx="699655" cy="699655"/>
            </a:xfrm>
            <a:prstGeom prst="ellipse">
              <a:avLst/>
            </a:prstGeom>
            <a:solidFill>
              <a:srgbClr val="EFAB0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5701BDF1-616E-4DFF-9DD7-6D4549F42E28}"/>
              </a:ext>
            </a:extLst>
          </p:cNvPr>
          <p:cNvGrpSpPr/>
          <p:nvPr/>
        </p:nvGrpSpPr>
        <p:grpSpPr>
          <a:xfrm>
            <a:off x="5396343" y="1820359"/>
            <a:ext cx="907140" cy="907140"/>
            <a:chOff x="4310743" y="464458"/>
            <a:chExt cx="1364344" cy="1364344"/>
          </a:xfrm>
        </p:grpSpPr>
        <p:sp>
          <p:nvSpPr>
            <p:cNvPr id="28" name="Oval 27">
              <a:extLst>
                <a:ext uri="{FF2B5EF4-FFF2-40B4-BE49-F238E27FC236}">
                  <a16:creationId xmlns:a16="http://schemas.microsoft.com/office/drawing/2014/main" id="{59587A98-BF6A-41ED-9159-496DE5E22E05}"/>
                </a:ext>
              </a:extLst>
            </p:cNvPr>
            <p:cNvSpPr/>
            <p:nvPr/>
          </p:nvSpPr>
          <p:spPr>
            <a:xfrm>
              <a:off x="4310743" y="464458"/>
              <a:ext cx="1364344" cy="1364344"/>
            </a:xfrm>
            <a:prstGeom prst="ellipse">
              <a:avLst/>
            </a:prstGeom>
            <a:solidFill>
              <a:srgbClr val="20272D">
                <a:alpha val="77000"/>
              </a:srgb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FD7AADD0-9E10-49D9-8300-8FA25A7F4064}"/>
                </a:ext>
              </a:extLst>
            </p:cNvPr>
            <p:cNvSpPr/>
            <p:nvPr/>
          </p:nvSpPr>
          <p:spPr>
            <a:xfrm>
              <a:off x="4466772" y="620487"/>
              <a:ext cx="1052286" cy="1052286"/>
            </a:xfrm>
            <a:prstGeom prst="ellipse">
              <a:avLst/>
            </a:prstGeom>
            <a:solidFill>
              <a:srgbClr val="EFAB0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71568123-0731-4F74-B796-38923A0E7D7C}"/>
              </a:ext>
            </a:extLst>
          </p:cNvPr>
          <p:cNvGrpSpPr/>
          <p:nvPr/>
        </p:nvGrpSpPr>
        <p:grpSpPr>
          <a:xfrm>
            <a:off x="6180887" y="3245391"/>
            <a:ext cx="907140" cy="907140"/>
            <a:chOff x="4310743" y="464458"/>
            <a:chExt cx="1364344" cy="1364344"/>
          </a:xfrm>
        </p:grpSpPr>
        <p:sp>
          <p:nvSpPr>
            <p:cNvPr id="31" name="Oval 30">
              <a:extLst>
                <a:ext uri="{FF2B5EF4-FFF2-40B4-BE49-F238E27FC236}">
                  <a16:creationId xmlns:a16="http://schemas.microsoft.com/office/drawing/2014/main" id="{C5BD911E-3A6F-405E-98A9-A035550E3160}"/>
                </a:ext>
              </a:extLst>
            </p:cNvPr>
            <p:cNvSpPr/>
            <p:nvPr/>
          </p:nvSpPr>
          <p:spPr>
            <a:xfrm>
              <a:off x="4310743" y="464458"/>
              <a:ext cx="1364344" cy="1364344"/>
            </a:xfrm>
            <a:prstGeom prst="ellipse">
              <a:avLst/>
            </a:prstGeom>
            <a:solidFill>
              <a:srgbClr val="20272D">
                <a:alpha val="77000"/>
              </a:srgb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1D4A2EB0-EEE8-4CA3-ADCA-099968BEBEF5}"/>
                </a:ext>
              </a:extLst>
            </p:cNvPr>
            <p:cNvSpPr/>
            <p:nvPr/>
          </p:nvSpPr>
          <p:spPr>
            <a:xfrm>
              <a:off x="4466772" y="620487"/>
              <a:ext cx="1052286" cy="1052286"/>
            </a:xfrm>
            <a:prstGeom prst="ellipse">
              <a:avLst/>
            </a:prstGeom>
            <a:solidFill>
              <a:srgbClr val="EFAB0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0A439D70-DAB4-4775-9E3C-766858EC1395}"/>
              </a:ext>
            </a:extLst>
          </p:cNvPr>
          <p:cNvGrpSpPr/>
          <p:nvPr/>
        </p:nvGrpSpPr>
        <p:grpSpPr>
          <a:xfrm>
            <a:off x="7672867" y="4496660"/>
            <a:ext cx="907140" cy="907140"/>
            <a:chOff x="4310743" y="464458"/>
            <a:chExt cx="1364344" cy="1364344"/>
          </a:xfrm>
        </p:grpSpPr>
        <p:sp>
          <p:nvSpPr>
            <p:cNvPr id="34" name="Oval 33">
              <a:extLst>
                <a:ext uri="{FF2B5EF4-FFF2-40B4-BE49-F238E27FC236}">
                  <a16:creationId xmlns:a16="http://schemas.microsoft.com/office/drawing/2014/main" id="{E1D0A117-8C36-4042-9049-35CDDB7E3808}"/>
                </a:ext>
              </a:extLst>
            </p:cNvPr>
            <p:cNvSpPr/>
            <p:nvPr/>
          </p:nvSpPr>
          <p:spPr>
            <a:xfrm>
              <a:off x="4310743" y="464458"/>
              <a:ext cx="1364344" cy="1364344"/>
            </a:xfrm>
            <a:prstGeom prst="ellipse">
              <a:avLst/>
            </a:prstGeom>
            <a:solidFill>
              <a:srgbClr val="20272D">
                <a:alpha val="77000"/>
              </a:srgb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10424F7-CD1E-4F66-8E23-FA4CC5767232}"/>
                </a:ext>
              </a:extLst>
            </p:cNvPr>
            <p:cNvSpPr/>
            <p:nvPr/>
          </p:nvSpPr>
          <p:spPr>
            <a:xfrm>
              <a:off x="4466772" y="620487"/>
              <a:ext cx="1052286" cy="1052286"/>
            </a:xfrm>
            <a:prstGeom prst="ellipse">
              <a:avLst/>
            </a:prstGeom>
            <a:solidFill>
              <a:srgbClr val="EFAB0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TextBox 35">
            <a:extLst>
              <a:ext uri="{FF2B5EF4-FFF2-40B4-BE49-F238E27FC236}">
                <a16:creationId xmlns:a16="http://schemas.microsoft.com/office/drawing/2014/main" id="{5D3D63C8-086B-4E3E-B0CE-9E533FC58FB8}"/>
              </a:ext>
            </a:extLst>
          </p:cNvPr>
          <p:cNvSpPr txBox="1"/>
          <p:nvPr/>
        </p:nvSpPr>
        <p:spPr>
          <a:xfrm>
            <a:off x="99962" y="371307"/>
            <a:ext cx="5653399" cy="1184940"/>
          </a:xfrm>
          <a:prstGeom prst="rect">
            <a:avLst/>
          </a:prstGeom>
          <a:noFill/>
        </p:spPr>
        <p:txBody>
          <a:bodyPr wrap="square" lIns="0" tIns="0" rIns="0" bIns="0" rtlCol="0" anchor="ctr">
            <a:spAutoFit/>
          </a:bodyPr>
          <a:lstStyle/>
          <a:p>
            <a:pPr algn="r">
              <a:spcAft>
                <a:spcPts val="600"/>
              </a:spcAft>
            </a:pPr>
            <a:r>
              <a:rPr lang="en-US" sz="1800" dirty="0">
                <a:effectLst/>
                <a:ea typeface="Calibri" panose="020F0502020204030204" pitchFamily="34" charset="0"/>
                <a:cs typeface="Times New Roman" panose="02020603050405020304" pitchFamily="18" charset="0"/>
              </a:rPr>
              <a:t>Focus on promoting popular pizza varieties like </a:t>
            </a:r>
            <a:r>
              <a:rPr lang="en-US" dirty="0">
                <a:ea typeface="Calibri" panose="020F0502020204030204" pitchFamily="34" charset="0"/>
                <a:cs typeface="Times New Roman" panose="02020603050405020304" pitchFamily="18" charset="0"/>
              </a:rPr>
              <a:t>Classic and Supreme</a:t>
            </a:r>
            <a:r>
              <a:rPr lang="en-US" sz="1800" dirty="0">
                <a:effectLst/>
                <a:ea typeface="Calibri" panose="020F0502020204030204" pitchFamily="34" charset="0"/>
                <a:cs typeface="Times New Roman" panose="02020603050405020304" pitchFamily="18" charset="0"/>
              </a:rPr>
              <a:t> while experimenting with new variations of these pizzas to cater to customer preferences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r">
              <a:spcAft>
                <a:spcPts val="600"/>
              </a:spcAft>
            </a:pPr>
            <a:r>
              <a:rPr lang="en-US" dirty="0"/>
              <a:t>. </a:t>
            </a:r>
          </a:p>
        </p:txBody>
      </p:sp>
      <p:sp>
        <p:nvSpPr>
          <p:cNvPr id="37" name="TextBox 36">
            <a:extLst>
              <a:ext uri="{FF2B5EF4-FFF2-40B4-BE49-F238E27FC236}">
                <a16:creationId xmlns:a16="http://schemas.microsoft.com/office/drawing/2014/main" id="{EEBF5DC3-ECF6-4EB1-9BF5-9646074E7265}"/>
              </a:ext>
            </a:extLst>
          </p:cNvPr>
          <p:cNvSpPr txBox="1"/>
          <p:nvPr/>
        </p:nvSpPr>
        <p:spPr>
          <a:xfrm>
            <a:off x="266702" y="2053611"/>
            <a:ext cx="4957900" cy="830997"/>
          </a:xfrm>
          <a:prstGeom prst="rect">
            <a:avLst/>
          </a:prstGeom>
          <a:noFill/>
        </p:spPr>
        <p:txBody>
          <a:bodyPr wrap="square" lIns="0" tIns="0" rIns="0" bIns="0" rtlCol="0" anchor="ctr">
            <a:spAutoFit/>
          </a:bodyPr>
          <a:lstStyle/>
          <a:p>
            <a:pPr algn="r">
              <a:spcAft>
                <a:spcPts val="600"/>
              </a:spcAft>
            </a:pPr>
            <a:r>
              <a:rPr lang="en-US" dirty="0"/>
              <a:t>Create special promotions or discounts for time duration like 3PM and 11AM, to balance demand and increase sales during slower periods. </a:t>
            </a:r>
          </a:p>
        </p:txBody>
      </p:sp>
      <p:sp>
        <p:nvSpPr>
          <p:cNvPr id="38" name="TextBox 37">
            <a:extLst>
              <a:ext uri="{FF2B5EF4-FFF2-40B4-BE49-F238E27FC236}">
                <a16:creationId xmlns:a16="http://schemas.microsoft.com/office/drawing/2014/main" id="{FE9F8268-7CA8-4914-959A-1C019172B78C}"/>
              </a:ext>
            </a:extLst>
          </p:cNvPr>
          <p:cNvSpPr txBox="1"/>
          <p:nvPr/>
        </p:nvSpPr>
        <p:spPr>
          <a:xfrm>
            <a:off x="374483" y="3425608"/>
            <a:ext cx="5653399" cy="830997"/>
          </a:xfrm>
          <a:prstGeom prst="rect">
            <a:avLst/>
          </a:prstGeom>
          <a:noFill/>
        </p:spPr>
        <p:txBody>
          <a:bodyPr wrap="square" lIns="0" tIns="0" rIns="0" bIns="0" rtlCol="0" anchor="ctr">
            <a:spAutoFit/>
          </a:bodyPr>
          <a:lstStyle/>
          <a:p>
            <a:pPr algn="r">
              <a:spcAft>
                <a:spcPts val="600"/>
              </a:spcAft>
            </a:pPr>
            <a:r>
              <a:rPr lang="en-US" dirty="0"/>
              <a:t>Use predictive analytics based on order history to better forecast ingredient usage and prevent overstocking or stockouts of popular items like Pepperoni, Onion, Red Pepper.</a:t>
            </a:r>
          </a:p>
        </p:txBody>
      </p:sp>
      <p:sp>
        <p:nvSpPr>
          <p:cNvPr id="39" name="TextBox 38">
            <a:extLst>
              <a:ext uri="{FF2B5EF4-FFF2-40B4-BE49-F238E27FC236}">
                <a16:creationId xmlns:a16="http://schemas.microsoft.com/office/drawing/2014/main" id="{D7E7483D-C2B4-42B6-9013-0B5CEB924BEC}"/>
              </a:ext>
            </a:extLst>
          </p:cNvPr>
          <p:cNvSpPr txBox="1"/>
          <p:nvPr/>
        </p:nvSpPr>
        <p:spPr>
          <a:xfrm>
            <a:off x="1531908" y="4839116"/>
            <a:ext cx="5913266" cy="553998"/>
          </a:xfrm>
          <a:prstGeom prst="rect">
            <a:avLst/>
          </a:prstGeom>
          <a:noFill/>
        </p:spPr>
        <p:txBody>
          <a:bodyPr wrap="square" lIns="0" tIns="0" rIns="0" bIns="0" rtlCol="0" anchor="ctr">
            <a:spAutoFit/>
          </a:bodyPr>
          <a:lstStyle/>
          <a:p>
            <a:pPr algn="r">
              <a:spcAft>
                <a:spcPts val="600"/>
              </a:spcAft>
            </a:pPr>
            <a:r>
              <a:rPr lang="en-US" dirty="0"/>
              <a:t>Offer loyalty rewards for frequent customers to encourage repeat business and foster customer retention. </a:t>
            </a:r>
          </a:p>
        </p:txBody>
      </p:sp>
      <p:grpSp>
        <p:nvGrpSpPr>
          <p:cNvPr id="40" name="Group 39">
            <a:extLst>
              <a:ext uri="{FF2B5EF4-FFF2-40B4-BE49-F238E27FC236}">
                <a16:creationId xmlns:a16="http://schemas.microsoft.com/office/drawing/2014/main" id="{25174BE4-DD21-41D2-926B-332751D7A96A}"/>
              </a:ext>
            </a:extLst>
          </p:cNvPr>
          <p:cNvGrpSpPr/>
          <p:nvPr/>
        </p:nvGrpSpPr>
        <p:grpSpPr>
          <a:xfrm>
            <a:off x="6440199" y="3587734"/>
            <a:ext cx="287338" cy="231775"/>
            <a:chOff x="882650" y="3127375"/>
            <a:chExt cx="287338" cy="231775"/>
          </a:xfrm>
          <a:solidFill>
            <a:schemeClr val="bg1"/>
          </a:solidFill>
          <a:effectLst/>
        </p:grpSpPr>
        <p:sp>
          <p:nvSpPr>
            <p:cNvPr id="41" name="Freeform 1215">
              <a:extLst>
                <a:ext uri="{FF2B5EF4-FFF2-40B4-BE49-F238E27FC236}">
                  <a16:creationId xmlns:a16="http://schemas.microsoft.com/office/drawing/2014/main" id="{B3355B60-AF46-42BD-863B-42C4BC567167}"/>
                </a:ext>
              </a:extLst>
            </p:cNvPr>
            <p:cNvSpPr>
              <a:spLocks/>
            </p:cNvSpPr>
            <p:nvPr/>
          </p:nvSpPr>
          <p:spPr bwMode="auto">
            <a:xfrm>
              <a:off x="882650" y="3225800"/>
              <a:ext cx="287338" cy="133350"/>
            </a:xfrm>
            <a:custGeom>
              <a:avLst/>
              <a:gdLst>
                <a:gd name="T0" fmla="*/ 766 w 902"/>
                <a:gd name="T1" fmla="*/ 0 h 421"/>
                <a:gd name="T2" fmla="*/ 15 w 902"/>
                <a:gd name="T3" fmla="*/ 0 h 421"/>
                <a:gd name="T4" fmla="*/ 7 w 902"/>
                <a:gd name="T5" fmla="*/ 2 h 421"/>
                <a:gd name="T6" fmla="*/ 3 w 902"/>
                <a:gd name="T7" fmla="*/ 7 h 421"/>
                <a:gd name="T8" fmla="*/ 0 w 902"/>
                <a:gd name="T9" fmla="*/ 14 h 421"/>
                <a:gd name="T10" fmla="*/ 1 w 902"/>
                <a:gd name="T11" fmla="*/ 22 h 421"/>
                <a:gd name="T12" fmla="*/ 120 w 902"/>
                <a:gd name="T13" fmla="*/ 331 h 421"/>
                <a:gd name="T14" fmla="*/ 122 w 902"/>
                <a:gd name="T15" fmla="*/ 349 h 421"/>
                <a:gd name="T16" fmla="*/ 126 w 902"/>
                <a:gd name="T17" fmla="*/ 366 h 421"/>
                <a:gd name="T18" fmla="*/ 135 w 902"/>
                <a:gd name="T19" fmla="*/ 382 h 421"/>
                <a:gd name="T20" fmla="*/ 146 w 902"/>
                <a:gd name="T21" fmla="*/ 396 h 421"/>
                <a:gd name="T22" fmla="*/ 159 w 902"/>
                <a:gd name="T23" fmla="*/ 406 h 421"/>
                <a:gd name="T24" fmla="*/ 175 w 902"/>
                <a:gd name="T25" fmla="*/ 414 h 421"/>
                <a:gd name="T26" fmla="*/ 192 w 902"/>
                <a:gd name="T27" fmla="*/ 420 h 421"/>
                <a:gd name="T28" fmla="*/ 210 w 902"/>
                <a:gd name="T29" fmla="*/ 421 h 421"/>
                <a:gd name="T30" fmla="*/ 701 w 902"/>
                <a:gd name="T31" fmla="*/ 421 h 421"/>
                <a:gd name="T32" fmla="*/ 719 w 902"/>
                <a:gd name="T33" fmla="*/ 417 h 421"/>
                <a:gd name="T34" fmla="*/ 735 w 902"/>
                <a:gd name="T35" fmla="*/ 410 h 421"/>
                <a:gd name="T36" fmla="*/ 749 w 902"/>
                <a:gd name="T37" fmla="*/ 400 h 421"/>
                <a:gd name="T38" fmla="*/ 761 w 902"/>
                <a:gd name="T39" fmla="*/ 388 h 421"/>
                <a:gd name="T40" fmla="*/ 771 w 902"/>
                <a:gd name="T41" fmla="*/ 375 h 421"/>
                <a:gd name="T42" fmla="*/ 777 w 902"/>
                <a:gd name="T43" fmla="*/ 358 h 421"/>
                <a:gd name="T44" fmla="*/ 781 w 902"/>
                <a:gd name="T45" fmla="*/ 341 h 421"/>
                <a:gd name="T46" fmla="*/ 782 w 902"/>
                <a:gd name="T47" fmla="*/ 30 h 421"/>
                <a:gd name="T48" fmla="*/ 825 w 902"/>
                <a:gd name="T49" fmla="*/ 31 h 421"/>
                <a:gd name="T50" fmla="*/ 845 w 902"/>
                <a:gd name="T51" fmla="*/ 40 h 421"/>
                <a:gd name="T52" fmla="*/ 862 w 902"/>
                <a:gd name="T53" fmla="*/ 57 h 421"/>
                <a:gd name="T54" fmla="*/ 871 w 902"/>
                <a:gd name="T55" fmla="*/ 79 h 421"/>
                <a:gd name="T56" fmla="*/ 872 w 902"/>
                <a:gd name="T57" fmla="*/ 346 h 421"/>
                <a:gd name="T58" fmla="*/ 877 w 902"/>
                <a:gd name="T59" fmla="*/ 357 h 421"/>
                <a:gd name="T60" fmla="*/ 886 w 902"/>
                <a:gd name="T61" fmla="*/ 362 h 421"/>
                <a:gd name="T62" fmla="*/ 897 w 902"/>
                <a:gd name="T63" fmla="*/ 357 h 421"/>
                <a:gd name="T64" fmla="*/ 902 w 902"/>
                <a:gd name="T65" fmla="*/ 346 h 421"/>
                <a:gd name="T66" fmla="*/ 901 w 902"/>
                <a:gd name="T67" fmla="*/ 81 h 421"/>
                <a:gd name="T68" fmla="*/ 897 w 902"/>
                <a:gd name="T69" fmla="*/ 64 h 421"/>
                <a:gd name="T70" fmla="*/ 891 w 902"/>
                <a:gd name="T71" fmla="*/ 47 h 421"/>
                <a:gd name="T72" fmla="*/ 882 w 902"/>
                <a:gd name="T73" fmla="*/ 33 h 421"/>
                <a:gd name="T74" fmla="*/ 869 w 902"/>
                <a:gd name="T75" fmla="*/ 20 h 421"/>
                <a:gd name="T76" fmla="*/ 855 w 902"/>
                <a:gd name="T77" fmla="*/ 11 h 421"/>
                <a:gd name="T78" fmla="*/ 839 w 902"/>
                <a:gd name="T79" fmla="*/ 5 h 421"/>
                <a:gd name="T80" fmla="*/ 821 w 902"/>
                <a:gd name="T81" fmla="*/ 1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02" h="421">
                  <a:moveTo>
                    <a:pt x="811" y="0"/>
                  </a:moveTo>
                  <a:lnTo>
                    <a:pt x="766" y="0"/>
                  </a:lnTo>
                  <a:lnTo>
                    <a:pt x="436" y="0"/>
                  </a:lnTo>
                  <a:lnTo>
                    <a:pt x="15" y="0"/>
                  </a:lnTo>
                  <a:lnTo>
                    <a:pt x="11" y="1"/>
                  </a:lnTo>
                  <a:lnTo>
                    <a:pt x="7" y="2"/>
                  </a:lnTo>
                  <a:lnTo>
                    <a:pt x="5" y="5"/>
                  </a:lnTo>
                  <a:lnTo>
                    <a:pt x="3" y="7"/>
                  </a:lnTo>
                  <a:lnTo>
                    <a:pt x="0" y="11"/>
                  </a:lnTo>
                  <a:lnTo>
                    <a:pt x="0" y="14"/>
                  </a:lnTo>
                  <a:lnTo>
                    <a:pt x="0" y="18"/>
                  </a:lnTo>
                  <a:lnTo>
                    <a:pt x="1" y="22"/>
                  </a:lnTo>
                  <a:lnTo>
                    <a:pt x="120" y="289"/>
                  </a:lnTo>
                  <a:lnTo>
                    <a:pt x="120" y="331"/>
                  </a:lnTo>
                  <a:lnTo>
                    <a:pt x="120" y="340"/>
                  </a:lnTo>
                  <a:lnTo>
                    <a:pt x="122" y="349"/>
                  </a:lnTo>
                  <a:lnTo>
                    <a:pt x="124" y="358"/>
                  </a:lnTo>
                  <a:lnTo>
                    <a:pt x="126" y="366"/>
                  </a:lnTo>
                  <a:lnTo>
                    <a:pt x="130" y="375"/>
                  </a:lnTo>
                  <a:lnTo>
                    <a:pt x="135" y="382"/>
                  </a:lnTo>
                  <a:lnTo>
                    <a:pt x="140" y="388"/>
                  </a:lnTo>
                  <a:lnTo>
                    <a:pt x="146" y="396"/>
                  </a:lnTo>
                  <a:lnTo>
                    <a:pt x="152" y="400"/>
                  </a:lnTo>
                  <a:lnTo>
                    <a:pt x="159" y="406"/>
                  </a:lnTo>
                  <a:lnTo>
                    <a:pt x="166" y="410"/>
                  </a:lnTo>
                  <a:lnTo>
                    <a:pt x="175" y="414"/>
                  </a:lnTo>
                  <a:lnTo>
                    <a:pt x="183" y="417"/>
                  </a:lnTo>
                  <a:lnTo>
                    <a:pt x="192" y="420"/>
                  </a:lnTo>
                  <a:lnTo>
                    <a:pt x="200" y="421"/>
                  </a:lnTo>
                  <a:lnTo>
                    <a:pt x="210" y="421"/>
                  </a:lnTo>
                  <a:lnTo>
                    <a:pt x="691" y="421"/>
                  </a:lnTo>
                  <a:lnTo>
                    <a:pt x="701" y="421"/>
                  </a:lnTo>
                  <a:lnTo>
                    <a:pt x="709" y="420"/>
                  </a:lnTo>
                  <a:lnTo>
                    <a:pt x="719" y="417"/>
                  </a:lnTo>
                  <a:lnTo>
                    <a:pt x="727" y="414"/>
                  </a:lnTo>
                  <a:lnTo>
                    <a:pt x="735" y="410"/>
                  </a:lnTo>
                  <a:lnTo>
                    <a:pt x="742" y="406"/>
                  </a:lnTo>
                  <a:lnTo>
                    <a:pt x="749" y="400"/>
                  </a:lnTo>
                  <a:lnTo>
                    <a:pt x="755" y="396"/>
                  </a:lnTo>
                  <a:lnTo>
                    <a:pt x="761" y="388"/>
                  </a:lnTo>
                  <a:lnTo>
                    <a:pt x="766" y="382"/>
                  </a:lnTo>
                  <a:lnTo>
                    <a:pt x="771" y="375"/>
                  </a:lnTo>
                  <a:lnTo>
                    <a:pt x="775" y="366"/>
                  </a:lnTo>
                  <a:lnTo>
                    <a:pt x="777" y="358"/>
                  </a:lnTo>
                  <a:lnTo>
                    <a:pt x="780" y="349"/>
                  </a:lnTo>
                  <a:lnTo>
                    <a:pt x="781" y="341"/>
                  </a:lnTo>
                  <a:lnTo>
                    <a:pt x="782" y="331"/>
                  </a:lnTo>
                  <a:lnTo>
                    <a:pt x="782" y="30"/>
                  </a:lnTo>
                  <a:lnTo>
                    <a:pt x="811" y="30"/>
                  </a:lnTo>
                  <a:lnTo>
                    <a:pt x="825" y="31"/>
                  </a:lnTo>
                  <a:lnTo>
                    <a:pt x="835" y="35"/>
                  </a:lnTo>
                  <a:lnTo>
                    <a:pt x="845" y="40"/>
                  </a:lnTo>
                  <a:lnTo>
                    <a:pt x="855" y="48"/>
                  </a:lnTo>
                  <a:lnTo>
                    <a:pt x="862" y="57"/>
                  </a:lnTo>
                  <a:lnTo>
                    <a:pt x="867" y="67"/>
                  </a:lnTo>
                  <a:lnTo>
                    <a:pt x="871" y="79"/>
                  </a:lnTo>
                  <a:lnTo>
                    <a:pt x="872" y="91"/>
                  </a:lnTo>
                  <a:lnTo>
                    <a:pt x="872" y="346"/>
                  </a:lnTo>
                  <a:lnTo>
                    <a:pt x="873" y="352"/>
                  </a:lnTo>
                  <a:lnTo>
                    <a:pt x="877" y="357"/>
                  </a:lnTo>
                  <a:lnTo>
                    <a:pt x="882" y="360"/>
                  </a:lnTo>
                  <a:lnTo>
                    <a:pt x="886" y="362"/>
                  </a:lnTo>
                  <a:lnTo>
                    <a:pt x="892" y="360"/>
                  </a:lnTo>
                  <a:lnTo>
                    <a:pt x="897" y="357"/>
                  </a:lnTo>
                  <a:lnTo>
                    <a:pt x="901" y="352"/>
                  </a:lnTo>
                  <a:lnTo>
                    <a:pt x="902" y="346"/>
                  </a:lnTo>
                  <a:lnTo>
                    <a:pt x="902" y="91"/>
                  </a:lnTo>
                  <a:lnTo>
                    <a:pt x="901" y="81"/>
                  </a:lnTo>
                  <a:lnTo>
                    <a:pt x="900" y="73"/>
                  </a:lnTo>
                  <a:lnTo>
                    <a:pt x="897" y="64"/>
                  </a:lnTo>
                  <a:lnTo>
                    <a:pt x="895" y="56"/>
                  </a:lnTo>
                  <a:lnTo>
                    <a:pt x="891" y="47"/>
                  </a:lnTo>
                  <a:lnTo>
                    <a:pt x="886" y="40"/>
                  </a:lnTo>
                  <a:lnTo>
                    <a:pt x="882" y="33"/>
                  </a:lnTo>
                  <a:lnTo>
                    <a:pt x="876" y="26"/>
                  </a:lnTo>
                  <a:lnTo>
                    <a:pt x="869" y="20"/>
                  </a:lnTo>
                  <a:lnTo>
                    <a:pt x="862" y="16"/>
                  </a:lnTo>
                  <a:lnTo>
                    <a:pt x="855" y="11"/>
                  </a:lnTo>
                  <a:lnTo>
                    <a:pt x="848" y="7"/>
                  </a:lnTo>
                  <a:lnTo>
                    <a:pt x="839" y="5"/>
                  </a:lnTo>
                  <a:lnTo>
                    <a:pt x="831" y="2"/>
                  </a:lnTo>
                  <a:lnTo>
                    <a:pt x="821" y="1"/>
                  </a:lnTo>
                  <a:lnTo>
                    <a:pt x="8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216">
              <a:extLst>
                <a:ext uri="{FF2B5EF4-FFF2-40B4-BE49-F238E27FC236}">
                  <a16:creationId xmlns:a16="http://schemas.microsoft.com/office/drawing/2014/main" id="{D49B183E-B14A-45FD-8E74-22BC587C9C26}"/>
                </a:ext>
              </a:extLst>
            </p:cNvPr>
            <p:cNvSpPr>
              <a:spLocks/>
            </p:cNvSpPr>
            <p:nvPr/>
          </p:nvSpPr>
          <p:spPr bwMode="auto">
            <a:xfrm>
              <a:off x="1025525" y="3127375"/>
              <a:ext cx="47625" cy="93663"/>
            </a:xfrm>
            <a:custGeom>
              <a:avLst/>
              <a:gdLst>
                <a:gd name="T0" fmla="*/ 136 w 150"/>
                <a:gd name="T1" fmla="*/ 296 h 296"/>
                <a:gd name="T2" fmla="*/ 142 w 150"/>
                <a:gd name="T3" fmla="*/ 295 h 296"/>
                <a:gd name="T4" fmla="*/ 146 w 150"/>
                <a:gd name="T5" fmla="*/ 291 h 296"/>
                <a:gd name="T6" fmla="*/ 149 w 150"/>
                <a:gd name="T7" fmla="*/ 288 h 296"/>
                <a:gd name="T8" fmla="*/ 150 w 150"/>
                <a:gd name="T9" fmla="*/ 280 h 296"/>
                <a:gd name="T10" fmla="*/ 150 w 150"/>
                <a:gd name="T11" fmla="*/ 280 h 296"/>
                <a:gd name="T12" fmla="*/ 150 w 150"/>
                <a:gd name="T13" fmla="*/ 278 h 296"/>
                <a:gd name="T14" fmla="*/ 149 w 150"/>
                <a:gd name="T15" fmla="*/ 254 h 296"/>
                <a:gd name="T16" fmla="*/ 145 w 150"/>
                <a:gd name="T17" fmla="*/ 229 h 296"/>
                <a:gd name="T18" fmla="*/ 140 w 150"/>
                <a:gd name="T19" fmla="*/ 205 h 296"/>
                <a:gd name="T20" fmla="*/ 134 w 150"/>
                <a:gd name="T21" fmla="*/ 182 h 296"/>
                <a:gd name="T22" fmla="*/ 126 w 150"/>
                <a:gd name="T23" fmla="*/ 159 h 296"/>
                <a:gd name="T24" fmla="*/ 116 w 150"/>
                <a:gd name="T25" fmla="*/ 137 h 296"/>
                <a:gd name="T26" fmla="*/ 106 w 150"/>
                <a:gd name="T27" fmla="*/ 117 h 296"/>
                <a:gd name="T28" fmla="*/ 95 w 150"/>
                <a:gd name="T29" fmla="*/ 97 h 296"/>
                <a:gd name="T30" fmla="*/ 83 w 150"/>
                <a:gd name="T31" fmla="*/ 79 h 296"/>
                <a:gd name="T32" fmla="*/ 71 w 150"/>
                <a:gd name="T33" fmla="*/ 62 h 296"/>
                <a:gd name="T34" fmla="*/ 59 w 150"/>
                <a:gd name="T35" fmla="*/ 47 h 296"/>
                <a:gd name="T36" fmla="*/ 47 w 150"/>
                <a:gd name="T37" fmla="*/ 34 h 296"/>
                <a:gd name="T38" fmla="*/ 34 w 150"/>
                <a:gd name="T39" fmla="*/ 22 h 296"/>
                <a:gd name="T40" fmla="*/ 21 w 150"/>
                <a:gd name="T41" fmla="*/ 12 h 296"/>
                <a:gd name="T42" fmla="*/ 10 w 150"/>
                <a:gd name="T43" fmla="*/ 5 h 296"/>
                <a:gd name="T44" fmla="*/ 0 w 150"/>
                <a:gd name="T45" fmla="*/ 0 h 296"/>
                <a:gd name="T46" fmla="*/ 0 w 150"/>
                <a:gd name="T47" fmla="*/ 296 h 296"/>
                <a:gd name="T48" fmla="*/ 136 w 150"/>
                <a:gd name="T49" fmla="*/ 296 h 296"/>
                <a:gd name="T50" fmla="*/ 136 w 150"/>
                <a:gd name="T51" fmla="*/ 296 h 296"/>
                <a:gd name="T52" fmla="*/ 136 w 150"/>
                <a:gd name="T53" fmla="*/ 29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0" h="296">
                  <a:moveTo>
                    <a:pt x="136" y="296"/>
                  </a:moveTo>
                  <a:lnTo>
                    <a:pt x="142" y="295"/>
                  </a:lnTo>
                  <a:lnTo>
                    <a:pt x="146" y="291"/>
                  </a:lnTo>
                  <a:lnTo>
                    <a:pt x="149" y="288"/>
                  </a:lnTo>
                  <a:lnTo>
                    <a:pt x="150" y="280"/>
                  </a:lnTo>
                  <a:lnTo>
                    <a:pt x="150" y="280"/>
                  </a:lnTo>
                  <a:lnTo>
                    <a:pt x="150" y="278"/>
                  </a:lnTo>
                  <a:lnTo>
                    <a:pt x="149" y="254"/>
                  </a:lnTo>
                  <a:lnTo>
                    <a:pt x="145" y="229"/>
                  </a:lnTo>
                  <a:lnTo>
                    <a:pt x="140" y="205"/>
                  </a:lnTo>
                  <a:lnTo>
                    <a:pt x="134" y="182"/>
                  </a:lnTo>
                  <a:lnTo>
                    <a:pt x="126" y="159"/>
                  </a:lnTo>
                  <a:lnTo>
                    <a:pt x="116" y="137"/>
                  </a:lnTo>
                  <a:lnTo>
                    <a:pt x="106" y="117"/>
                  </a:lnTo>
                  <a:lnTo>
                    <a:pt x="95" y="97"/>
                  </a:lnTo>
                  <a:lnTo>
                    <a:pt x="83" y="79"/>
                  </a:lnTo>
                  <a:lnTo>
                    <a:pt x="71" y="62"/>
                  </a:lnTo>
                  <a:lnTo>
                    <a:pt x="59" y="47"/>
                  </a:lnTo>
                  <a:lnTo>
                    <a:pt x="47" y="34"/>
                  </a:lnTo>
                  <a:lnTo>
                    <a:pt x="34" y="22"/>
                  </a:lnTo>
                  <a:lnTo>
                    <a:pt x="21" y="12"/>
                  </a:lnTo>
                  <a:lnTo>
                    <a:pt x="10" y="5"/>
                  </a:lnTo>
                  <a:lnTo>
                    <a:pt x="0" y="0"/>
                  </a:lnTo>
                  <a:lnTo>
                    <a:pt x="0" y="296"/>
                  </a:lnTo>
                  <a:lnTo>
                    <a:pt x="136" y="296"/>
                  </a:lnTo>
                  <a:lnTo>
                    <a:pt x="136" y="296"/>
                  </a:lnTo>
                  <a:lnTo>
                    <a:pt x="136" y="2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217">
              <a:extLst>
                <a:ext uri="{FF2B5EF4-FFF2-40B4-BE49-F238E27FC236}">
                  <a16:creationId xmlns:a16="http://schemas.microsoft.com/office/drawing/2014/main" id="{967857D8-7CA8-43AB-BC00-7F3AA2D099BC}"/>
                </a:ext>
              </a:extLst>
            </p:cNvPr>
            <p:cNvSpPr>
              <a:spLocks/>
            </p:cNvSpPr>
            <p:nvPr/>
          </p:nvSpPr>
          <p:spPr bwMode="auto">
            <a:xfrm>
              <a:off x="968375" y="3127375"/>
              <a:ext cx="47625" cy="93663"/>
            </a:xfrm>
            <a:custGeom>
              <a:avLst/>
              <a:gdLst>
                <a:gd name="T0" fmla="*/ 15 w 150"/>
                <a:gd name="T1" fmla="*/ 296 h 296"/>
                <a:gd name="T2" fmla="*/ 150 w 150"/>
                <a:gd name="T3" fmla="*/ 296 h 296"/>
                <a:gd name="T4" fmla="*/ 150 w 150"/>
                <a:gd name="T5" fmla="*/ 0 h 296"/>
                <a:gd name="T6" fmla="*/ 139 w 150"/>
                <a:gd name="T7" fmla="*/ 5 h 296"/>
                <a:gd name="T8" fmla="*/ 128 w 150"/>
                <a:gd name="T9" fmla="*/ 12 h 296"/>
                <a:gd name="T10" fmla="*/ 116 w 150"/>
                <a:gd name="T11" fmla="*/ 22 h 296"/>
                <a:gd name="T12" fmla="*/ 104 w 150"/>
                <a:gd name="T13" fmla="*/ 34 h 296"/>
                <a:gd name="T14" fmla="*/ 91 w 150"/>
                <a:gd name="T15" fmla="*/ 47 h 296"/>
                <a:gd name="T16" fmla="*/ 79 w 150"/>
                <a:gd name="T17" fmla="*/ 63 h 296"/>
                <a:gd name="T18" fmla="*/ 66 w 150"/>
                <a:gd name="T19" fmla="*/ 80 h 296"/>
                <a:gd name="T20" fmla="*/ 54 w 150"/>
                <a:gd name="T21" fmla="*/ 98 h 296"/>
                <a:gd name="T22" fmla="*/ 43 w 150"/>
                <a:gd name="T23" fmla="*/ 118 h 296"/>
                <a:gd name="T24" fmla="*/ 34 w 150"/>
                <a:gd name="T25" fmla="*/ 138 h 296"/>
                <a:gd name="T26" fmla="*/ 24 w 150"/>
                <a:gd name="T27" fmla="*/ 160 h 296"/>
                <a:gd name="T28" fmla="*/ 15 w 150"/>
                <a:gd name="T29" fmla="*/ 183 h 296"/>
                <a:gd name="T30" fmla="*/ 9 w 150"/>
                <a:gd name="T31" fmla="*/ 208 h 296"/>
                <a:gd name="T32" fmla="*/ 5 w 150"/>
                <a:gd name="T33" fmla="*/ 232 h 296"/>
                <a:gd name="T34" fmla="*/ 1 w 150"/>
                <a:gd name="T35" fmla="*/ 256 h 296"/>
                <a:gd name="T36" fmla="*/ 0 w 150"/>
                <a:gd name="T37" fmla="*/ 280 h 296"/>
                <a:gd name="T38" fmla="*/ 1 w 150"/>
                <a:gd name="T39" fmla="*/ 288 h 296"/>
                <a:gd name="T40" fmla="*/ 5 w 150"/>
                <a:gd name="T41" fmla="*/ 291 h 296"/>
                <a:gd name="T42" fmla="*/ 9 w 150"/>
                <a:gd name="T43" fmla="*/ 295 h 296"/>
                <a:gd name="T44" fmla="*/ 15 w 150"/>
                <a:gd name="T45" fmla="*/ 29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0" h="296">
                  <a:moveTo>
                    <a:pt x="15" y="296"/>
                  </a:moveTo>
                  <a:lnTo>
                    <a:pt x="150" y="296"/>
                  </a:lnTo>
                  <a:lnTo>
                    <a:pt x="150" y="0"/>
                  </a:lnTo>
                  <a:lnTo>
                    <a:pt x="139" y="5"/>
                  </a:lnTo>
                  <a:lnTo>
                    <a:pt x="128" y="12"/>
                  </a:lnTo>
                  <a:lnTo>
                    <a:pt x="116" y="22"/>
                  </a:lnTo>
                  <a:lnTo>
                    <a:pt x="104" y="34"/>
                  </a:lnTo>
                  <a:lnTo>
                    <a:pt x="91" y="47"/>
                  </a:lnTo>
                  <a:lnTo>
                    <a:pt x="79" y="63"/>
                  </a:lnTo>
                  <a:lnTo>
                    <a:pt x="66" y="80"/>
                  </a:lnTo>
                  <a:lnTo>
                    <a:pt x="54" y="98"/>
                  </a:lnTo>
                  <a:lnTo>
                    <a:pt x="43" y="118"/>
                  </a:lnTo>
                  <a:lnTo>
                    <a:pt x="34" y="138"/>
                  </a:lnTo>
                  <a:lnTo>
                    <a:pt x="24" y="160"/>
                  </a:lnTo>
                  <a:lnTo>
                    <a:pt x="15" y="183"/>
                  </a:lnTo>
                  <a:lnTo>
                    <a:pt x="9" y="208"/>
                  </a:lnTo>
                  <a:lnTo>
                    <a:pt x="5" y="232"/>
                  </a:lnTo>
                  <a:lnTo>
                    <a:pt x="1" y="256"/>
                  </a:lnTo>
                  <a:lnTo>
                    <a:pt x="0" y="280"/>
                  </a:lnTo>
                  <a:lnTo>
                    <a:pt x="1" y="288"/>
                  </a:lnTo>
                  <a:lnTo>
                    <a:pt x="5" y="291"/>
                  </a:lnTo>
                  <a:lnTo>
                    <a:pt x="9" y="295"/>
                  </a:lnTo>
                  <a:lnTo>
                    <a:pt x="15" y="2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 name="Freeform 1251">
            <a:extLst>
              <a:ext uri="{FF2B5EF4-FFF2-40B4-BE49-F238E27FC236}">
                <a16:creationId xmlns:a16="http://schemas.microsoft.com/office/drawing/2014/main" id="{5DD51506-679E-47DC-AF5F-5DF915DC6C67}"/>
              </a:ext>
            </a:extLst>
          </p:cNvPr>
          <p:cNvSpPr>
            <a:spLocks noEditPoints="1"/>
          </p:cNvSpPr>
          <p:nvPr/>
        </p:nvSpPr>
        <p:spPr bwMode="auto">
          <a:xfrm>
            <a:off x="6103416" y="571185"/>
            <a:ext cx="287338" cy="238125"/>
          </a:xfrm>
          <a:custGeom>
            <a:avLst/>
            <a:gdLst>
              <a:gd name="T0" fmla="*/ 674 w 902"/>
              <a:gd name="T1" fmla="*/ 198 h 751"/>
              <a:gd name="T2" fmla="*/ 709 w 902"/>
              <a:gd name="T3" fmla="*/ 210 h 751"/>
              <a:gd name="T4" fmla="*/ 739 w 902"/>
              <a:gd name="T5" fmla="*/ 232 h 751"/>
              <a:gd name="T6" fmla="*/ 762 w 902"/>
              <a:gd name="T7" fmla="*/ 260 h 751"/>
              <a:gd name="T8" fmla="*/ 777 w 902"/>
              <a:gd name="T9" fmla="*/ 293 h 751"/>
              <a:gd name="T10" fmla="*/ 782 w 902"/>
              <a:gd name="T11" fmla="*/ 330 h 751"/>
              <a:gd name="T12" fmla="*/ 777 w 902"/>
              <a:gd name="T13" fmla="*/ 368 h 751"/>
              <a:gd name="T14" fmla="*/ 762 w 902"/>
              <a:gd name="T15" fmla="*/ 402 h 751"/>
              <a:gd name="T16" fmla="*/ 739 w 902"/>
              <a:gd name="T17" fmla="*/ 430 h 751"/>
              <a:gd name="T18" fmla="*/ 709 w 902"/>
              <a:gd name="T19" fmla="*/ 450 h 751"/>
              <a:gd name="T20" fmla="*/ 674 w 902"/>
              <a:gd name="T21" fmla="*/ 462 h 751"/>
              <a:gd name="T22" fmla="*/ 149 w 902"/>
              <a:gd name="T23" fmla="*/ 562 h 751"/>
              <a:gd name="T24" fmla="*/ 136 w 902"/>
              <a:gd name="T25" fmla="*/ 571 h 751"/>
              <a:gd name="T26" fmla="*/ 121 w 902"/>
              <a:gd name="T27" fmla="*/ 562 h 751"/>
              <a:gd name="T28" fmla="*/ 121 w 902"/>
              <a:gd name="T29" fmla="*/ 129 h 751"/>
              <a:gd name="T30" fmla="*/ 136 w 902"/>
              <a:gd name="T31" fmla="*/ 120 h 751"/>
              <a:gd name="T32" fmla="*/ 149 w 902"/>
              <a:gd name="T33" fmla="*/ 129 h 751"/>
              <a:gd name="T34" fmla="*/ 661 w 902"/>
              <a:gd name="T35" fmla="*/ 75 h 751"/>
              <a:gd name="T36" fmla="*/ 658 w 902"/>
              <a:gd name="T37" fmla="*/ 4 h 751"/>
              <a:gd name="T38" fmla="*/ 16 w 902"/>
              <a:gd name="T39" fmla="*/ 0 h 751"/>
              <a:gd name="T40" fmla="*/ 1 w 902"/>
              <a:gd name="T41" fmla="*/ 8 h 751"/>
              <a:gd name="T42" fmla="*/ 1 w 902"/>
              <a:gd name="T43" fmla="*/ 630 h 751"/>
              <a:gd name="T44" fmla="*/ 11 w 902"/>
              <a:gd name="T45" fmla="*/ 669 h 751"/>
              <a:gd name="T46" fmla="*/ 31 w 902"/>
              <a:gd name="T47" fmla="*/ 702 h 751"/>
              <a:gd name="T48" fmla="*/ 59 w 902"/>
              <a:gd name="T49" fmla="*/ 728 h 751"/>
              <a:gd name="T50" fmla="*/ 96 w 902"/>
              <a:gd name="T51" fmla="*/ 745 h 751"/>
              <a:gd name="T52" fmla="*/ 136 w 902"/>
              <a:gd name="T53" fmla="*/ 751 h 751"/>
              <a:gd name="T54" fmla="*/ 553 w 902"/>
              <a:gd name="T55" fmla="*/ 749 h 751"/>
              <a:gd name="T56" fmla="*/ 591 w 902"/>
              <a:gd name="T57" fmla="*/ 736 h 751"/>
              <a:gd name="T58" fmla="*/ 621 w 902"/>
              <a:gd name="T59" fmla="*/ 711 h 751"/>
              <a:gd name="T60" fmla="*/ 646 w 902"/>
              <a:gd name="T61" fmla="*/ 681 h 751"/>
              <a:gd name="T62" fmla="*/ 659 w 902"/>
              <a:gd name="T63" fmla="*/ 643 h 751"/>
              <a:gd name="T64" fmla="*/ 661 w 902"/>
              <a:gd name="T65" fmla="*/ 585 h 751"/>
              <a:gd name="T66" fmla="*/ 733 w 902"/>
              <a:gd name="T67" fmla="*/ 571 h 751"/>
              <a:gd name="T68" fmla="*/ 796 w 902"/>
              <a:gd name="T69" fmla="*/ 537 h 751"/>
              <a:gd name="T70" fmla="*/ 847 w 902"/>
              <a:gd name="T71" fmla="*/ 488 h 751"/>
              <a:gd name="T72" fmla="*/ 884 w 902"/>
              <a:gd name="T73" fmla="*/ 426 h 751"/>
              <a:gd name="T74" fmla="*/ 899 w 902"/>
              <a:gd name="T75" fmla="*/ 368 h 751"/>
              <a:gd name="T76" fmla="*/ 902 w 902"/>
              <a:gd name="T77" fmla="*/ 330 h 751"/>
              <a:gd name="T78" fmla="*/ 899 w 902"/>
              <a:gd name="T79" fmla="*/ 293 h 751"/>
              <a:gd name="T80" fmla="*/ 884 w 902"/>
              <a:gd name="T81" fmla="*/ 234 h 751"/>
              <a:gd name="T82" fmla="*/ 847 w 902"/>
              <a:gd name="T83" fmla="*/ 172 h 751"/>
              <a:gd name="T84" fmla="*/ 796 w 902"/>
              <a:gd name="T85" fmla="*/ 124 h 751"/>
              <a:gd name="T86" fmla="*/ 733 w 902"/>
              <a:gd name="T87" fmla="*/ 91 h 751"/>
              <a:gd name="T88" fmla="*/ 661 w 902"/>
              <a:gd name="T89" fmla="*/ 75 h 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02" h="751">
                <a:moveTo>
                  <a:pt x="661" y="465"/>
                </a:moveTo>
                <a:lnTo>
                  <a:pt x="661" y="197"/>
                </a:lnTo>
                <a:lnTo>
                  <a:pt x="674" y="198"/>
                </a:lnTo>
                <a:lnTo>
                  <a:pt x="686" y="201"/>
                </a:lnTo>
                <a:lnTo>
                  <a:pt x="698" y="205"/>
                </a:lnTo>
                <a:lnTo>
                  <a:pt x="709" y="210"/>
                </a:lnTo>
                <a:lnTo>
                  <a:pt x="720" y="216"/>
                </a:lnTo>
                <a:lnTo>
                  <a:pt x="729" y="223"/>
                </a:lnTo>
                <a:lnTo>
                  <a:pt x="739" y="232"/>
                </a:lnTo>
                <a:lnTo>
                  <a:pt x="748" y="240"/>
                </a:lnTo>
                <a:lnTo>
                  <a:pt x="755" y="249"/>
                </a:lnTo>
                <a:lnTo>
                  <a:pt x="762" y="260"/>
                </a:lnTo>
                <a:lnTo>
                  <a:pt x="767" y="269"/>
                </a:lnTo>
                <a:lnTo>
                  <a:pt x="773" y="282"/>
                </a:lnTo>
                <a:lnTo>
                  <a:pt x="777" y="293"/>
                </a:lnTo>
                <a:lnTo>
                  <a:pt x="779" y="305"/>
                </a:lnTo>
                <a:lnTo>
                  <a:pt x="782" y="318"/>
                </a:lnTo>
                <a:lnTo>
                  <a:pt x="782" y="330"/>
                </a:lnTo>
                <a:lnTo>
                  <a:pt x="782" y="344"/>
                </a:lnTo>
                <a:lnTo>
                  <a:pt x="779" y="356"/>
                </a:lnTo>
                <a:lnTo>
                  <a:pt x="777" y="368"/>
                </a:lnTo>
                <a:lnTo>
                  <a:pt x="773" y="380"/>
                </a:lnTo>
                <a:lnTo>
                  <a:pt x="767" y="391"/>
                </a:lnTo>
                <a:lnTo>
                  <a:pt x="762" y="402"/>
                </a:lnTo>
                <a:lnTo>
                  <a:pt x="755" y="412"/>
                </a:lnTo>
                <a:lnTo>
                  <a:pt x="748" y="421"/>
                </a:lnTo>
                <a:lnTo>
                  <a:pt x="739" y="430"/>
                </a:lnTo>
                <a:lnTo>
                  <a:pt x="729" y="437"/>
                </a:lnTo>
                <a:lnTo>
                  <a:pt x="720" y="444"/>
                </a:lnTo>
                <a:lnTo>
                  <a:pt x="709" y="450"/>
                </a:lnTo>
                <a:lnTo>
                  <a:pt x="698" y="455"/>
                </a:lnTo>
                <a:lnTo>
                  <a:pt x="686" y="460"/>
                </a:lnTo>
                <a:lnTo>
                  <a:pt x="674" y="462"/>
                </a:lnTo>
                <a:lnTo>
                  <a:pt x="661" y="465"/>
                </a:lnTo>
                <a:close/>
                <a:moveTo>
                  <a:pt x="150" y="556"/>
                </a:moveTo>
                <a:lnTo>
                  <a:pt x="149" y="562"/>
                </a:lnTo>
                <a:lnTo>
                  <a:pt x="145" y="567"/>
                </a:lnTo>
                <a:lnTo>
                  <a:pt x="141" y="571"/>
                </a:lnTo>
                <a:lnTo>
                  <a:pt x="136" y="571"/>
                </a:lnTo>
                <a:lnTo>
                  <a:pt x="130" y="571"/>
                </a:lnTo>
                <a:lnTo>
                  <a:pt x="125" y="567"/>
                </a:lnTo>
                <a:lnTo>
                  <a:pt x="121" y="562"/>
                </a:lnTo>
                <a:lnTo>
                  <a:pt x="120" y="556"/>
                </a:lnTo>
                <a:lnTo>
                  <a:pt x="120" y="135"/>
                </a:lnTo>
                <a:lnTo>
                  <a:pt x="121" y="129"/>
                </a:lnTo>
                <a:lnTo>
                  <a:pt x="125" y="125"/>
                </a:lnTo>
                <a:lnTo>
                  <a:pt x="130" y="121"/>
                </a:lnTo>
                <a:lnTo>
                  <a:pt x="136" y="120"/>
                </a:lnTo>
                <a:lnTo>
                  <a:pt x="141" y="121"/>
                </a:lnTo>
                <a:lnTo>
                  <a:pt x="145" y="125"/>
                </a:lnTo>
                <a:lnTo>
                  <a:pt x="149" y="129"/>
                </a:lnTo>
                <a:lnTo>
                  <a:pt x="150" y="135"/>
                </a:lnTo>
                <a:lnTo>
                  <a:pt x="150" y="556"/>
                </a:lnTo>
                <a:close/>
                <a:moveTo>
                  <a:pt x="661" y="75"/>
                </a:moveTo>
                <a:lnTo>
                  <a:pt x="661" y="15"/>
                </a:lnTo>
                <a:lnTo>
                  <a:pt x="660" y="8"/>
                </a:lnTo>
                <a:lnTo>
                  <a:pt x="658" y="4"/>
                </a:lnTo>
                <a:lnTo>
                  <a:pt x="653" y="1"/>
                </a:lnTo>
                <a:lnTo>
                  <a:pt x="647" y="0"/>
                </a:lnTo>
                <a:lnTo>
                  <a:pt x="16" y="0"/>
                </a:lnTo>
                <a:lnTo>
                  <a:pt x="9" y="1"/>
                </a:lnTo>
                <a:lnTo>
                  <a:pt x="5" y="4"/>
                </a:lnTo>
                <a:lnTo>
                  <a:pt x="1" y="8"/>
                </a:lnTo>
                <a:lnTo>
                  <a:pt x="0" y="15"/>
                </a:lnTo>
                <a:lnTo>
                  <a:pt x="0" y="617"/>
                </a:lnTo>
                <a:lnTo>
                  <a:pt x="1" y="630"/>
                </a:lnTo>
                <a:lnTo>
                  <a:pt x="2" y="643"/>
                </a:lnTo>
                <a:lnTo>
                  <a:pt x="6" y="657"/>
                </a:lnTo>
                <a:lnTo>
                  <a:pt x="11" y="669"/>
                </a:lnTo>
                <a:lnTo>
                  <a:pt x="17" y="681"/>
                </a:lnTo>
                <a:lnTo>
                  <a:pt x="23" y="692"/>
                </a:lnTo>
                <a:lnTo>
                  <a:pt x="31" y="702"/>
                </a:lnTo>
                <a:lnTo>
                  <a:pt x="40" y="711"/>
                </a:lnTo>
                <a:lnTo>
                  <a:pt x="50" y="721"/>
                </a:lnTo>
                <a:lnTo>
                  <a:pt x="59" y="728"/>
                </a:lnTo>
                <a:lnTo>
                  <a:pt x="71" y="736"/>
                </a:lnTo>
                <a:lnTo>
                  <a:pt x="82" y="741"/>
                </a:lnTo>
                <a:lnTo>
                  <a:pt x="96" y="745"/>
                </a:lnTo>
                <a:lnTo>
                  <a:pt x="108" y="749"/>
                </a:lnTo>
                <a:lnTo>
                  <a:pt x="121" y="751"/>
                </a:lnTo>
                <a:lnTo>
                  <a:pt x="136" y="751"/>
                </a:lnTo>
                <a:lnTo>
                  <a:pt x="527" y="751"/>
                </a:lnTo>
                <a:lnTo>
                  <a:pt x="540" y="751"/>
                </a:lnTo>
                <a:lnTo>
                  <a:pt x="553" y="749"/>
                </a:lnTo>
                <a:lnTo>
                  <a:pt x="567" y="745"/>
                </a:lnTo>
                <a:lnTo>
                  <a:pt x="579" y="741"/>
                </a:lnTo>
                <a:lnTo>
                  <a:pt x="591" y="736"/>
                </a:lnTo>
                <a:lnTo>
                  <a:pt x="602" y="728"/>
                </a:lnTo>
                <a:lnTo>
                  <a:pt x="613" y="721"/>
                </a:lnTo>
                <a:lnTo>
                  <a:pt x="621" y="711"/>
                </a:lnTo>
                <a:lnTo>
                  <a:pt x="631" y="702"/>
                </a:lnTo>
                <a:lnTo>
                  <a:pt x="638" y="692"/>
                </a:lnTo>
                <a:lnTo>
                  <a:pt x="646" y="681"/>
                </a:lnTo>
                <a:lnTo>
                  <a:pt x="651" y="669"/>
                </a:lnTo>
                <a:lnTo>
                  <a:pt x="655" y="657"/>
                </a:lnTo>
                <a:lnTo>
                  <a:pt x="659" y="643"/>
                </a:lnTo>
                <a:lnTo>
                  <a:pt x="661" y="630"/>
                </a:lnTo>
                <a:lnTo>
                  <a:pt x="661" y="617"/>
                </a:lnTo>
                <a:lnTo>
                  <a:pt x="661" y="585"/>
                </a:lnTo>
                <a:lnTo>
                  <a:pt x="687" y="583"/>
                </a:lnTo>
                <a:lnTo>
                  <a:pt x="710" y="578"/>
                </a:lnTo>
                <a:lnTo>
                  <a:pt x="733" y="571"/>
                </a:lnTo>
                <a:lnTo>
                  <a:pt x="756" y="561"/>
                </a:lnTo>
                <a:lnTo>
                  <a:pt x="777" y="550"/>
                </a:lnTo>
                <a:lnTo>
                  <a:pt x="796" y="537"/>
                </a:lnTo>
                <a:lnTo>
                  <a:pt x="816" y="522"/>
                </a:lnTo>
                <a:lnTo>
                  <a:pt x="833" y="506"/>
                </a:lnTo>
                <a:lnTo>
                  <a:pt x="847" y="488"/>
                </a:lnTo>
                <a:lnTo>
                  <a:pt x="862" y="469"/>
                </a:lnTo>
                <a:lnTo>
                  <a:pt x="874" y="448"/>
                </a:lnTo>
                <a:lnTo>
                  <a:pt x="884" y="426"/>
                </a:lnTo>
                <a:lnTo>
                  <a:pt x="891" y="404"/>
                </a:lnTo>
                <a:lnTo>
                  <a:pt x="897" y="380"/>
                </a:lnTo>
                <a:lnTo>
                  <a:pt x="899" y="368"/>
                </a:lnTo>
                <a:lnTo>
                  <a:pt x="901" y="356"/>
                </a:lnTo>
                <a:lnTo>
                  <a:pt x="902" y="344"/>
                </a:lnTo>
                <a:lnTo>
                  <a:pt x="902" y="330"/>
                </a:lnTo>
                <a:lnTo>
                  <a:pt x="902" y="318"/>
                </a:lnTo>
                <a:lnTo>
                  <a:pt x="901" y="306"/>
                </a:lnTo>
                <a:lnTo>
                  <a:pt x="899" y="293"/>
                </a:lnTo>
                <a:lnTo>
                  <a:pt x="897" y="280"/>
                </a:lnTo>
                <a:lnTo>
                  <a:pt x="892" y="257"/>
                </a:lnTo>
                <a:lnTo>
                  <a:pt x="884" y="234"/>
                </a:lnTo>
                <a:lnTo>
                  <a:pt x="874" y="212"/>
                </a:lnTo>
                <a:lnTo>
                  <a:pt x="862" y="192"/>
                </a:lnTo>
                <a:lnTo>
                  <a:pt x="847" y="172"/>
                </a:lnTo>
                <a:lnTo>
                  <a:pt x="833" y="155"/>
                </a:lnTo>
                <a:lnTo>
                  <a:pt x="816" y="138"/>
                </a:lnTo>
                <a:lnTo>
                  <a:pt x="796" y="124"/>
                </a:lnTo>
                <a:lnTo>
                  <a:pt x="777" y="110"/>
                </a:lnTo>
                <a:lnTo>
                  <a:pt x="756" y="99"/>
                </a:lnTo>
                <a:lnTo>
                  <a:pt x="733" y="91"/>
                </a:lnTo>
                <a:lnTo>
                  <a:pt x="710" y="84"/>
                </a:lnTo>
                <a:lnTo>
                  <a:pt x="687" y="79"/>
                </a:lnTo>
                <a:lnTo>
                  <a:pt x="661" y="75"/>
                </a:lnTo>
                <a:close/>
              </a:path>
            </a:pathLst>
          </a:cu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A719961E-D137-485C-96AD-4DB935173A87}"/>
              </a:ext>
            </a:extLst>
          </p:cNvPr>
          <p:cNvGrpSpPr/>
          <p:nvPr/>
        </p:nvGrpSpPr>
        <p:grpSpPr>
          <a:xfrm>
            <a:off x="5753361" y="2101943"/>
            <a:ext cx="274638" cy="285750"/>
            <a:chOff x="1455738" y="1354138"/>
            <a:chExt cx="274638" cy="285750"/>
          </a:xfrm>
          <a:solidFill>
            <a:schemeClr val="bg1"/>
          </a:solidFill>
          <a:effectLst/>
        </p:grpSpPr>
        <p:sp>
          <p:nvSpPr>
            <p:cNvPr id="46" name="Freeform 1269">
              <a:extLst>
                <a:ext uri="{FF2B5EF4-FFF2-40B4-BE49-F238E27FC236}">
                  <a16:creationId xmlns:a16="http://schemas.microsoft.com/office/drawing/2014/main" id="{184D1AAE-75B7-4DA9-B5FF-1662F930345F}"/>
                </a:ext>
              </a:extLst>
            </p:cNvPr>
            <p:cNvSpPr>
              <a:spLocks noEditPoints="1"/>
            </p:cNvSpPr>
            <p:nvPr/>
          </p:nvSpPr>
          <p:spPr bwMode="auto">
            <a:xfrm>
              <a:off x="1455738" y="1554163"/>
              <a:ext cx="57150" cy="85725"/>
            </a:xfrm>
            <a:custGeom>
              <a:avLst/>
              <a:gdLst>
                <a:gd name="T0" fmla="*/ 76 w 181"/>
                <a:gd name="T1" fmla="*/ 210 h 270"/>
                <a:gd name="T2" fmla="*/ 69 w 181"/>
                <a:gd name="T3" fmla="*/ 209 h 270"/>
                <a:gd name="T4" fmla="*/ 65 w 181"/>
                <a:gd name="T5" fmla="*/ 205 h 270"/>
                <a:gd name="T6" fmla="*/ 61 w 181"/>
                <a:gd name="T7" fmla="*/ 200 h 270"/>
                <a:gd name="T8" fmla="*/ 60 w 181"/>
                <a:gd name="T9" fmla="*/ 195 h 270"/>
                <a:gd name="T10" fmla="*/ 61 w 181"/>
                <a:gd name="T11" fmla="*/ 189 h 270"/>
                <a:gd name="T12" fmla="*/ 65 w 181"/>
                <a:gd name="T13" fmla="*/ 185 h 270"/>
                <a:gd name="T14" fmla="*/ 69 w 181"/>
                <a:gd name="T15" fmla="*/ 181 h 270"/>
                <a:gd name="T16" fmla="*/ 76 w 181"/>
                <a:gd name="T17" fmla="*/ 180 h 270"/>
                <a:gd name="T18" fmla="*/ 82 w 181"/>
                <a:gd name="T19" fmla="*/ 181 h 270"/>
                <a:gd name="T20" fmla="*/ 86 w 181"/>
                <a:gd name="T21" fmla="*/ 185 h 270"/>
                <a:gd name="T22" fmla="*/ 89 w 181"/>
                <a:gd name="T23" fmla="*/ 189 h 270"/>
                <a:gd name="T24" fmla="*/ 90 w 181"/>
                <a:gd name="T25" fmla="*/ 195 h 270"/>
                <a:gd name="T26" fmla="*/ 89 w 181"/>
                <a:gd name="T27" fmla="*/ 200 h 270"/>
                <a:gd name="T28" fmla="*/ 86 w 181"/>
                <a:gd name="T29" fmla="*/ 205 h 270"/>
                <a:gd name="T30" fmla="*/ 82 w 181"/>
                <a:gd name="T31" fmla="*/ 209 h 270"/>
                <a:gd name="T32" fmla="*/ 76 w 181"/>
                <a:gd name="T33" fmla="*/ 210 h 270"/>
                <a:gd name="T34" fmla="*/ 165 w 181"/>
                <a:gd name="T35" fmla="*/ 0 h 270"/>
                <a:gd name="T36" fmla="*/ 15 w 181"/>
                <a:gd name="T37" fmla="*/ 0 h 270"/>
                <a:gd name="T38" fmla="*/ 10 w 181"/>
                <a:gd name="T39" fmla="*/ 0 h 270"/>
                <a:gd name="T40" fmla="*/ 5 w 181"/>
                <a:gd name="T41" fmla="*/ 4 h 270"/>
                <a:gd name="T42" fmla="*/ 1 w 181"/>
                <a:gd name="T43" fmla="*/ 9 h 270"/>
                <a:gd name="T44" fmla="*/ 0 w 181"/>
                <a:gd name="T45" fmla="*/ 15 h 270"/>
                <a:gd name="T46" fmla="*/ 0 w 181"/>
                <a:gd name="T47" fmla="*/ 255 h 270"/>
                <a:gd name="T48" fmla="*/ 1 w 181"/>
                <a:gd name="T49" fmla="*/ 261 h 270"/>
                <a:gd name="T50" fmla="*/ 5 w 181"/>
                <a:gd name="T51" fmla="*/ 266 h 270"/>
                <a:gd name="T52" fmla="*/ 10 w 181"/>
                <a:gd name="T53" fmla="*/ 268 h 270"/>
                <a:gd name="T54" fmla="*/ 15 w 181"/>
                <a:gd name="T55" fmla="*/ 270 h 270"/>
                <a:gd name="T56" fmla="*/ 165 w 181"/>
                <a:gd name="T57" fmla="*/ 270 h 270"/>
                <a:gd name="T58" fmla="*/ 171 w 181"/>
                <a:gd name="T59" fmla="*/ 268 h 270"/>
                <a:gd name="T60" fmla="*/ 176 w 181"/>
                <a:gd name="T61" fmla="*/ 266 h 270"/>
                <a:gd name="T62" fmla="*/ 180 w 181"/>
                <a:gd name="T63" fmla="*/ 261 h 270"/>
                <a:gd name="T64" fmla="*/ 181 w 181"/>
                <a:gd name="T65" fmla="*/ 255 h 270"/>
                <a:gd name="T66" fmla="*/ 181 w 181"/>
                <a:gd name="T67" fmla="*/ 15 h 270"/>
                <a:gd name="T68" fmla="*/ 180 w 181"/>
                <a:gd name="T69" fmla="*/ 9 h 270"/>
                <a:gd name="T70" fmla="*/ 176 w 181"/>
                <a:gd name="T71" fmla="*/ 4 h 270"/>
                <a:gd name="T72" fmla="*/ 171 w 181"/>
                <a:gd name="T73" fmla="*/ 0 h 270"/>
                <a:gd name="T74" fmla="*/ 165 w 181"/>
                <a:gd name="T75"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1" h="270">
                  <a:moveTo>
                    <a:pt x="76" y="210"/>
                  </a:moveTo>
                  <a:lnTo>
                    <a:pt x="69" y="209"/>
                  </a:lnTo>
                  <a:lnTo>
                    <a:pt x="65" y="205"/>
                  </a:lnTo>
                  <a:lnTo>
                    <a:pt x="61" y="200"/>
                  </a:lnTo>
                  <a:lnTo>
                    <a:pt x="60" y="195"/>
                  </a:lnTo>
                  <a:lnTo>
                    <a:pt x="61" y="189"/>
                  </a:lnTo>
                  <a:lnTo>
                    <a:pt x="65" y="185"/>
                  </a:lnTo>
                  <a:lnTo>
                    <a:pt x="69" y="181"/>
                  </a:lnTo>
                  <a:lnTo>
                    <a:pt x="76" y="180"/>
                  </a:lnTo>
                  <a:lnTo>
                    <a:pt x="82" y="181"/>
                  </a:lnTo>
                  <a:lnTo>
                    <a:pt x="86" y="185"/>
                  </a:lnTo>
                  <a:lnTo>
                    <a:pt x="89" y="189"/>
                  </a:lnTo>
                  <a:lnTo>
                    <a:pt x="90" y="195"/>
                  </a:lnTo>
                  <a:lnTo>
                    <a:pt x="89" y="200"/>
                  </a:lnTo>
                  <a:lnTo>
                    <a:pt x="86" y="205"/>
                  </a:lnTo>
                  <a:lnTo>
                    <a:pt x="82" y="209"/>
                  </a:lnTo>
                  <a:lnTo>
                    <a:pt x="76" y="210"/>
                  </a:lnTo>
                  <a:close/>
                  <a:moveTo>
                    <a:pt x="165" y="0"/>
                  </a:moveTo>
                  <a:lnTo>
                    <a:pt x="15" y="0"/>
                  </a:lnTo>
                  <a:lnTo>
                    <a:pt x="10" y="0"/>
                  </a:lnTo>
                  <a:lnTo>
                    <a:pt x="5" y="4"/>
                  </a:lnTo>
                  <a:lnTo>
                    <a:pt x="1" y="9"/>
                  </a:lnTo>
                  <a:lnTo>
                    <a:pt x="0" y="15"/>
                  </a:lnTo>
                  <a:lnTo>
                    <a:pt x="0" y="255"/>
                  </a:lnTo>
                  <a:lnTo>
                    <a:pt x="1" y="261"/>
                  </a:lnTo>
                  <a:lnTo>
                    <a:pt x="5" y="266"/>
                  </a:lnTo>
                  <a:lnTo>
                    <a:pt x="10" y="268"/>
                  </a:lnTo>
                  <a:lnTo>
                    <a:pt x="15" y="270"/>
                  </a:lnTo>
                  <a:lnTo>
                    <a:pt x="165" y="270"/>
                  </a:lnTo>
                  <a:lnTo>
                    <a:pt x="171" y="268"/>
                  </a:lnTo>
                  <a:lnTo>
                    <a:pt x="176" y="266"/>
                  </a:lnTo>
                  <a:lnTo>
                    <a:pt x="180" y="261"/>
                  </a:lnTo>
                  <a:lnTo>
                    <a:pt x="181" y="255"/>
                  </a:lnTo>
                  <a:lnTo>
                    <a:pt x="181" y="15"/>
                  </a:lnTo>
                  <a:lnTo>
                    <a:pt x="180" y="9"/>
                  </a:lnTo>
                  <a:lnTo>
                    <a:pt x="176" y="4"/>
                  </a:lnTo>
                  <a:lnTo>
                    <a:pt x="171" y="0"/>
                  </a:lnTo>
                  <a:lnTo>
                    <a:pt x="1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270">
              <a:extLst>
                <a:ext uri="{FF2B5EF4-FFF2-40B4-BE49-F238E27FC236}">
                  <a16:creationId xmlns:a16="http://schemas.microsoft.com/office/drawing/2014/main" id="{4724EE9B-5E09-4BBC-B6D2-DDACA8340F59}"/>
                </a:ext>
              </a:extLst>
            </p:cNvPr>
            <p:cNvSpPr>
              <a:spLocks/>
            </p:cNvSpPr>
            <p:nvPr/>
          </p:nvSpPr>
          <p:spPr bwMode="auto">
            <a:xfrm>
              <a:off x="1522413" y="1563688"/>
              <a:ext cx="192088" cy="66675"/>
            </a:xfrm>
            <a:custGeom>
              <a:avLst/>
              <a:gdLst>
                <a:gd name="T0" fmla="*/ 307 w 603"/>
                <a:gd name="T1" fmla="*/ 91 h 211"/>
                <a:gd name="T2" fmla="*/ 307 w 603"/>
                <a:gd name="T3" fmla="*/ 90 h 211"/>
                <a:gd name="T4" fmla="*/ 306 w 603"/>
                <a:gd name="T5" fmla="*/ 90 h 211"/>
                <a:gd name="T6" fmla="*/ 297 w 603"/>
                <a:gd name="T7" fmla="*/ 79 h 211"/>
                <a:gd name="T8" fmla="*/ 282 w 603"/>
                <a:gd name="T9" fmla="*/ 66 h 211"/>
                <a:gd name="T10" fmla="*/ 264 w 603"/>
                <a:gd name="T11" fmla="*/ 51 h 211"/>
                <a:gd name="T12" fmla="*/ 242 w 603"/>
                <a:gd name="T13" fmla="*/ 35 h 211"/>
                <a:gd name="T14" fmla="*/ 229 w 603"/>
                <a:gd name="T15" fmla="*/ 29 h 211"/>
                <a:gd name="T16" fmla="*/ 215 w 603"/>
                <a:gd name="T17" fmla="*/ 22 h 211"/>
                <a:gd name="T18" fmla="*/ 199 w 603"/>
                <a:gd name="T19" fmla="*/ 16 h 211"/>
                <a:gd name="T20" fmla="*/ 184 w 603"/>
                <a:gd name="T21" fmla="*/ 11 h 211"/>
                <a:gd name="T22" fmla="*/ 165 w 603"/>
                <a:gd name="T23" fmla="*/ 6 h 211"/>
                <a:gd name="T24" fmla="*/ 147 w 603"/>
                <a:gd name="T25" fmla="*/ 4 h 211"/>
                <a:gd name="T26" fmla="*/ 128 w 603"/>
                <a:gd name="T27" fmla="*/ 1 h 211"/>
                <a:gd name="T28" fmla="*/ 106 w 603"/>
                <a:gd name="T29" fmla="*/ 0 h 211"/>
                <a:gd name="T30" fmla="*/ 16 w 603"/>
                <a:gd name="T31" fmla="*/ 0 h 211"/>
                <a:gd name="T32" fmla="*/ 10 w 603"/>
                <a:gd name="T33" fmla="*/ 1 h 211"/>
                <a:gd name="T34" fmla="*/ 5 w 603"/>
                <a:gd name="T35" fmla="*/ 5 h 211"/>
                <a:gd name="T36" fmla="*/ 2 w 603"/>
                <a:gd name="T37" fmla="*/ 10 h 211"/>
                <a:gd name="T38" fmla="*/ 0 w 603"/>
                <a:gd name="T39" fmla="*/ 16 h 211"/>
                <a:gd name="T40" fmla="*/ 0 w 603"/>
                <a:gd name="T41" fmla="*/ 196 h 211"/>
                <a:gd name="T42" fmla="*/ 2 w 603"/>
                <a:gd name="T43" fmla="*/ 202 h 211"/>
                <a:gd name="T44" fmla="*/ 5 w 603"/>
                <a:gd name="T45" fmla="*/ 207 h 211"/>
                <a:gd name="T46" fmla="*/ 10 w 603"/>
                <a:gd name="T47" fmla="*/ 210 h 211"/>
                <a:gd name="T48" fmla="*/ 16 w 603"/>
                <a:gd name="T49" fmla="*/ 211 h 211"/>
                <a:gd name="T50" fmla="*/ 587 w 603"/>
                <a:gd name="T51" fmla="*/ 211 h 211"/>
                <a:gd name="T52" fmla="*/ 593 w 603"/>
                <a:gd name="T53" fmla="*/ 210 h 211"/>
                <a:gd name="T54" fmla="*/ 598 w 603"/>
                <a:gd name="T55" fmla="*/ 207 h 211"/>
                <a:gd name="T56" fmla="*/ 601 w 603"/>
                <a:gd name="T57" fmla="*/ 202 h 211"/>
                <a:gd name="T58" fmla="*/ 603 w 603"/>
                <a:gd name="T59" fmla="*/ 196 h 211"/>
                <a:gd name="T60" fmla="*/ 601 w 603"/>
                <a:gd name="T61" fmla="*/ 190 h 211"/>
                <a:gd name="T62" fmla="*/ 600 w 603"/>
                <a:gd name="T63" fmla="*/ 183 h 211"/>
                <a:gd name="T64" fmla="*/ 599 w 603"/>
                <a:gd name="T65" fmla="*/ 177 h 211"/>
                <a:gd name="T66" fmla="*/ 595 w 603"/>
                <a:gd name="T67" fmla="*/ 171 h 211"/>
                <a:gd name="T68" fmla="*/ 592 w 603"/>
                <a:gd name="T69" fmla="*/ 165 h 211"/>
                <a:gd name="T70" fmla="*/ 588 w 603"/>
                <a:gd name="T71" fmla="*/ 159 h 211"/>
                <a:gd name="T72" fmla="*/ 583 w 603"/>
                <a:gd name="T73" fmla="*/ 154 h 211"/>
                <a:gd name="T74" fmla="*/ 577 w 603"/>
                <a:gd name="T75" fmla="*/ 149 h 211"/>
                <a:gd name="T76" fmla="*/ 564 w 603"/>
                <a:gd name="T77" fmla="*/ 140 h 211"/>
                <a:gd name="T78" fmla="*/ 548 w 603"/>
                <a:gd name="T79" fmla="*/ 131 h 211"/>
                <a:gd name="T80" fmla="*/ 530 w 603"/>
                <a:gd name="T81" fmla="*/ 124 h 211"/>
                <a:gd name="T82" fmla="*/ 510 w 603"/>
                <a:gd name="T83" fmla="*/ 117 h 211"/>
                <a:gd name="T84" fmla="*/ 488 w 603"/>
                <a:gd name="T85" fmla="*/ 111 h 211"/>
                <a:gd name="T86" fmla="*/ 467 w 603"/>
                <a:gd name="T87" fmla="*/ 106 h 211"/>
                <a:gd name="T88" fmla="*/ 441 w 603"/>
                <a:gd name="T89" fmla="*/ 101 h 211"/>
                <a:gd name="T90" fmla="*/ 417 w 603"/>
                <a:gd name="T91" fmla="*/ 97 h 211"/>
                <a:gd name="T92" fmla="*/ 390 w 603"/>
                <a:gd name="T93" fmla="*/ 95 h 211"/>
                <a:gd name="T94" fmla="*/ 363 w 603"/>
                <a:gd name="T95" fmla="*/ 92 h 211"/>
                <a:gd name="T96" fmla="*/ 335 w 603"/>
                <a:gd name="T97" fmla="*/ 91 h 211"/>
                <a:gd name="T98" fmla="*/ 307 w 603"/>
                <a:gd name="T99" fmla="*/ 9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3" h="211">
                  <a:moveTo>
                    <a:pt x="307" y="91"/>
                  </a:moveTo>
                  <a:lnTo>
                    <a:pt x="307" y="90"/>
                  </a:lnTo>
                  <a:lnTo>
                    <a:pt x="306" y="90"/>
                  </a:lnTo>
                  <a:lnTo>
                    <a:pt x="297" y="79"/>
                  </a:lnTo>
                  <a:lnTo>
                    <a:pt x="282" y="66"/>
                  </a:lnTo>
                  <a:lnTo>
                    <a:pt x="264" y="51"/>
                  </a:lnTo>
                  <a:lnTo>
                    <a:pt x="242" y="35"/>
                  </a:lnTo>
                  <a:lnTo>
                    <a:pt x="229" y="29"/>
                  </a:lnTo>
                  <a:lnTo>
                    <a:pt x="215" y="22"/>
                  </a:lnTo>
                  <a:lnTo>
                    <a:pt x="199" y="16"/>
                  </a:lnTo>
                  <a:lnTo>
                    <a:pt x="184" y="11"/>
                  </a:lnTo>
                  <a:lnTo>
                    <a:pt x="165" y="6"/>
                  </a:lnTo>
                  <a:lnTo>
                    <a:pt x="147" y="4"/>
                  </a:lnTo>
                  <a:lnTo>
                    <a:pt x="128" y="1"/>
                  </a:lnTo>
                  <a:lnTo>
                    <a:pt x="106" y="0"/>
                  </a:lnTo>
                  <a:lnTo>
                    <a:pt x="16" y="0"/>
                  </a:lnTo>
                  <a:lnTo>
                    <a:pt x="10" y="1"/>
                  </a:lnTo>
                  <a:lnTo>
                    <a:pt x="5" y="5"/>
                  </a:lnTo>
                  <a:lnTo>
                    <a:pt x="2" y="10"/>
                  </a:lnTo>
                  <a:lnTo>
                    <a:pt x="0" y="16"/>
                  </a:lnTo>
                  <a:lnTo>
                    <a:pt x="0" y="196"/>
                  </a:lnTo>
                  <a:lnTo>
                    <a:pt x="2" y="202"/>
                  </a:lnTo>
                  <a:lnTo>
                    <a:pt x="5" y="207"/>
                  </a:lnTo>
                  <a:lnTo>
                    <a:pt x="10" y="210"/>
                  </a:lnTo>
                  <a:lnTo>
                    <a:pt x="16" y="211"/>
                  </a:lnTo>
                  <a:lnTo>
                    <a:pt x="587" y="211"/>
                  </a:lnTo>
                  <a:lnTo>
                    <a:pt x="593" y="210"/>
                  </a:lnTo>
                  <a:lnTo>
                    <a:pt x="598" y="207"/>
                  </a:lnTo>
                  <a:lnTo>
                    <a:pt x="601" y="202"/>
                  </a:lnTo>
                  <a:lnTo>
                    <a:pt x="603" y="196"/>
                  </a:lnTo>
                  <a:lnTo>
                    <a:pt x="601" y="190"/>
                  </a:lnTo>
                  <a:lnTo>
                    <a:pt x="600" y="183"/>
                  </a:lnTo>
                  <a:lnTo>
                    <a:pt x="599" y="177"/>
                  </a:lnTo>
                  <a:lnTo>
                    <a:pt x="595" y="171"/>
                  </a:lnTo>
                  <a:lnTo>
                    <a:pt x="592" y="165"/>
                  </a:lnTo>
                  <a:lnTo>
                    <a:pt x="588" y="159"/>
                  </a:lnTo>
                  <a:lnTo>
                    <a:pt x="583" y="154"/>
                  </a:lnTo>
                  <a:lnTo>
                    <a:pt x="577" y="149"/>
                  </a:lnTo>
                  <a:lnTo>
                    <a:pt x="564" y="140"/>
                  </a:lnTo>
                  <a:lnTo>
                    <a:pt x="548" y="131"/>
                  </a:lnTo>
                  <a:lnTo>
                    <a:pt x="530" y="124"/>
                  </a:lnTo>
                  <a:lnTo>
                    <a:pt x="510" y="117"/>
                  </a:lnTo>
                  <a:lnTo>
                    <a:pt x="488" y="111"/>
                  </a:lnTo>
                  <a:lnTo>
                    <a:pt x="467" y="106"/>
                  </a:lnTo>
                  <a:lnTo>
                    <a:pt x="441" y="101"/>
                  </a:lnTo>
                  <a:lnTo>
                    <a:pt x="417" y="97"/>
                  </a:lnTo>
                  <a:lnTo>
                    <a:pt x="390" y="95"/>
                  </a:lnTo>
                  <a:lnTo>
                    <a:pt x="363" y="92"/>
                  </a:lnTo>
                  <a:lnTo>
                    <a:pt x="335" y="91"/>
                  </a:lnTo>
                  <a:lnTo>
                    <a:pt x="307"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271">
              <a:extLst>
                <a:ext uri="{FF2B5EF4-FFF2-40B4-BE49-F238E27FC236}">
                  <a16:creationId xmlns:a16="http://schemas.microsoft.com/office/drawing/2014/main" id="{A9A80985-5667-40E2-9F29-5FAE3F2425BD}"/>
                </a:ext>
              </a:extLst>
            </p:cNvPr>
            <p:cNvSpPr>
              <a:spLocks/>
            </p:cNvSpPr>
            <p:nvPr/>
          </p:nvSpPr>
          <p:spPr bwMode="auto">
            <a:xfrm>
              <a:off x="1468438" y="1516063"/>
              <a:ext cx="261938" cy="28575"/>
            </a:xfrm>
            <a:custGeom>
              <a:avLst/>
              <a:gdLst>
                <a:gd name="T0" fmla="*/ 90 w 825"/>
                <a:gd name="T1" fmla="*/ 91 h 91"/>
                <a:gd name="T2" fmla="*/ 729 w 825"/>
                <a:gd name="T3" fmla="*/ 91 h 91"/>
                <a:gd name="T4" fmla="*/ 733 w 825"/>
                <a:gd name="T5" fmla="*/ 89 h 91"/>
                <a:gd name="T6" fmla="*/ 738 w 825"/>
                <a:gd name="T7" fmla="*/ 86 h 91"/>
                <a:gd name="T8" fmla="*/ 825 w 825"/>
                <a:gd name="T9" fmla="*/ 0 h 91"/>
                <a:gd name="T10" fmla="*/ 782 w 825"/>
                <a:gd name="T11" fmla="*/ 0 h 91"/>
                <a:gd name="T12" fmla="*/ 774 w 825"/>
                <a:gd name="T13" fmla="*/ 0 h 91"/>
                <a:gd name="T14" fmla="*/ 51 w 825"/>
                <a:gd name="T15" fmla="*/ 0 h 91"/>
                <a:gd name="T16" fmla="*/ 40 w 825"/>
                <a:gd name="T17" fmla="*/ 0 h 91"/>
                <a:gd name="T18" fmla="*/ 0 w 825"/>
                <a:gd name="T19" fmla="*/ 0 h 91"/>
                <a:gd name="T20" fmla="*/ 79 w 825"/>
                <a:gd name="T21" fmla="*/ 86 h 91"/>
                <a:gd name="T22" fmla="*/ 81 w 825"/>
                <a:gd name="T23" fmla="*/ 87 h 91"/>
                <a:gd name="T24" fmla="*/ 84 w 825"/>
                <a:gd name="T25" fmla="*/ 89 h 91"/>
                <a:gd name="T26" fmla="*/ 86 w 825"/>
                <a:gd name="T27" fmla="*/ 89 h 91"/>
                <a:gd name="T28" fmla="*/ 90 w 825"/>
                <a:gd name="T29"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91">
                  <a:moveTo>
                    <a:pt x="90" y="91"/>
                  </a:moveTo>
                  <a:lnTo>
                    <a:pt x="729" y="91"/>
                  </a:lnTo>
                  <a:lnTo>
                    <a:pt x="733" y="89"/>
                  </a:lnTo>
                  <a:lnTo>
                    <a:pt x="738" y="86"/>
                  </a:lnTo>
                  <a:lnTo>
                    <a:pt x="825" y="0"/>
                  </a:lnTo>
                  <a:lnTo>
                    <a:pt x="782" y="0"/>
                  </a:lnTo>
                  <a:lnTo>
                    <a:pt x="774" y="0"/>
                  </a:lnTo>
                  <a:lnTo>
                    <a:pt x="51" y="0"/>
                  </a:lnTo>
                  <a:lnTo>
                    <a:pt x="40" y="0"/>
                  </a:lnTo>
                  <a:lnTo>
                    <a:pt x="0" y="0"/>
                  </a:lnTo>
                  <a:lnTo>
                    <a:pt x="79" y="86"/>
                  </a:lnTo>
                  <a:lnTo>
                    <a:pt x="81" y="87"/>
                  </a:lnTo>
                  <a:lnTo>
                    <a:pt x="84" y="89"/>
                  </a:lnTo>
                  <a:lnTo>
                    <a:pt x="86" y="89"/>
                  </a:lnTo>
                  <a:lnTo>
                    <a:pt x="90"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1272">
              <a:extLst>
                <a:ext uri="{FF2B5EF4-FFF2-40B4-BE49-F238E27FC236}">
                  <a16:creationId xmlns:a16="http://schemas.microsoft.com/office/drawing/2014/main" id="{2F5C6007-0105-4592-9BB2-9BBD11DA932E}"/>
                </a:ext>
              </a:extLst>
            </p:cNvPr>
            <p:cNvSpPr>
              <a:spLocks noEditPoints="1"/>
            </p:cNvSpPr>
            <p:nvPr/>
          </p:nvSpPr>
          <p:spPr bwMode="auto">
            <a:xfrm>
              <a:off x="1479550" y="1354138"/>
              <a:ext cx="238125" cy="152400"/>
            </a:xfrm>
            <a:custGeom>
              <a:avLst/>
              <a:gdLst>
                <a:gd name="T0" fmla="*/ 171 w 751"/>
                <a:gd name="T1" fmla="*/ 297 h 482"/>
                <a:gd name="T2" fmla="*/ 225 w 751"/>
                <a:gd name="T3" fmla="*/ 254 h 482"/>
                <a:gd name="T4" fmla="*/ 289 w 751"/>
                <a:gd name="T5" fmla="*/ 225 h 482"/>
                <a:gd name="T6" fmla="*/ 358 w 751"/>
                <a:gd name="T7" fmla="*/ 212 h 482"/>
                <a:gd name="T8" fmla="*/ 389 w 751"/>
                <a:gd name="T9" fmla="*/ 220 h 482"/>
                <a:gd name="T10" fmla="*/ 381 w 751"/>
                <a:gd name="T11" fmla="*/ 240 h 482"/>
                <a:gd name="T12" fmla="*/ 329 w 751"/>
                <a:gd name="T13" fmla="*/ 246 h 482"/>
                <a:gd name="T14" fmla="*/ 269 w 751"/>
                <a:gd name="T15" fmla="*/ 265 h 482"/>
                <a:gd name="T16" fmla="*/ 216 w 751"/>
                <a:gd name="T17" fmla="*/ 297 h 482"/>
                <a:gd name="T18" fmla="*/ 172 w 751"/>
                <a:gd name="T19" fmla="*/ 342 h 482"/>
                <a:gd name="T20" fmla="*/ 154 w 751"/>
                <a:gd name="T21" fmla="*/ 361 h 482"/>
                <a:gd name="T22" fmla="*/ 138 w 751"/>
                <a:gd name="T23" fmla="*/ 355 h 482"/>
                <a:gd name="T24" fmla="*/ 376 w 751"/>
                <a:gd name="T25" fmla="*/ 31 h 482"/>
                <a:gd name="T26" fmla="*/ 407 w 751"/>
                <a:gd name="T27" fmla="*/ 44 h 482"/>
                <a:gd name="T28" fmla="*/ 421 w 751"/>
                <a:gd name="T29" fmla="*/ 76 h 482"/>
                <a:gd name="T30" fmla="*/ 407 w 751"/>
                <a:gd name="T31" fmla="*/ 107 h 482"/>
                <a:gd name="T32" fmla="*/ 376 w 751"/>
                <a:gd name="T33" fmla="*/ 121 h 482"/>
                <a:gd name="T34" fmla="*/ 343 w 751"/>
                <a:gd name="T35" fmla="*/ 107 h 482"/>
                <a:gd name="T36" fmla="*/ 330 w 751"/>
                <a:gd name="T37" fmla="*/ 76 h 482"/>
                <a:gd name="T38" fmla="*/ 343 w 751"/>
                <a:gd name="T39" fmla="*/ 44 h 482"/>
                <a:gd name="T40" fmla="*/ 376 w 751"/>
                <a:gd name="T41" fmla="*/ 31 h 482"/>
                <a:gd name="T42" fmla="*/ 749 w 751"/>
                <a:gd name="T43" fmla="*/ 448 h 482"/>
                <a:gd name="T44" fmla="*/ 734 w 751"/>
                <a:gd name="T45" fmla="*/ 384 h 482"/>
                <a:gd name="T46" fmla="*/ 709 w 751"/>
                <a:gd name="T47" fmla="*/ 325 h 482"/>
                <a:gd name="T48" fmla="*/ 675 w 751"/>
                <a:gd name="T49" fmla="*/ 270 h 482"/>
                <a:gd name="T50" fmla="*/ 632 w 751"/>
                <a:gd name="T51" fmla="*/ 223 h 482"/>
                <a:gd name="T52" fmla="*/ 582 w 751"/>
                <a:gd name="T53" fmla="*/ 184 h 482"/>
                <a:gd name="T54" fmla="*/ 525 w 751"/>
                <a:gd name="T55" fmla="*/ 152 h 482"/>
                <a:gd name="T56" fmla="*/ 465 w 751"/>
                <a:gd name="T57" fmla="*/ 132 h 482"/>
                <a:gd name="T58" fmla="*/ 445 w 751"/>
                <a:gd name="T59" fmla="*/ 102 h 482"/>
                <a:gd name="T60" fmla="*/ 450 w 751"/>
                <a:gd name="T61" fmla="*/ 76 h 482"/>
                <a:gd name="T62" fmla="*/ 445 w 751"/>
                <a:gd name="T63" fmla="*/ 47 h 482"/>
                <a:gd name="T64" fmla="*/ 428 w 751"/>
                <a:gd name="T65" fmla="*/ 22 h 482"/>
                <a:gd name="T66" fmla="*/ 405 w 751"/>
                <a:gd name="T67" fmla="*/ 7 h 482"/>
                <a:gd name="T68" fmla="*/ 376 w 751"/>
                <a:gd name="T69" fmla="*/ 0 h 482"/>
                <a:gd name="T70" fmla="*/ 346 w 751"/>
                <a:gd name="T71" fmla="*/ 7 h 482"/>
                <a:gd name="T72" fmla="*/ 323 w 751"/>
                <a:gd name="T73" fmla="*/ 22 h 482"/>
                <a:gd name="T74" fmla="*/ 306 w 751"/>
                <a:gd name="T75" fmla="*/ 47 h 482"/>
                <a:gd name="T76" fmla="*/ 301 w 751"/>
                <a:gd name="T77" fmla="*/ 76 h 482"/>
                <a:gd name="T78" fmla="*/ 306 w 751"/>
                <a:gd name="T79" fmla="*/ 102 h 482"/>
                <a:gd name="T80" fmla="*/ 286 w 751"/>
                <a:gd name="T81" fmla="*/ 132 h 482"/>
                <a:gd name="T82" fmla="*/ 225 w 751"/>
                <a:gd name="T83" fmla="*/ 152 h 482"/>
                <a:gd name="T84" fmla="*/ 168 w 751"/>
                <a:gd name="T85" fmla="*/ 184 h 482"/>
                <a:gd name="T86" fmla="*/ 119 w 751"/>
                <a:gd name="T87" fmla="*/ 223 h 482"/>
                <a:gd name="T88" fmla="*/ 76 w 751"/>
                <a:gd name="T89" fmla="*/ 270 h 482"/>
                <a:gd name="T90" fmla="*/ 42 w 751"/>
                <a:gd name="T91" fmla="*/ 325 h 482"/>
                <a:gd name="T92" fmla="*/ 17 w 751"/>
                <a:gd name="T93" fmla="*/ 384 h 482"/>
                <a:gd name="T94" fmla="*/ 2 w 751"/>
                <a:gd name="T95" fmla="*/ 448 h 482"/>
                <a:gd name="T96" fmla="*/ 721 w 751"/>
                <a:gd name="T97" fmla="*/ 482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51" h="482">
                  <a:moveTo>
                    <a:pt x="138" y="338"/>
                  </a:moveTo>
                  <a:lnTo>
                    <a:pt x="148" y="323"/>
                  </a:lnTo>
                  <a:lnTo>
                    <a:pt x="160" y="310"/>
                  </a:lnTo>
                  <a:lnTo>
                    <a:pt x="171" y="297"/>
                  </a:lnTo>
                  <a:lnTo>
                    <a:pt x="184" y="285"/>
                  </a:lnTo>
                  <a:lnTo>
                    <a:pt x="197" y="274"/>
                  </a:lnTo>
                  <a:lnTo>
                    <a:pt x="211" y="263"/>
                  </a:lnTo>
                  <a:lnTo>
                    <a:pt x="225" y="254"/>
                  </a:lnTo>
                  <a:lnTo>
                    <a:pt x="241" y="245"/>
                  </a:lnTo>
                  <a:lnTo>
                    <a:pt x="256" y="237"/>
                  </a:lnTo>
                  <a:lnTo>
                    <a:pt x="273" y="231"/>
                  </a:lnTo>
                  <a:lnTo>
                    <a:pt x="289" y="225"/>
                  </a:lnTo>
                  <a:lnTo>
                    <a:pt x="306" y="220"/>
                  </a:lnTo>
                  <a:lnTo>
                    <a:pt x="323" y="217"/>
                  </a:lnTo>
                  <a:lnTo>
                    <a:pt x="340" y="214"/>
                  </a:lnTo>
                  <a:lnTo>
                    <a:pt x="358" y="212"/>
                  </a:lnTo>
                  <a:lnTo>
                    <a:pt x="376" y="212"/>
                  </a:lnTo>
                  <a:lnTo>
                    <a:pt x="381" y="213"/>
                  </a:lnTo>
                  <a:lnTo>
                    <a:pt x="386" y="215"/>
                  </a:lnTo>
                  <a:lnTo>
                    <a:pt x="389" y="220"/>
                  </a:lnTo>
                  <a:lnTo>
                    <a:pt x="390" y="226"/>
                  </a:lnTo>
                  <a:lnTo>
                    <a:pt x="389" y="232"/>
                  </a:lnTo>
                  <a:lnTo>
                    <a:pt x="386" y="237"/>
                  </a:lnTo>
                  <a:lnTo>
                    <a:pt x="381" y="240"/>
                  </a:lnTo>
                  <a:lnTo>
                    <a:pt x="376" y="241"/>
                  </a:lnTo>
                  <a:lnTo>
                    <a:pt x="359" y="242"/>
                  </a:lnTo>
                  <a:lnTo>
                    <a:pt x="343" y="243"/>
                  </a:lnTo>
                  <a:lnTo>
                    <a:pt x="329" y="246"/>
                  </a:lnTo>
                  <a:lnTo>
                    <a:pt x="313" y="249"/>
                  </a:lnTo>
                  <a:lnTo>
                    <a:pt x="298" y="253"/>
                  </a:lnTo>
                  <a:lnTo>
                    <a:pt x="284" y="259"/>
                  </a:lnTo>
                  <a:lnTo>
                    <a:pt x="269" y="265"/>
                  </a:lnTo>
                  <a:lnTo>
                    <a:pt x="255" y="271"/>
                  </a:lnTo>
                  <a:lnTo>
                    <a:pt x="241" y="280"/>
                  </a:lnTo>
                  <a:lnTo>
                    <a:pt x="228" y="288"/>
                  </a:lnTo>
                  <a:lnTo>
                    <a:pt x="216" y="297"/>
                  </a:lnTo>
                  <a:lnTo>
                    <a:pt x="204" y="308"/>
                  </a:lnTo>
                  <a:lnTo>
                    <a:pt x="193" y="319"/>
                  </a:lnTo>
                  <a:lnTo>
                    <a:pt x="182" y="329"/>
                  </a:lnTo>
                  <a:lnTo>
                    <a:pt x="172" y="342"/>
                  </a:lnTo>
                  <a:lnTo>
                    <a:pt x="162" y="355"/>
                  </a:lnTo>
                  <a:lnTo>
                    <a:pt x="160" y="357"/>
                  </a:lnTo>
                  <a:lnTo>
                    <a:pt x="157" y="360"/>
                  </a:lnTo>
                  <a:lnTo>
                    <a:pt x="154" y="361"/>
                  </a:lnTo>
                  <a:lnTo>
                    <a:pt x="150" y="362"/>
                  </a:lnTo>
                  <a:lnTo>
                    <a:pt x="146" y="361"/>
                  </a:lnTo>
                  <a:lnTo>
                    <a:pt x="142" y="359"/>
                  </a:lnTo>
                  <a:lnTo>
                    <a:pt x="138" y="355"/>
                  </a:lnTo>
                  <a:lnTo>
                    <a:pt x="136" y="350"/>
                  </a:lnTo>
                  <a:lnTo>
                    <a:pt x="136" y="344"/>
                  </a:lnTo>
                  <a:lnTo>
                    <a:pt x="138" y="338"/>
                  </a:lnTo>
                  <a:close/>
                  <a:moveTo>
                    <a:pt x="376" y="31"/>
                  </a:moveTo>
                  <a:lnTo>
                    <a:pt x="384" y="32"/>
                  </a:lnTo>
                  <a:lnTo>
                    <a:pt x="393" y="34"/>
                  </a:lnTo>
                  <a:lnTo>
                    <a:pt x="400" y="38"/>
                  </a:lnTo>
                  <a:lnTo>
                    <a:pt x="407" y="44"/>
                  </a:lnTo>
                  <a:lnTo>
                    <a:pt x="412" y="50"/>
                  </a:lnTo>
                  <a:lnTo>
                    <a:pt x="417" y="59"/>
                  </a:lnTo>
                  <a:lnTo>
                    <a:pt x="420" y="67"/>
                  </a:lnTo>
                  <a:lnTo>
                    <a:pt x="421" y="76"/>
                  </a:lnTo>
                  <a:lnTo>
                    <a:pt x="420" y="85"/>
                  </a:lnTo>
                  <a:lnTo>
                    <a:pt x="417" y="94"/>
                  </a:lnTo>
                  <a:lnTo>
                    <a:pt x="412" y="101"/>
                  </a:lnTo>
                  <a:lnTo>
                    <a:pt x="407" y="107"/>
                  </a:lnTo>
                  <a:lnTo>
                    <a:pt x="400" y="113"/>
                  </a:lnTo>
                  <a:lnTo>
                    <a:pt x="393" y="117"/>
                  </a:lnTo>
                  <a:lnTo>
                    <a:pt x="384" y="121"/>
                  </a:lnTo>
                  <a:lnTo>
                    <a:pt x="376" y="121"/>
                  </a:lnTo>
                  <a:lnTo>
                    <a:pt x="366" y="121"/>
                  </a:lnTo>
                  <a:lnTo>
                    <a:pt x="358" y="117"/>
                  </a:lnTo>
                  <a:lnTo>
                    <a:pt x="350" y="113"/>
                  </a:lnTo>
                  <a:lnTo>
                    <a:pt x="343" y="107"/>
                  </a:lnTo>
                  <a:lnTo>
                    <a:pt x="338" y="101"/>
                  </a:lnTo>
                  <a:lnTo>
                    <a:pt x="333" y="94"/>
                  </a:lnTo>
                  <a:lnTo>
                    <a:pt x="331" y="85"/>
                  </a:lnTo>
                  <a:lnTo>
                    <a:pt x="330" y="76"/>
                  </a:lnTo>
                  <a:lnTo>
                    <a:pt x="331" y="67"/>
                  </a:lnTo>
                  <a:lnTo>
                    <a:pt x="333" y="59"/>
                  </a:lnTo>
                  <a:lnTo>
                    <a:pt x="338" y="50"/>
                  </a:lnTo>
                  <a:lnTo>
                    <a:pt x="343" y="44"/>
                  </a:lnTo>
                  <a:lnTo>
                    <a:pt x="350" y="38"/>
                  </a:lnTo>
                  <a:lnTo>
                    <a:pt x="358" y="34"/>
                  </a:lnTo>
                  <a:lnTo>
                    <a:pt x="366" y="32"/>
                  </a:lnTo>
                  <a:lnTo>
                    <a:pt x="376" y="31"/>
                  </a:lnTo>
                  <a:close/>
                  <a:moveTo>
                    <a:pt x="721" y="482"/>
                  </a:moveTo>
                  <a:lnTo>
                    <a:pt x="751" y="482"/>
                  </a:lnTo>
                  <a:lnTo>
                    <a:pt x="750" y="465"/>
                  </a:lnTo>
                  <a:lnTo>
                    <a:pt x="749" y="448"/>
                  </a:lnTo>
                  <a:lnTo>
                    <a:pt x="745" y="431"/>
                  </a:lnTo>
                  <a:lnTo>
                    <a:pt x="743" y="416"/>
                  </a:lnTo>
                  <a:lnTo>
                    <a:pt x="739" y="400"/>
                  </a:lnTo>
                  <a:lnTo>
                    <a:pt x="734" y="384"/>
                  </a:lnTo>
                  <a:lnTo>
                    <a:pt x="729" y="368"/>
                  </a:lnTo>
                  <a:lnTo>
                    <a:pt x="723" y="354"/>
                  </a:lnTo>
                  <a:lnTo>
                    <a:pt x="716" y="339"/>
                  </a:lnTo>
                  <a:lnTo>
                    <a:pt x="709" y="325"/>
                  </a:lnTo>
                  <a:lnTo>
                    <a:pt x="701" y="310"/>
                  </a:lnTo>
                  <a:lnTo>
                    <a:pt x="693" y="297"/>
                  </a:lnTo>
                  <a:lnTo>
                    <a:pt x="684" y="283"/>
                  </a:lnTo>
                  <a:lnTo>
                    <a:pt x="675" y="270"/>
                  </a:lnTo>
                  <a:lnTo>
                    <a:pt x="665" y="258"/>
                  </a:lnTo>
                  <a:lnTo>
                    <a:pt x="655" y="246"/>
                  </a:lnTo>
                  <a:lnTo>
                    <a:pt x="644" y="234"/>
                  </a:lnTo>
                  <a:lnTo>
                    <a:pt x="632" y="223"/>
                  </a:lnTo>
                  <a:lnTo>
                    <a:pt x="620" y="212"/>
                  </a:lnTo>
                  <a:lnTo>
                    <a:pt x="608" y="202"/>
                  </a:lnTo>
                  <a:lnTo>
                    <a:pt x="596" y="192"/>
                  </a:lnTo>
                  <a:lnTo>
                    <a:pt x="582" y="184"/>
                  </a:lnTo>
                  <a:lnTo>
                    <a:pt x="569" y="175"/>
                  </a:lnTo>
                  <a:lnTo>
                    <a:pt x="554" y="167"/>
                  </a:lnTo>
                  <a:lnTo>
                    <a:pt x="541" y="160"/>
                  </a:lnTo>
                  <a:lnTo>
                    <a:pt x="525" y="152"/>
                  </a:lnTo>
                  <a:lnTo>
                    <a:pt x="511" y="146"/>
                  </a:lnTo>
                  <a:lnTo>
                    <a:pt x="496" y="141"/>
                  </a:lnTo>
                  <a:lnTo>
                    <a:pt x="480" y="136"/>
                  </a:lnTo>
                  <a:lnTo>
                    <a:pt x="465" y="132"/>
                  </a:lnTo>
                  <a:lnTo>
                    <a:pt x="448" y="128"/>
                  </a:lnTo>
                  <a:lnTo>
                    <a:pt x="432" y="126"/>
                  </a:lnTo>
                  <a:lnTo>
                    <a:pt x="439" y="115"/>
                  </a:lnTo>
                  <a:lnTo>
                    <a:pt x="445" y="102"/>
                  </a:lnTo>
                  <a:lnTo>
                    <a:pt x="448" y="96"/>
                  </a:lnTo>
                  <a:lnTo>
                    <a:pt x="449" y="90"/>
                  </a:lnTo>
                  <a:lnTo>
                    <a:pt x="450" y="83"/>
                  </a:lnTo>
                  <a:lnTo>
                    <a:pt x="450" y="76"/>
                  </a:lnTo>
                  <a:lnTo>
                    <a:pt x="450" y="68"/>
                  </a:lnTo>
                  <a:lnTo>
                    <a:pt x="449" y="61"/>
                  </a:lnTo>
                  <a:lnTo>
                    <a:pt x="448" y="54"/>
                  </a:lnTo>
                  <a:lnTo>
                    <a:pt x="445" y="47"/>
                  </a:lnTo>
                  <a:lnTo>
                    <a:pt x="441" y="41"/>
                  </a:lnTo>
                  <a:lnTo>
                    <a:pt x="438" y="34"/>
                  </a:lnTo>
                  <a:lnTo>
                    <a:pt x="433" y="28"/>
                  </a:lnTo>
                  <a:lnTo>
                    <a:pt x="428" y="22"/>
                  </a:lnTo>
                  <a:lnTo>
                    <a:pt x="423" y="17"/>
                  </a:lnTo>
                  <a:lnTo>
                    <a:pt x="417" y="14"/>
                  </a:lnTo>
                  <a:lnTo>
                    <a:pt x="411" y="10"/>
                  </a:lnTo>
                  <a:lnTo>
                    <a:pt x="405" y="7"/>
                  </a:lnTo>
                  <a:lnTo>
                    <a:pt x="398" y="4"/>
                  </a:lnTo>
                  <a:lnTo>
                    <a:pt x="390" y="3"/>
                  </a:lnTo>
                  <a:lnTo>
                    <a:pt x="383" y="2"/>
                  </a:lnTo>
                  <a:lnTo>
                    <a:pt x="376" y="0"/>
                  </a:lnTo>
                  <a:lnTo>
                    <a:pt x="367" y="2"/>
                  </a:lnTo>
                  <a:lnTo>
                    <a:pt x="360" y="3"/>
                  </a:lnTo>
                  <a:lnTo>
                    <a:pt x="353" y="4"/>
                  </a:lnTo>
                  <a:lnTo>
                    <a:pt x="346" y="7"/>
                  </a:lnTo>
                  <a:lnTo>
                    <a:pt x="340" y="10"/>
                  </a:lnTo>
                  <a:lnTo>
                    <a:pt x="333" y="14"/>
                  </a:lnTo>
                  <a:lnTo>
                    <a:pt x="327" y="17"/>
                  </a:lnTo>
                  <a:lnTo>
                    <a:pt x="323" y="22"/>
                  </a:lnTo>
                  <a:lnTo>
                    <a:pt x="318" y="28"/>
                  </a:lnTo>
                  <a:lnTo>
                    <a:pt x="313" y="34"/>
                  </a:lnTo>
                  <a:lnTo>
                    <a:pt x="309" y="41"/>
                  </a:lnTo>
                  <a:lnTo>
                    <a:pt x="306" y="47"/>
                  </a:lnTo>
                  <a:lnTo>
                    <a:pt x="303" y="54"/>
                  </a:lnTo>
                  <a:lnTo>
                    <a:pt x="302" y="61"/>
                  </a:lnTo>
                  <a:lnTo>
                    <a:pt x="301" y="68"/>
                  </a:lnTo>
                  <a:lnTo>
                    <a:pt x="301" y="76"/>
                  </a:lnTo>
                  <a:lnTo>
                    <a:pt x="301" y="83"/>
                  </a:lnTo>
                  <a:lnTo>
                    <a:pt x="302" y="90"/>
                  </a:lnTo>
                  <a:lnTo>
                    <a:pt x="303" y="96"/>
                  </a:lnTo>
                  <a:lnTo>
                    <a:pt x="306" y="102"/>
                  </a:lnTo>
                  <a:lnTo>
                    <a:pt x="312" y="115"/>
                  </a:lnTo>
                  <a:lnTo>
                    <a:pt x="319" y="126"/>
                  </a:lnTo>
                  <a:lnTo>
                    <a:pt x="303" y="128"/>
                  </a:lnTo>
                  <a:lnTo>
                    <a:pt x="286" y="132"/>
                  </a:lnTo>
                  <a:lnTo>
                    <a:pt x="270" y="136"/>
                  </a:lnTo>
                  <a:lnTo>
                    <a:pt x="256" y="141"/>
                  </a:lnTo>
                  <a:lnTo>
                    <a:pt x="240" y="146"/>
                  </a:lnTo>
                  <a:lnTo>
                    <a:pt x="225" y="152"/>
                  </a:lnTo>
                  <a:lnTo>
                    <a:pt x="211" y="160"/>
                  </a:lnTo>
                  <a:lnTo>
                    <a:pt x="196" y="167"/>
                  </a:lnTo>
                  <a:lnTo>
                    <a:pt x="182" y="175"/>
                  </a:lnTo>
                  <a:lnTo>
                    <a:pt x="168" y="184"/>
                  </a:lnTo>
                  <a:lnTo>
                    <a:pt x="155" y="192"/>
                  </a:lnTo>
                  <a:lnTo>
                    <a:pt x="143" y="202"/>
                  </a:lnTo>
                  <a:lnTo>
                    <a:pt x="131" y="212"/>
                  </a:lnTo>
                  <a:lnTo>
                    <a:pt x="119" y="223"/>
                  </a:lnTo>
                  <a:lnTo>
                    <a:pt x="108" y="234"/>
                  </a:lnTo>
                  <a:lnTo>
                    <a:pt x="97" y="246"/>
                  </a:lnTo>
                  <a:lnTo>
                    <a:pt x="86" y="258"/>
                  </a:lnTo>
                  <a:lnTo>
                    <a:pt x="76" y="270"/>
                  </a:lnTo>
                  <a:lnTo>
                    <a:pt x="66" y="283"/>
                  </a:lnTo>
                  <a:lnTo>
                    <a:pt x="58" y="297"/>
                  </a:lnTo>
                  <a:lnTo>
                    <a:pt x="49" y="310"/>
                  </a:lnTo>
                  <a:lnTo>
                    <a:pt x="42" y="325"/>
                  </a:lnTo>
                  <a:lnTo>
                    <a:pt x="35" y="339"/>
                  </a:lnTo>
                  <a:lnTo>
                    <a:pt x="27" y="354"/>
                  </a:lnTo>
                  <a:lnTo>
                    <a:pt x="23" y="368"/>
                  </a:lnTo>
                  <a:lnTo>
                    <a:pt x="17" y="384"/>
                  </a:lnTo>
                  <a:lnTo>
                    <a:pt x="12" y="400"/>
                  </a:lnTo>
                  <a:lnTo>
                    <a:pt x="8" y="416"/>
                  </a:lnTo>
                  <a:lnTo>
                    <a:pt x="6" y="431"/>
                  </a:lnTo>
                  <a:lnTo>
                    <a:pt x="2" y="448"/>
                  </a:lnTo>
                  <a:lnTo>
                    <a:pt x="1" y="465"/>
                  </a:lnTo>
                  <a:lnTo>
                    <a:pt x="0" y="482"/>
                  </a:lnTo>
                  <a:lnTo>
                    <a:pt x="30" y="482"/>
                  </a:lnTo>
                  <a:lnTo>
                    <a:pt x="721" y="4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 name="Group 49">
            <a:extLst>
              <a:ext uri="{FF2B5EF4-FFF2-40B4-BE49-F238E27FC236}">
                <a16:creationId xmlns:a16="http://schemas.microsoft.com/office/drawing/2014/main" id="{92F8C4AF-08B8-4706-9C16-4FFD604B548C}"/>
              </a:ext>
            </a:extLst>
          </p:cNvPr>
          <p:cNvGrpSpPr/>
          <p:nvPr/>
        </p:nvGrpSpPr>
        <p:grpSpPr>
          <a:xfrm>
            <a:off x="8023248" y="4806560"/>
            <a:ext cx="206375" cy="287338"/>
            <a:chOff x="366713" y="3644900"/>
            <a:chExt cx="206375" cy="287338"/>
          </a:xfrm>
          <a:solidFill>
            <a:schemeClr val="bg1"/>
          </a:solidFill>
          <a:effectLst/>
        </p:grpSpPr>
        <p:sp>
          <p:nvSpPr>
            <p:cNvPr id="51" name="Freeform 1331">
              <a:extLst>
                <a:ext uri="{FF2B5EF4-FFF2-40B4-BE49-F238E27FC236}">
                  <a16:creationId xmlns:a16="http://schemas.microsoft.com/office/drawing/2014/main" id="{7A4C0B09-E521-46D3-AFEE-AB62E02612C5}"/>
                </a:ext>
              </a:extLst>
            </p:cNvPr>
            <p:cNvSpPr>
              <a:spLocks/>
            </p:cNvSpPr>
            <p:nvPr/>
          </p:nvSpPr>
          <p:spPr bwMode="auto">
            <a:xfrm>
              <a:off x="366713" y="3644900"/>
              <a:ext cx="96838" cy="287338"/>
            </a:xfrm>
            <a:custGeom>
              <a:avLst/>
              <a:gdLst>
                <a:gd name="T0" fmla="*/ 264 w 301"/>
                <a:gd name="T1" fmla="*/ 1 h 902"/>
                <a:gd name="T2" fmla="*/ 253 w 301"/>
                <a:gd name="T3" fmla="*/ 5 h 902"/>
                <a:gd name="T4" fmla="*/ 245 w 301"/>
                <a:gd name="T5" fmla="*/ 13 h 902"/>
                <a:gd name="T6" fmla="*/ 240 w 301"/>
                <a:gd name="T7" fmla="*/ 24 h 902"/>
                <a:gd name="T8" fmla="*/ 240 w 301"/>
                <a:gd name="T9" fmla="*/ 226 h 902"/>
                <a:gd name="T10" fmla="*/ 235 w 301"/>
                <a:gd name="T11" fmla="*/ 254 h 902"/>
                <a:gd name="T12" fmla="*/ 223 w 301"/>
                <a:gd name="T13" fmla="*/ 279 h 902"/>
                <a:gd name="T14" fmla="*/ 204 w 301"/>
                <a:gd name="T15" fmla="*/ 299 h 902"/>
                <a:gd name="T16" fmla="*/ 179 w 301"/>
                <a:gd name="T17" fmla="*/ 312 h 902"/>
                <a:gd name="T18" fmla="*/ 179 w 301"/>
                <a:gd name="T19" fmla="*/ 24 h 902"/>
                <a:gd name="T20" fmla="*/ 175 w 301"/>
                <a:gd name="T21" fmla="*/ 13 h 902"/>
                <a:gd name="T22" fmla="*/ 166 w 301"/>
                <a:gd name="T23" fmla="*/ 5 h 902"/>
                <a:gd name="T24" fmla="*/ 156 w 301"/>
                <a:gd name="T25" fmla="*/ 1 h 902"/>
                <a:gd name="T26" fmla="*/ 144 w 301"/>
                <a:gd name="T27" fmla="*/ 1 h 902"/>
                <a:gd name="T28" fmla="*/ 133 w 301"/>
                <a:gd name="T29" fmla="*/ 5 h 902"/>
                <a:gd name="T30" fmla="*/ 125 w 301"/>
                <a:gd name="T31" fmla="*/ 13 h 902"/>
                <a:gd name="T32" fmla="*/ 120 w 301"/>
                <a:gd name="T33" fmla="*/ 24 h 902"/>
                <a:gd name="T34" fmla="*/ 120 w 301"/>
                <a:gd name="T35" fmla="*/ 312 h 902"/>
                <a:gd name="T36" fmla="*/ 96 w 301"/>
                <a:gd name="T37" fmla="*/ 299 h 902"/>
                <a:gd name="T38" fmla="*/ 76 w 301"/>
                <a:gd name="T39" fmla="*/ 279 h 902"/>
                <a:gd name="T40" fmla="*/ 64 w 301"/>
                <a:gd name="T41" fmla="*/ 254 h 902"/>
                <a:gd name="T42" fmla="*/ 59 w 301"/>
                <a:gd name="T43" fmla="*/ 226 h 902"/>
                <a:gd name="T44" fmla="*/ 59 w 301"/>
                <a:gd name="T45" fmla="*/ 24 h 902"/>
                <a:gd name="T46" fmla="*/ 54 w 301"/>
                <a:gd name="T47" fmla="*/ 13 h 902"/>
                <a:gd name="T48" fmla="*/ 46 w 301"/>
                <a:gd name="T49" fmla="*/ 5 h 902"/>
                <a:gd name="T50" fmla="*/ 36 w 301"/>
                <a:gd name="T51" fmla="*/ 1 h 902"/>
                <a:gd name="T52" fmla="*/ 24 w 301"/>
                <a:gd name="T53" fmla="*/ 1 h 902"/>
                <a:gd name="T54" fmla="*/ 13 w 301"/>
                <a:gd name="T55" fmla="*/ 5 h 902"/>
                <a:gd name="T56" fmla="*/ 5 w 301"/>
                <a:gd name="T57" fmla="*/ 13 h 902"/>
                <a:gd name="T58" fmla="*/ 0 w 301"/>
                <a:gd name="T59" fmla="*/ 24 h 902"/>
                <a:gd name="T60" fmla="*/ 0 w 301"/>
                <a:gd name="T61" fmla="*/ 226 h 902"/>
                <a:gd name="T62" fmla="*/ 2 w 301"/>
                <a:gd name="T63" fmla="*/ 253 h 902"/>
                <a:gd name="T64" fmla="*/ 8 w 301"/>
                <a:gd name="T65" fmla="*/ 278 h 902"/>
                <a:gd name="T66" fmla="*/ 19 w 301"/>
                <a:gd name="T67" fmla="*/ 301 h 902"/>
                <a:gd name="T68" fmla="*/ 34 w 301"/>
                <a:gd name="T69" fmla="*/ 322 h 902"/>
                <a:gd name="T70" fmla="*/ 52 w 301"/>
                <a:gd name="T71" fmla="*/ 340 h 902"/>
                <a:gd name="T72" fmla="*/ 73 w 301"/>
                <a:gd name="T73" fmla="*/ 355 h 902"/>
                <a:gd name="T74" fmla="*/ 94 w 301"/>
                <a:gd name="T75" fmla="*/ 366 h 902"/>
                <a:gd name="T76" fmla="*/ 120 w 301"/>
                <a:gd name="T77" fmla="*/ 373 h 902"/>
                <a:gd name="T78" fmla="*/ 120 w 301"/>
                <a:gd name="T79" fmla="*/ 879 h 902"/>
                <a:gd name="T80" fmla="*/ 125 w 301"/>
                <a:gd name="T81" fmla="*/ 889 h 902"/>
                <a:gd name="T82" fmla="*/ 133 w 301"/>
                <a:gd name="T83" fmla="*/ 897 h 902"/>
                <a:gd name="T84" fmla="*/ 144 w 301"/>
                <a:gd name="T85" fmla="*/ 902 h 902"/>
                <a:gd name="T86" fmla="*/ 156 w 301"/>
                <a:gd name="T87" fmla="*/ 902 h 902"/>
                <a:gd name="T88" fmla="*/ 166 w 301"/>
                <a:gd name="T89" fmla="*/ 897 h 902"/>
                <a:gd name="T90" fmla="*/ 175 w 301"/>
                <a:gd name="T91" fmla="*/ 889 h 902"/>
                <a:gd name="T92" fmla="*/ 179 w 301"/>
                <a:gd name="T93" fmla="*/ 879 h 902"/>
                <a:gd name="T94" fmla="*/ 179 w 301"/>
                <a:gd name="T95" fmla="*/ 373 h 902"/>
                <a:gd name="T96" fmla="*/ 205 w 301"/>
                <a:gd name="T97" fmla="*/ 366 h 902"/>
                <a:gd name="T98" fmla="*/ 228 w 301"/>
                <a:gd name="T99" fmla="*/ 355 h 902"/>
                <a:gd name="T100" fmla="*/ 249 w 301"/>
                <a:gd name="T101" fmla="*/ 340 h 902"/>
                <a:gd name="T102" fmla="*/ 266 w 301"/>
                <a:gd name="T103" fmla="*/ 322 h 902"/>
                <a:gd name="T104" fmla="*/ 280 w 301"/>
                <a:gd name="T105" fmla="*/ 301 h 902"/>
                <a:gd name="T106" fmla="*/ 291 w 301"/>
                <a:gd name="T107" fmla="*/ 278 h 902"/>
                <a:gd name="T108" fmla="*/ 298 w 301"/>
                <a:gd name="T109" fmla="*/ 253 h 902"/>
                <a:gd name="T110" fmla="*/ 301 w 301"/>
                <a:gd name="T111" fmla="*/ 226 h 902"/>
                <a:gd name="T112" fmla="*/ 300 w 301"/>
                <a:gd name="T113" fmla="*/ 24 h 902"/>
                <a:gd name="T114" fmla="*/ 295 w 301"/>
                <a:gd name="T115" fmla="*/ 13 h 902"/>
                <a:gd name="T116" fmla="*/ 287 w 301"/>
                <a:gd name="T117" fmla="*/ 5 h 902"/>
                <a:gd name="T118" fmla="*/ 276 w 301"/>
                <a:gd name="T119" fmla="*/ 1 h 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01" h="902">
                  <a:moveTo>
                    <a:pt x="270" y="0"/>
                  </a:moveTo>
                  <a:lnTo>
                    <a:pt x="264" y="1"/>
                  </a:lnTo>
                  <a:lnTo>
                    <a:pt x="258" y="3"/>
                  </a:lnTo>
                  <a:lnTo>
                    <a:pt x="253" y="5"/>
                  </a:lnTo>
                  <a:lnTo>
                    <a:pt x="249" y="9"/>
                  </a:lnTo>
                  <a:lnTo>
                    <a:pt x="245" y="13"/>
                  </a:lnTo>
                  <a:lnTo>
                    <a:pt x="243" y="18"/>
                  </a:lnTo>
                  <a:lnTo>
                    <a:pt x="240" y="24"/>
                  </a:lnTo>
                  <a:lnTo>
                    <a:pt x="240" y="30"/>
                  </a:lnTo>
                  <a:lnTo>
                    <a:pt x="240" y="226"/>
                  </a:lnTo>
                  <a:lnTo>
                    <a:pt x="239" y="240"/>
                  </a:lnTo>
                  <a:lnTo>
                    <a:pt x="235" y="254"/>
                  </a:lnTo>
                  <a:lnTo>
                    <a:pt x="230" y="267"/>
                  </a:lnTo>
                  <a:lnTo>
                    <a:pt x="223" y="279"/>
                  </a:lnTo>
                  <a:lnTo>
                    <a:pt x="215" y="289"/>
                  </a:lnTo>
                  <a:lnTo>
                    <a:pt x="204" y="299"/>
                  </a:lnTo>
                  <a:lnTo>
                    <a:pt x="193" y="306"/>
                  </a:lnTo>
                  <a:lnTo>
                    <a:pt x="179" y="312"/>
                  </a:lnTo>
                  <a:lnTo>
                    <a:pt x="179" y="30"/>
                  </a:lnTo>
                  <a:lnTo>
                    <a:pt x="179" y="24"/>
                  </a:lnTo>
                  <a:lnTo>
                    <a:pt x="177" y="18"/>
                  </a:lnTo>
                  <a:lnTo>
                    <a:pt x="175" y="13"/>
                  </a:lnTo>
                  <a:lnTo>
                    <a:pt x="171" y="9"/>
                  </a:lnTo>
                  <a:lnTo>
                    <a:pt x="166" y="5"/>
                  </a:lnTo>
                  <a:lnTo>
                    <a:pt x="161" y="3"/>
                  </a:lnTo>
                  <a:lnTo>
                    <a:pt x="156" y="1"/>
                  </a:lnTo>
                  <a:lnTo>
                    <a:pt x="150" y="0"/>
                  </a:lnTo>
                  <a:lnTo>
                    <a:pt x="144" y="1"/>
                  </a:lnTo>
                  <a:lnTo>
                    <a:pt x="138" y="3"/>
                  </a:lnTo>
                  <a:lnTo>
                    <a:pt x="133" y="5"/>
                  </a:lnTo>
                  <a:lnTo>
                    <a:pt x="128" y="9"/>
                  </a:lnTo>
                  <a:lnTo>
                    <a:pt x="125" y="13"/>
                  </a:lnTo>
                  <a:lnTo>
                    <a:pt x="122" y="18"/>
                  </a:lnTo>
                  <a:lnTo>
                    <a:pt x="120" y="24"/>
                  </a:lnTo>
                  <a:lnTo>
                    <a:pt x="120" y="30"/>
                  </a:lnTo>
                  <a:lnTo>
                    <a:pt x="120" y="312"/>
                  </a:lnTo>
                  <a:lnTo>
                    <a:pt x="107" y="306"/>
                  </a:lnTo>
                  <a:lnTo>
                    <a:pt x="96" y="299"/>
                  </a:lnTo>
                  <a:lnTo>
                    <a:pt x="86" y="289"/>
                  </a:lnTo>
                  <a:lnTo>
                    <a:pt x="76" y="279"/>
                  </a:lnTo>
                  <a:lnTo>
                    <a:pt x="69" y="267"/>
                  </a:lnTo>
                  <a:lnTo>
                    <a:pt x="64" y="254"/>
                  </a:lnTo>
                  <a:lnTo>
                    <a:pt x="60" y="240"/>
                  </a:lnTo>
                  <a:lnTo>
                    <a:pt x="59" y="226"/>
                  </a:lnTo>
                  <a:lnTo>
                    <a:pt x="59" y="30"/>
                  </a:lnTo>
                  <a:lnTo>
                    <a:pt x="59" y="24"/>
                  </a:lnTo>
                  <a:lnTo>
                    <a:pt x="57" y="18"/>
                  </a:lnTo>
                  <a:lnTo>
                    <a:pt x="54" y="13"/>
                  </a:lnTo>
                  <a:lnTo>
                    <a:pt x="51" y="9"/>
                  </a:lnTo>
                  <a:lnTo>
                    <a:pt x="46" y="5"/>
                  </a:lnTo>
                  <a:lnTo>
                    <a:pt x="41" y="3"/>
                  </a:lnTo>
                  <a:lnTo>
                    <a:pt x="36" y="1"/>
                  </a:lnTo>
                  <a:lnTo>
                    <a:pt x="30" y="0"/>
                  </a:lnTo>
                  <a:lnTo>
                    <a:pt x="24" y="1"/>
                  </a:lnTo>
                  <a:lnTo>
                    <a:pt x="18" y="3"/>
                  </a:lnTo>
                  <a:lnTo>
                    <a:pt x="13" y="5"/>
                  </a:lnTo>
                  <a:lnTo>
                    <a:pt x="8" y="9"/>
                  </a:lnTo>
                  <a:lnTo>
                    <a:pt x="5" y="13"/>
                  </a:lnTo>
                  <a:lnTo>
                    <a:pt x="2" y="18"/>
                  </a:lnTo>
                  <a:lnTo>
                    <a:pt x="0" y="24"/>
                  </a:lnTo>
                  <a:lnTo>
                    <a:pt x="0" y="30"/>
                  </a:lnTo>
                  <a:lnTo>
                    <a:pt x="0" y="226"/>
                  </a:lnTo>
                  <a:lnTo>
                    <a:pt x="0" y="239"/>
                  </a:lnTo>
                  <a:lnTo>
                    <a:pt x="2" y="253"/>
                  </a:lnTo>
                  <a:lnTo>
                    <a:pt x="5" y="266"/>
                  </a:lnTo>
                  <a:lnTo>
                    <a:pt x="8" y="278"/>
                  </a:lnTo>
                  <a:lnTo>
                    <a:pt x="13" y="290"/>
                  </a:lnTo>
                  <a:lnTo>
                    <a:pt x="19" y="301"/>
                  </a:lnTo>
                  <a:lnTo>
                    <a:pt x="26" y="312"/>
                  </a:lnTo>
                  <a:lnTo>
                    <a:pt x="34" y="322"/>
                  </a:lnTo>
                  <a:lnTo>
                    <a:pt x="42" y="332"/>
                  </a:lnTo>
                  <a:lnTo>
                    <a:pt x="52" y="340"/>
                  </a:lnTo>
                  <a:lnTo>
                    <a:pt x="62" y="349"/>
                  </a:lnTo>
                  <a:lnTo>
                    <a:pt x="73" y="355"/>
                  </a:lnTo>
                  <a:lnTo>
                    <a:pt x="83" y="361"/>
                  </a:lnTo>
                  <a:lnTo>
                    <a:pt x="94" y="366"/>
                  </a:lnTo>
                  <a:lnTo>
                    <a:pt x="107" y="370"/>
                  </a:lnTo>
                  <a:lnTo>
                    <a:pt x="120" y="373"/>
                  </a:lnTo>
                  <a:lnTo>
                    <a:pt x="120" y="873"/>
                  </a:lnTo>
                  <a:lnTo>
                    <a:pt x="120" y="879"/>
                  </a:lnTo>
                  <a:lnTo>
                    <a:pt x="122" y="884"/>
                  </a:lnTo>
                  <a:lnTo>
                    <a:pt x="125" y="889"/>
                  </a:lnTo>
                  <a:lnTo>
                    <a:pt x="128" y="894"/>
                  </a:lnTo>
                  <a:lnTo>
                    <a:pt x="133" y="897"/>
                  </a:lnTo>
                  <a:lnTo>
                    <a:pt x="138" y="900"/>
                  </a:lnTo>
                  <a:lnTo>
                    <a:pt x="144" y="902"/>
                  </a:lnTo>
                  <a:lnTo>
                    <a:pt x="150" y="902"/>
                  </a:lnTo>
                  <a:lnTo>
                    <a:pt x="156" y="902"/>
                  </a:lnTo>
                  <a:lnTo>
                    <a:pt x="161" y="900"/>
                  </a:lnTo>
                  <a:lnTo>
                    <a:pt x="166" y="897"/>
                  </a:lnTo>
                  <a:lnTo>
                    <a:pt x="171" y="894"/>
                  </a:lnTo>
                  <a:lnTo>
                    <a:pt x="175" y="889"/>
                  </a:lnTo>
                  <a:lnTo>
                    <a:pt x="177" y="884"/>
                  </a:lnTo>
                  <a:lnTo>
                    <a:pt x="179" y="879"/>
                  </a:lnTo>
                  <a:lnTo>
                    <a:pt x="179" y="873"/>
                  </a:lnTo>
                  <a:lnTo>
                    <a:pt x="179" y="373"/>
                  </a:lnTo>
                  <a:lnTo>
                    <a:pt x="193" y="370"/>
                  </a:lnTo>
                  <a:lnTo>
                    <a:pt x="205" y="366"/>
                  </a:lnTo>
                  <a:lnTo>
                    <a:pt x="217" y="361"/>
                  </a:lnTo>
                  <a:lnTo>
                    <a:pt x="228" y="355"/>
                  </a:lnTo>
                  <a:lnTo>
                    <a:pt x="238" y="349"/>
                  </a:lnTo>
                  <a:lnTo>
                    <a:pt x="249" y="340"/>
                  </a:lnTo>
                  <a:lnTo>
                    <a:pt x="257" y="332"/>
                  </a:lnTo>
                  <a:lnTo>
                    <a:pt x="266" y="322"/>
                  </a:lnTo>
                  <a:lnTo>
                    <a:pt x="273" y="312"/>
                  </a:lnTo>
                  <a:lnTo>
                    <a:pt x="280" y="301"/>
                  </a:lnTo>
                  <a:lnTo>
                    <a:pt x="286" y="290"/>
                  </a:lnTo>
                  <a:lnTo>
                    <a:pt x="291" y="278"/>
                  </a:lnTo>
                  <a:lnTo>
                    <a:pt x="295" y="266"/>
                  </a:lnTo>
                  <a:lnTo>
                    <a:pt x="298" y="253"/>
                  </a:lnTo>
                  <a:lnTo>
                    <a:pt x="300" y="239"/>
                  </a:lnTo>
                  <a:lnTo>
                    <a:pt x="301" y="226"/>
                  </a:lnTo>
                  <a:lnTo>
                    <a:pt x="301" y="30"/>
                  </a:lnTo>
                  <a:lnTo>
                    <a:pt x="300" y="24"/>
                  </a:lnTo>
                  <a:lnTo>
                    <a:pt x="298" y="18"/>
                  </a:lnTo>
                  <a:lnTo>
                    <a:pt x="295" y="13"/>
                  </a:lnTo>
                  <a:lnTo>
                    <a:pt x="291" y="9"/>
                  </a:lnTo>
                  <a:lnTo>
                    <a:pt x="287" y="5"/>
                  </a:lnTo>
                  <a:lnTo>
                    <a:pt x="281" y="3"/>
                  </a:lnTo>
                  <a:lnTo>
                    <a:pt x="276" y="1"/>
                  </a:lnTo>
                  <a:lnTo>
                    <a:pt x="27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332">
              <a:extLst>
                <a:ext uri="{FF2B5EF4-FFF2-40B4-BE49-F238E27FC236}">
                  <a16:creationId xmlns:a16="http://schemas.microsoft.com/office/drawing/2014/main" id="{7E815B28-CFFC-4672-8307-BB0E24859DB9}"/>
                </a:ext>
              </a:extLst>
            </p:cNvPr>
            <p:cNvSpPr>
              <a:spLocks/>
            </p:cNvSpPr>
            <p:nvPr/>
          </p:nvSpPr>
          <p:spPr bwMode="auto">
            <a:xfrm>
              <a:off x="485775" y="3644900"/>
              <a:ext cx="87313" cy="287338"/>
            </a:xfrm>
            <a:custGeom>
              <a:avLst/>
              <a:gdLst>
                <a:gd name="T0" fmla="*/ 122 w 271"/>
                <a:gd name="T1" fmla="*/ 1 h 902"/>
                <a:gd name="T2" fmla="*/ 96 w 271"/>
                <a:gd name="T3" fmla="*/ 6 h 902"/>
                <a:gd name="T4" fmla="*/ 71 w 271"/>
                <a:gd name="T5" fmla="*/ 17 h 902"/>
                <a:gd name="T6" fmla="*/ 50 w 271"/>
                <a:gd name="T7" fmla="*/ 32 h 902"/>
                <a:gd name="T8" fmla="*/ 31 w 271"/>
                <a:gd name="T9" fmla="*/ 50 h 902"/>
                <a:gd name="T10" fmla="*/ 17 w 271"/>
                <a:gd name="T11" fmla="*/ 72 h 902"/>
                <a:gd name="T12" fmla="*/ 6 w 271"/>
                <a:gd name="T13" fmla="*/ 96 h 902"/>
                <a:gd name="T14" fmla="*/ 1 w 271"/>
                <a:gd name="T15" fmla="*/ 121 h 902"/>
                <a:gd name="T16" fmla="*/ 0 w 271"/>
                <a:gd name="T17" fmla="*/ 226 h 902"/>
                <a:gd name="T18" fmla="*/ 2 w 271"/>
                <a:gd name="T19" fmla="*/ 250 h 902"/>
                <a:gd name="T20" fmla="*/ 8 w 271"/>
                <a:gd name="T21" fmla="*/ 272 h 902"/>
                <a:gd name="T22" fmla="*/ 18 w 271"/>
                <a:gd name="T23" fmla="*/ 293 h 902"/>
                <a:gd name="T24" fmla="*/ 30 w 271"/>
                <a:gd name="T25" fmla="*/ 311 h 902"/>
                <a:gd name="T26" fmla="*/ 46 w 271"/>
                <a:gd name="T27" fmla="*/ 328 h 902"/>
                <a:gd name="T28" fmla="*/ 64 w 271"/>
                <a:gd name="T29" fmla="*/ 341 h 902"/>
                <a:gd name="T30" fmla="*/ 84 w 271"/>
                <a:gd name="T31" fmla="*/ 351 h 902"/>
                <a:gd name="T32" fmla="*/ 105 w 271"/>
                <a:gd name="T33" fmla="*/ 358 h 902"/>
                <a:gd name="T34" fmla="*/ 107 w 271"/>
                <a:gd name="T35" fmla="*/ 879 h 902"/>
                <a:gd name="T36" fmla="*/ 110 w 271"/>
                <a:gd name="T37" fmla="*/ 889 h 902"/>
                <a:gd name="T38" fmla="*/ 119 w 271"/>
                <a:gd name="T39" fmla="*/ 897 h 902"/>
                <a:gd name="T40" fmla="*/ 130 w 271"/>
                <a:gd name="T41" fmla="*/ 902 h 902"/>
                <a:gd name="T42" fmla="*/ 142 w 271"/>
                <a:gd name="T43" fmla="*/ 902 h 902"/>
                <a:gd name="T44" fmla="*/ 153 w 271"/>
                <a:gd name="T45" fmla="*/ 897 h 902"/>
                <a:gd name="T46" fmla="*/ 160 w 271"/>
                <a:gd name="T47" fmla="*/ 889 h 902"/>
                <a:gd name="T48" fmla="*/ 165 w 271"/>
                <a:gd name="T49" fmla="*/ 879 h 902"/>
                <a:gd name="T50" fmla="*/ 166 w 271"/>
                <a:gd name="T51" fmla="*/ 358 h 902"/>
                <a:gd name="T52" fmla="*/ 188 w 271"/>
                <a:gd name="T53" fmla="*/ 351 h 902"/>
                <a:gd name="T54" fmla="*/ 207 w 271"/>
                <a:gd name="T55" fmla="*/ 341 h 902"/>
                <a:gd name="T56" fmla="*/ 226 w 271"/>
                <a:gd name="T57" fmla="*/ 328 h 902"/>
                <a:gd name="T58" fmla="*/ 241 w 271"/>
                <a:gd name="T59" fmla="*/ 311 h 902"/>
                <a:gd name="T60" fmla="*/ 254 w 271"/>
                <a:gd name="T61" fmla="*/ 293 h 902"/>
                <a:gd name="T62" fmla="*/ 263 w 271"/>
                <a:gd name="T63" fmla="*/ 272 h 902"/>
                <a:gd name="T64" fmla="*/ 269 w 271"/>
                <a:gd name="T65" fmla="*/ 250 h 902"/>
                <a:gd name="T66" fmla="*/ 271 w 271"/>
                <a:gd name="T67" fmla="*/ 226 h 902"/>
                <a:gd name="T68" fmla="*/ 271 w 271"/>
                <a:gd name="T69" fmla="*/ 121 h 902"/>
                <a:gd name="T70" fmla="*/ 265 w 271"/>
                <a:gd name="T71" fmla="*/ 96 h 902"/>
                <a:gd name="T72" fmla="*/ 255 w 271"/>
                <a:gd name="T73" fmla="*/ 72 h 902"/>
                <a:gd name="T74" fmla="*/ 240 w 271"/>
                <a:gd name="T75" fmla="*/ 50 h 902"/>
                <a:gd name="T76" fmla="*/ 222 w 271"/>
                <a:gd name="T77" fmla="*/ 32 h 902"/>
                <a:gd name="T78" fmla="*/ 200 w 271"/>
                <a:gd name="T79" fmla="*/ 17 h 902"/>
                <a:gd name="T80" fmla="*/ 176 w 271"/>
                <a:gd name="T81" fmla="*/ 6 h 902"/>
                <a:gd name="T82" fmla="*/ 149 w 271"/>
                <a:gd name="T83" fmla="*/ 1 h 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1" h="902">
                  <a:moveTo>
                    <a:pt x="136" y="0"/>
                  </a:moveTo>
                  <a:lnTo>
                    <a:pt x="122" y="1"/>
                  </a:lnTo>
                  <a:lnTo>
                    <a:pt x="108" y="4"/>
                  </a:lnTo>
                  <a:lnTo>
                    <a:pt x="96" y="6"/>
                  </a:lnTo>
                  <a:lnTo>
                    <a:pt x="84" y="11"/>
                  </a:lnTo>
                  <a:lnTo>
                    <a:pt x="71" y="17"/>
                  </a:lnTo>
                  <a:lnTo>
                    <a:pt x="61" y="23"/>
                  </a:lnTo>
                  <a:lnTo>
                    <a:pt x="50" y="32"/>
                  </a:lnTo>
                  <a:lnTo>
                    <a:pt x="40" y="40"/>
                  </a:lnTo>
                  <a:lnTo>
                    <a:pt x="31" y="50"/>
                  </a:lnTo>
                  <a:lnTo>
                    <a:pt x="24" y="61"/>
                  </a:lnTo>
                  <a:lnTo>
                    <a:pt x="17" y="72"/>
                  </a:lnTo>
                  <a:lnTo>
                    <a:pt x="11" y="84"/>
                  </a:lnTo>
                  <a:lnTo>
                    <a:pt x="6" y="96"/>
                  </a:lnTo>
                  <a:lnTo>
                    <a:pt x="3" y="108"/>
                  </a:lnTo>
                  <a:lnTo>
                    <a:pt x="1" y="121"/>
                  </a:lnTo>
                  <a:lnTo>
                    <a:pt x="0" y="136"/>
                  </a:lnTo>
                  <a:lnTo>
                    <a:pt x="0" y="226"/>
                  </a:lnTo>
                  <a:lnTo>
                    <a:pt x="1" y="238"/>
                  </a:lnTo>
                  <a:lnTo>
                    <a:pt x="2" y="250"/>
                  </a:lnTo>
                  <a:lnTo>
                    <a:pt x="5" y="261"/>
                  </a:lnTo>
                  <a:lnTo>
                    <a:pt x="8" y="272"/>
                  </a:lnTo>
                  <a:lnTo>
                    <a:pt x="13" y="283"/>
                  </a:lnTo>
                  <a:lnTo>
                    <a:pt x="18" y="293"/>
                  </a:lnTo>
                  <a:lnTo>
                    <a:pt x="24" y="302"/>
                  </a:lnTo>
                  <a:lnTo>
                    <a:pt x="30" y="311"/>
                  </a:lnTo>
                  <a:lnTo>
                    <a:pt x="37" y="319"/>
                  </a:lnTo>
                  <a:lnTo>
                    <a:pt x="46" y="328"/>
                  </a:lnTo>
                  <a:lnTo>
                    <a:pt x="54" y="335"/>
                  </a:lnTo>
                  <a:lnTo>
                    <a:pt x="64" y="341"/>
                  </a:lnTo>
                  <a:lnTo>
                    <a:pt x="74" y="346"/>
                  </a:lnTo>
                  <a:lnTo>
                    <a:pt x="84" y="351"/>
                  </a:lnTo>
                  <a:lnTo>
                    <a:pt x="95" y="356"/>
                  </a:lnTo>
                  <a:lnTo>
                    <a:pt x="105" y="358"/>
                  </a:lnTo>
                  <a:lnTo>
                    <a:pt x="105" y="873"/>
                  </a:lnTo>
                  <a:lnTo>
                    <a:pt x="107" y="879"/>
                  </a:lnTo>
                  <a:lnTo>
                    <a:pt x="108" y="884"/>
                  </a:lnTo>
                  <a:lnTo>
                    <a:pt x="110" y="889"/>
                  </a:lnTo>
                  <a:lnTo>
                    <a:pt x="114" y="894"/>
                  </a:lnTo>
                  <a:lnTo>
                    <a:pt x="119" y="897"/>
                  </a:lnTo>
                  <a:lnTo>
                    <a:pt x="124" y="900"/>
                  </a:lnTo>
                  <a:lnTo>
                    <a:pt x="130" y="902"/>
                  </a:lnTo>
                  <a:lnTo>
                    <a:pt x="136" y="902"/>
                  </a:lnTo>
                  <a:lnTo>
                    <a:pt x="142" y="902"/>
                  </a:lnTo>
                  <a:lnTo>
                    <a:pt x="148" y="900"/>
                  </a:lnTo>
                  <a:lnTo>
                    <a:pt x="153" y="897"/>
                  </a:lnTo>
                  <a:lnTo>
                    <a:pt x="156" y="894"/>
                  </a:lnTo>
                  <a:lnTo>
                    <a:pt x="160" y="889"/>
                  </a:lnTo>
                  <a:lnTo>
                    <a:pt x="164" y="884"/>
                  </a:lnTo>
                  <a:lnTo>
                    <a:pt x="165" y="879"/>
                  </a:lnTo>
                  <a:lnTo>
                    <a:pt x="166" y="873"/>
                  </a:lnTo>
                  <a:lnTo>
                    <a:pt x="166" y="358"/>
                  </a:lnTo>
                  <a:lnTo>
                    <a:pt x="177" y="356"/>
                  </a:lnTo>
                  <a:lnTo>
                    <a:pt x="188" y="351"/>
                  </a:lnTo>
                  <a:lnTo>
                    <a:pt x="198" y="346"/>
                  </a:lnTo>
                  <a:lnTo>
                    <a:pt x="207" y="341"/>
                  </a:lnTo>
                  <a:lnTo>
                    <a:pt x="217" y="335"/>
                  </a:lnTo>
                  <a:lnTo>
                    <a:pt x="226" y="328"/>
                  </a:lnTo>
                  <a:lnTo>
                    <a:pt x="234" y="319"/>
                  </a:lnTo>
                  <a:lnTo>
                    <a:pt x="241" y="311"/>
                  </a:lnTo>
                  <a:lnTo>
                    <a:pt x="248" y="302"/>
                  </a:lnTo>
                  <a:lnTo>
                    <a:pt x="254" y="293"/>
                  </a:lnTo>
                  <a:lnTo>
                    <a:pt x="258" y="283"/>
                  </a:lnTo>
                  <a:lnTo>
                    <a:pt x="263" y="272"/>
                  </a:lnTo>
                  <a:lnTo>
                    <a:pt x="267" y="261"/>
                  </a:lnTo>
                  <a:lnTo>
                    <a:pt x="269" y="250"/>
                  </a:lnTo>
                  <a:lnTo>
                    <a:pt x="271" y="238"/>
                  </a:lnTo>
                  <a:lnTo>
                    <a:pt x="271" y="226"/>
                  </a:lnTo>
                  <a:lnTo>
                    <a:pt x="271" y="136"/>
                  </a:lnTo>
                  <a:lnTo>
                    <a:pt x="271" y="121"/>
                  </a:lnTo>
                  <a:lnTo>
                    <a:pt x="268" y="108"/>
                  </a:lnTo>
                  <a:lnTo>
                    <a:pt x="265" y="96"/>
                  </a:lnTo>
                  <a:lnTo>
                    <a:pt x="261" y="84"/>
                  </a:lnTo>
                  <a:lnTo>
                    <a:pt x="255" y="72"/>
                  </a:lnTo>
                  <a:lnTo>
                    <a:pt x="248" y="61"/>
                  </a:lnTo>
                  <a:lnTo>
                    <a:pt x="240" y="50"/>
                  </a:lnTo>
                  <a:lnTo>
                    <a:pt x="232" y="40"/>
                  </a:lnTo>
                  <a:lnTo>
                    <a:pt x="222" y="32"/>
                  </a:lnTo>
                  <a:lnTo>
                    <a:pt x="211" y="23"/>
                  </a:lnTo>
                  <a:lnTo>
                    <a:pt x="200" y="17"/>
                  </a:lnTo>
                  <a:lnTo>
                    <a:pt x="188" y="11"/>
                  </a:lnTo>
                  <a:lnTo>
                    <a:pt x="176" y="6"/>
                  </a:lnTo>
                  <a:lnTo>
                    <a:pt x="163" y="4"/>
                  </a:lnTo>
                  <a:lnTo>
                    <a:pt x="149" y="1"/>
                  </a:lnTo>
                  <a:lnTo>
                    <a:pt x="13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3" name="TextBox 52">
            <a:extLst>
              <a:ext uri="{FF2B5EF4-FFF2-40B4-BE49-F238E27FC236}">
                <a16:creationId xmlns:a16="http://schemas.microsoft.com/office/drawing/2014/main" id="{A207CBC9-4BDA-4236-A88B-00F26F3D9B2A}"/>
              </a:ext>
            </a:extLst>
          </p:cNvPr>
          <p:cNvSpPr txBox="1"/>
          <p:nvPr/>
        </p:nvSpPr>
        <p:spPr>
          <a:xfrm>
            <a:off x="6541794" y="881105"/>
            <a:ext cx="5446270" cy="677108"/>
          </a:xfrm>
          <a:prstGeom prst="rect">
            <a:avLst/>
          </a:prstGeom>
          <a:noFill/>
        </p:spPr>
        <p:txBody>
          <a:bodyPr wrap="square" lIns="0" tIns="0" rIns="0" bIns="0" rtlCol="0">
            <a:spAutoFit/>
          </a:bodyPr>
          <a:lstStyle/>
          <a:p>
            <a:pPr algn="r">
              <a:spcAft>
                <a:spcPts val="600"/>
              </a:spcAft>
            </a:pPr>
            <a:r>
              <a:rPr lang="en-US" sz="4400" b="1" dirty="0">
                <a:solidFill>
                  <a:srgbClr val="20272D"/>
                </a:solidFill>
                <a:latin typeface="+mj-lt"/>
              </a:rPr>
              <a:t>RECOMMENDATION</a:t>
            </a:r>
            <a:endParaRPr lang="en-US" sz="4400" dirty="0">
              <a:solidFill>
                <a:srgbClr val="20272D"/>
              </a:solidFill>
              <a:latin typeface="+mj-lt"/>
            </a:endParaRPr>
          </a:p>
        </p:txBody>
      </p:sp>
    </p:spTree>
    <p:extLst>
      <p:ext uri="{BB962C8B-B14F-4D97-AF65-F5344CB8AC3E}">
        <p14:creationId xmlns:p14="http://schemas.microsoft.com/office/powerpoint/2010/main" val="2781151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F1C4C3-9503-425A-9846-1C062F162485}"/>
              </a:ext>
            </a:extLst>
          </p:cNvPr>
          <p:cNvSpPr/>
          <p:nvPr/>
        </p:nvSpPr>
        <p:spPr>
          <a:xfrm>
            <a:off x="4164037" y="-560"/>
            <a:ext cx="8027963" cy="6858560"/>
          </a:xfrm>
          <a:prstGeom prst="rect">
            <a:avLst/>
          </a:prstGeom>
          <a:solidFill>
            <a:srgbClr val="20272D">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C2D175-E9D0-4A19-859E-7A41E1B59623}"/>
              </a:ext>
            </a:extLst>
          </p:cNvPr>
          <p:cNvSpPr/>
          <p:nvPr/>
        </p:nvSpPr>
        <p:spPr>
          <a:xfrm>
            <a:off x="0" y="6721475"/>
            <a:ext cx="12192000" cy="136525"/>
          </a:xfrm>
          <a:prstGeom prst="rect">
            <a:avLst/>
          </a:prstGeom>
          <a:solidFill>
            <a:srgbClr val="2027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454CC0D-842A-449A-9B09-AB4F9EE44177}"/>
              </a:ext>
            </a:extLst>
          </p:cNvPr>
          <p:cNvSpPr txBox="1"/>
          <p:nvPr/>
        </p:nvSpPr>
        <p:spPr>
          <a:xfrm>
            <a:off x="6096000" y="589289"/>
            <a:ext cx="4348628" cy="615553"/>
          </a:xfrm>
          <a:prstGeom prst="rect">
            <a:avLst/>
          </a:prstGeom>
          <a:noFill/>
        </p:spPr>
        <p:txBody>
          <a:bodyPr wrap="square" lIns="0" tIns="0" rIns="0" bIns="0" rtlCol="0">
            <a:spAutoFit/>
          </a:bodyPr>
          <a:lstStyle/>
          <a:p>
            <a:pPr algn="ctr">
              <a:spcAft>
                <a:spcPts val="600"/>
              </a:spcAft>
            </a:pPr>
            <a:r>
              <a:rPr lang="en-US" sz="4000" b="1" dirty="0">
                <a:solidFill>
                  <a:srgbClr val="FF0000"/>
                </a:solidFill>
                <a:latin typeface="+mj-lt"/>
              </a:rPr>
              <a:t>Conclusion</a:t>
            </a:r>
            <a:endParaRPr lang="en-US" sz="4000" dirty="0">
              <a:solidFill>
                <a:srgbClr val="FF0000"/>
              </a:solidFill>
              <a:latin typeface="+mj-lt"/>
            </a:endParaRPr>
          </a:p>
        </p:txBody>
      </p:sp>
      <p:sp>
        <p:nvSpPr>
          <p:cNvPr id="48" name="TextBox 47">
            <a:extLst>
              <a:ext uri="{FF2B5EF4-FFF2-40B4-BE49-F238E27FC236}">
                <a16:creationId xmlns:a16="http://schemas.microsoft.com/office/drawing/2014/main" id="{B52B8DBA-579C-4823-BC41-4A4B23848CD3}"/>
              </a:ext>
            </a:extLst>
          </p:cNvPr>
          <p:cNvSpPr txBox="1"/>
          <p:nvPr/>
        </p:nvSpPr>
        <p:spPr>
          <a:xfrm>
            <a:off x="4994031" y="1431179"/>
            <a:ext cx="6731244" cy="4739759"/>
          </a:xfrm>
          <a:prstGeom prst="rect">
            <a:avLst/>
          </a:prstGeom>
          <a:noFill/>
        </p:spPr>
        <p:txBody>
          <a:bodyPr wrap="square" lIns="0" tIns="0" rIns="0" bIns="0" rtlCol="0">
            <a:spAutoFit/>
          </a:bodyPr>
          <a:lstStyle/>
          <a:p>
            <a:pPr algn="just">
              <a:spcAft>
                <a:spcPts val="600"/>
              </a:spcAft>
            </a:pPr>
            <a:r>
              <a:rPr lang="en-US" dirty="0">
                <a:solidFill>
                  <a:schemeClr val="bg1"/>
                </a:solidFill>
              </a:rPr>
              <a:t>In conclusion, the analysis of Hot Slice Pizzeria sales data highlights clear trends that can inform both operational strategies and marketing efforts. Sales are significantly influenced by time of day, with peak hours observed during lunch (12 PM - 1 PM) and dinner (5 PM - 6 PM). </a:t>
            </a:r>
          </a:p>
          <a:p>
            <a:pPr algn="just">
              <a:spcAft>
                <a:spcPts val="600"/>
              </a:spcAft>
            </a:pPr>
            <a:endParaRPr lang="en-US" dirty="0">
              <a:solidFill>
                <a:schemeClr val="bg1"/>
              </a:solidFill>
            </a:endParaRPr>
          </a:p>
          <a:p>
            <a:pPr algn="just">
              <a:spcAft>
                <a:spcPts val="600"/>
              </a:spcAft>
            </a:pPr>
            <a:r>
              <a:rPr lang="en-US" dirty="0">
                <a:solidFill>
                  <a:schemeClr val="bg1"/>
                </a:solidFill>
              </a:rPr>
              <a:t>Also, seasonal fluctuations play a crucial role, with sales surging in May, July, March, and November due to holidays, vacations, and weather-related factors. Conversely, sales tend to dip in September and October as routines settle and consumers turn to homemade meals. </a:t>
            </a:r>
          </a:p>
          <a:p>
            <a:pPr algn="just">
              <a:spcAft>
                <a:spcPts val="600"/>
              </a:spcAft>
            </a:pPr>
            <a:endParaRPr lang="en-US" dirty="0">
              <a:solidFill>
                <a:schemeClr val="bg1"/>
              </a:solidFill>
            </a:endParaRPr>
          </a:p>
          <a:p>
            <a:pPr algn="just">
              <a:spcAft>
                <a:spcPts val="600"/>
              </a:spcAft>
            </a:pPr>
            <a:r>
              <a:rPr lang="en-US" dirty="0">
                <a:solidFill>
                  <a:schemeClr val="bg1"/>
                </a:solidFill>
              </a:rPr>
              <a:t>Additionally, ingredient usage alongside pizza sales trend provides valuable insights for inventory management and menu optimization. By leveraging these insights, Hot Slice Pizzeria can better plan promotions, staffing, and product offerings to maximize sales during peak times and seasons, while adjusting strategies during slower periods to maintain consistent growth and customer satisfaction.</a:t>
            </a:r>
          </a:p>
        </p:txBody>
      </p:sp>
    </p:spTree>
    <p:extLst>
      <p:ext uri="{BB962C8B-B14F-4D97-AF65-F5344CB8AC3E}">
        <p14:creationId xmlns:p14="http://schemas.microsoft.com/office/powerpoint/2010/main" val="334330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0D87E5-B180-4677-A40C-E1C73A04B6A4}"/>
              </a:ext>
            </a:extLst>
          </p:cNvPr>
          <p:cNvSpPr/>
          <p:nvPr/>
        </p:nvSpPr>
        <p:spPr>
          <a:xfrm>
            <a:off x="0" y="4572000"/>
            <a:ext cx="12191999" cy="2286000"/>
          </a:xfrm>
          <a:prstGeom prst="rect">
            <a:avLst/>
          </a:prstGeom>
          <a:solidFill>
            <a:srgbClr val="EFAB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Image result for pizza png">
            <a:extLst>
              <a:ext uri="{FF2B5EF4-FFF2-40B4-BE49-F238E27FC236}">
                <a16:creationId xmlns:a16="http://schemas.microsoft.com/office/drawing/2014/main" id="{DBCF6D33-6BE1-4381-980F-9FF7A2AA6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4000839" y="-1561845"/>
            <a:ext cx="4190322" cy="731401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D6AF4F0-0DEB-4EE6-B22B-A5E3B54F2DD6}"/>
              </a:ext>
            </a:extLst>
          </p:cNvPr>
          <p:cNvSpPr txBox="1"/>
          <p:nvPr/>
        </p:nvSpPr>
        <p:spPr>
          <a:xfrm>
            <a:off x="266701" y="5207169"/>
            <a:ext cx="11658600" cy="1015663"/>
          </a:xfrm>
          <a:prstGeom prst="rect">
            <a:avLst/>
          </a:prstGeom>
          <a:noFill/>
        </p:spPr>
        <p:txBody>
          <a:bodyPr wrap="square" lIns="0" tIns="0" rIns="0" bIns="0" rtlCol="0" anchor="ctr">
            <a:spAutoFit/>
          </a:bodyPr>
          <a:lstStyle/>
          <a:p>
            <a:pPr algn="ctr">
              <a:spcAft>
                <a:spcPts val="600"/>
              </a:spcAft>
            </a:pPr>
            <a:r>
              <a:rPr lang="en-US" sz="6600" b="1" dirty="0">
                <a:solidFill>
                  <a:schemeClr val="bg1"/>
                </a:solidFill>
                <a:latin typeface="+mj-lt"/>
              </a:rPr>
              <a:t>THANK YOU</a:t>
            </a:r>
          </a:p>
        </p:txBody>
      </p:sp>
    </p:spTree>
    <p:extLst>
      <p:ext uri="{BB962C8B-B14F-4D97-AF65-F5344CB8AC3E}">
        <p14:creationId xmlns:p14="http://schemas.microsoft.com/office/powerpoint/2010/main" val="4275415703"/>
      </p:ext>
    </p:extLst>
  </p:cSld>
  <p:clrMapOvr>
    <a:masterClrMapping/>
  </p:clrMapOvr>
</p:sld>
</file>

<file path=ppt/theme/theme1.xml><?xml version="1.0" encoding="utf-8"?>
<a:theme xmlns:a="http://schemas.openxmlformats.org/drawingml/2006/main" name="Office Theme">
  <a:themeElements>
    <a:clrScheme name="Custom 9">
      <a:dk1>
        <a:sysClr val="windowText" lastClr="000000"/>
      </a:dk1>
      <a:lt1>
        <a:sysClr val="window" lastClr="FFFFFF"/>
      </a:lt1>
      <a:dk2>
        <a:srgbClr val="44546A"/>
      </a:dk2>
      <a:lt2>
        <a:srgbClr val="E7E6E6"/>
      </a:lt2>
      <a:accent1>
        <a:srgbClr val="C6F1D6"/>
      </a:accent1>
      <a:accent2>
        <a:srgbClr val="E0F5B9"/>
      </a:accent2>
      <a:accent3>
        <a:srgbClr val="FFBA92"/>
      </a:accent3>
      <a:accent4>
        <a:srgbClr val="FF8080"/>
      </a:accent4>
      <a:accent5>
        <a:srgbClr val="C6F1D6"/>
      </a:accent5>
      <a:accent6>
        <a:srgbClr val="E0F5B9"/>
      </a:accent6>
      <a:hlink>
        <a:srgbClr val="0563C1"/>
      </a:hlink>
      <a:folHlink>
        <a:srgbClr val="954F72"/>
      </a:folHlink>
    </a:clrScheme>
    <a:fontScheme name="Custom 2">
      <a:majorFont>
        <a:latin typeface="Century Gothic"/>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2358</TotalTime>
  <Words>1215</Words>
  <Application>Microsoft Office PowerPoint</Application>
  <PresentationFormat>Widescreen</PresentationFormat>
  <Paragraphs>92</Paragraphs>
  <Slides>18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Century Gothic</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nugroho ade</dc:creator>
  <cp:lastModifiedBy>Admin</cp:lastModifiedBy>
  <cp:revision>96</cp:revision>
  <dcterms:created xsi:type="dcterms:W3CDTF">2019-07-17T07:10:40Z</dcterms:created>
  <dcterms:modified xsi:type="dcterms:W3CDTF">2026-03-21T00:03:47Z</dcterms:modified>
</cp:coreProperties>
</file>